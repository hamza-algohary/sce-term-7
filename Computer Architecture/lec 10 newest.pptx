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57" r:id="rId4"/>
    <p:sldId id="258" r:id="rId5"/>
    <p:sldId id="261" r:id="rId6"/>
    <p:sldId id="318" r:id="rId7"/>
    <p:sldId id="319" r:id="rId8"/>
    <p:sldId id="316" r:id="rId9"/>
    <p:sldId id="317" r:id="rId10"/>
    <p:sldId id="320" r:id="rId11"/>
    <p:sldId id="321" r:id="rId12"/>
    <p:sldId id="279" r:id="rId13"/>
    <p:sldId id="286" r:id="rId14"/>
    <p:sldId id="280" r:id="rId15"/>
    <p:sldId id="287" r:id="rId16"/>
    <p:sldId id="288" r:id="rId17"/>
    <p:sldId id="282" r:id="rId18"/>
    <p:sldId id="283" r:id="rId19"/>
    <p:sldId id="312" r:id="rId20"/>
    <p:sldId id="291" r:id="rId21"/>
    <p:sldId id="292" r:id="rId22"/>
    <p:sldId id="293" r:id="rId23"/>
    <p:sldId id="294" r:id="rId24"/>
    <p:sldId id="295" r:id="rId25"/>
    <p:sldId id="296" r:id="rId26"/>
    <p:sldId id="315" r:id="rId27"/>
    <p:sldId id="322" r:id="rId28"/>
    <p:sldId id="323" r:id="rId29"/>
    <p:sldId id="326" r:id="rId30"/>
    <p:sldId id="327" r:id="rId31"/>
    <p:sldId id="329" r:id="rId32"/>
    <p:sldId id="330" r:id="rId33"/>
    <p:sldId id="332" r:id="rId34"/>
    <p:sldId id="333" r:id="rId35"/>
    <p:sldId id="331" r:id="rId36"/>
    <p:sldId id="336" r:id="rId37"/>
    <p:sldId id="334" r:id="rId38"/>
    <p:sldId id="337" r:id="rId39"/>
    <p:sldId id="339" r:id="rId40"/>
    <p:sldId id="324" r:id="rId41"/>
    <p:sldId id="325"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1230" y="60"/>
      </p:cViewPr>
      <p:guideLst/>
    </p:cSldViewPr>
  </p:slideViewPr>
  <p:notesTextViewPr>
    <p:cViewPr>
      <p:scale>
        <a:sx n="1" d="1"/>
        <a:sy n="1" d="1"/>
      </p:scale>
      <p:origin x="0" y="0"/>
    </p:cViewPr>
  </p:notesTextViewPr>
  <p:sorterViewPr>
    <p:cViewPr>
      <p:scale>
        <a:sx n="100" d="100"/>
        <a:sy n="100" d="100"/>
      </p:scale>
      <p:origin x="0" y="-13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602BAED-202A-42D5-B178-91EA98C3974A}"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2006662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02BAED-202A-42D5-B178-91EA98C3974A}"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3169317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02BAED-202A-42D5-B178-91EA98C3974A}"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3777823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602BAED-202A-42D5-B178-91EA98C3974A}"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2137272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02BAED-202A-42D5-B178-91EA98C3974A}" type="datetimeFigureOut">
              <a:rPr lang="en-US" smtClean="0"/>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3498953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602BAED-202A-42D5-B178-91EA98C3974A}" type="datetimeFigureOut">
              <a:rPr lang="en-US" smtClean="0"/>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297673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02BAED-202A-42D5-B178-91EA98C3974A}" type="datetimeFigureOut">
              <a:rPr lang="en-US" smtClean="0"/>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25508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02BAED-202A-42D5-B178-91EA98C3974A}"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357864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02BAED-202A-42D5-B178-91EA98C3974A}"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4163694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02BAED-202A-42D5-B178-91EA98C3974A}"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2405645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02BAED-202A-42D5-B178-91EA98C3974A}"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3A94C3-2BB5-4E3F-BF57-EE5B908D2D3B}" type="slidenum">
              <a:rPr lang="en-US" smtClean="0"/>
              <a:t>‹#›</a:t>
            </a:fld>
            <a:endParaRPr lang="en-US"/>
          </a:p>
        </p:txBody>
      </p:sp>
    </p:spTree>
    <p:extLst>
      <p:ext uri="{BB962C8B-B14F-4D97-AF65-F5344CB8AC3E}">
        <p14:creationId xmlns:p14="http://schemas.microsoft.com/office/powerpoint/2010/main" val="3058008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02BAED-202A-42D5-B178-91EA98C3974A}" type="datetimeFigureOut">
              <a:rPr lang="en-US" smtClean="0"/>
              <a:t>12/5/2025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3A94C3-2BB5-4E3F-BF57-EE5B908D2D3B}" type="slidenum">
              <a:rPr lang="en-US" smtClean="0"/>
              <a:t>‹#›</a:t>
            </a:fld>
            <a:endParaRPr lang="en-US"/>
          </a:p>
        </p:txBody>
      </p:sp>
    </p:spTree>
    <p:extLst>
      <p:ext uri="{BB962C8B-B14F-4D97-AF65-F5344CB8AC3E}">
        <p14:creationId xmlns:p14="http://schemas.microsoft.com/office/powerpoint/2010/main" val="14879958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Lecture </a:t>
            </a:r>
            <a:r>
              <a:rPr lang="en-US" dirty="0" smtClean="0"/>
              <a:t>10</a:t>
            </a:r>
            <a:endParaRPr lang="en-US" dirty="0"/>
          </a:p>
        </p:txBody>
      </p:sp>
      <p:sp>
        <p:nvSpPr>
          <p:cNvPr id="3" name="Subtitle 2"/>
          <p:cNvSpPr>
            <a:spLocks noGrp="1"/>
          </p:cNvSpPr>
          <p:nvPr>
            <p:ph type="subTitle" idx="1"/>
          </p:nvPr>
        </p:nvSpPr>
        <p:spPr/>
        <p:txBody>
          <a:bodyPr>
            <a:normAutofit lnSpcReduction="10000"/>
          </a:bodyPr>
          <a:lstStyle/>
          <a:p>
            <a:r>
              <a:rPr lang="en-US" sz="3600" dirty="0" smtClean="0">
                <a:solidFill>
                  <a:srgbClr val="FF0000"/>
                </a:solidFill>
              </a:rPr>
              <a:t>- Classifications </a:t>
            </a:r>
            <a:r>
              <a:rPr lang="en-US" sz="3600" dirty="0">
                <a:solidFill>
                  <a:srgbClr val="FF0000"/>
                </a:solidFill>
              </a:rPr>
              <a:t>of parallel computers</a:t>
            </a:r>
          </a:p>
          <a:p>
            <a:r>
              <a:rPr lang="en-US" sz="3600" dirty="0" smtClean="0">
                <a:solidFill>
                  <a:srgbClr val="FF0000"/>
                </a:solidFill>
              </a:rPr>
              <a:t>- Interconnection Network</a:t>
            </a:r>
            <a:endParaRPr lang="en-US" sz="3600" dirty="0">
              <a:solidFill>
                <a:srgbClr val="FF0000"/>
              </a:solidFill>
            </a:endParaRPr>
          </a:p>
        </p:txBody>
      </p:sp>
    </p:spTree>
    <p:extLst>
      <p:ext uri="{BB962C8B-B14F-4D97-AF65-F5344CB8AC3E}">
        <p14:creationId xmlns:p14="http://schemas.microsoft.com/office/powerpoint/2010/main" val="1216033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b="1" dirty="0" smtClean="0"/>
              <a:t>Introduction</a:t>
            </a:r>
            <a:endParaRPr lang="en-US" b="1" dirty="0"/>
          </a:p>
        </p:txBody>
      </p:sp>
      <p:sp>
        <p:nvSpPr>
          <p:cNvPr id="3" name="Content Placeholder 2"/>
          <p:cNvSpPr>
            <a:spLocks noGrp="1"/>
          </p:cNvSpPr>
          <p:nvPr>
            <p:ph idx="1"/>
          </p:nvPr>
        </p:nvSpPr>
        <p:spPr/>
        <p:txBody>
          <a:bodyPr>
            <a:noAutofit/>
          </a:bodyPr>
          <a:lstStyle/>
          <a:p>
            <a:pPr algn="l" rtl="0"/>
            <a:r>
              <a:rPr lang="en-US" sz="2400" dirty="0" smtClean="0">
                <a:solidFill>
                  <a:srgbClr val="FF0000"/>
                </a:solidFill>
              </a:rPr>
              <a:t>Parallel </a:t>
            </a:r>
            <a:r>
              <a:rPr lang="en-US" sz="2400" dirty="0">
                <a:solidFill>
                  <a:srgbClr val="FF0000"/>
                </a:solidFill>
              </a:rPr>
              <a:t>computing </a:t>
            </a:r>
            <a:r>
              <a:rPr lang="en-US" sz="2400" dirty="0"/>
              <a:t>refers to the process of executing several processors an application or computation simultaneously. </a:t>
            </a:r>
            <a:endParaRPr lang="en-US" sz="2400" dirty="0" smtClean="0"/>
          </a:p>
          <a:p>
            <a:pPr algn="l" rtl="0"/>
            <a:r>
              <a:rPr lang="en-US" sz="2400" dirty="0" smtClean="0"/>
              <a:t>It </a:t>
            </a:r>
            <a:r>
              <a:rPr lang="en-US" sz="2400" dirty="0"/>
              <a:t>is done by multiple CPUs communicating via shared memory, which combines results upon completion</a:t>
            </a:r>
            <a:r>
              <a:rPr lang="en-US" sz="2400" dirty="0" smtClean="0"/>
              <a:t>.</a:t>
            </a:r>
          </a:p>
          <a:p>
            <a:pPr algn="l" rtl="0"/>
            <a:r>
              <a:rPr lang="en-US" sz="2400" dirty="0" smtClean="0"/>
              <a:t>In </a:t>
            </a:r>
            <a:r>
              <a:rPr lang="en-US" sz="2400" dirty="0">
                <a:solidFill>
                  <a:srgbClr val="FF0000"/>
                </a:solidFill>
              </a:rPr>
              <a:t>distributed computing </a:t>
            </a:r>
            <a:r>
              <a:rPr lang="en-US" sz="2400" dirty="0"/>
              <a:t>we have multiple autonomous computers which seems to the user as single system. </a:t>
            </a:r>
            <a:endParaRPr lang="en-US" sz="2400" dirty="0" smtClean="0"/>
          </a:p>
          <a:p>
            <a:pPr algn="l" rtl="0"/>
            <a:r>
              <a:rPr lang="en-US" sz="2400" dirty="0" smtClean="0"/>
              <a:t>In </a:t>
            </a:r>
            <a:r>
              <a:rPr lang="en-US" sz="2400" dirty="0"/>
              <a:t>distributed systems there is no shared memory and computers communicate with each other through message passing. </a:t>
            </a:r>
            <a:endParaRPr lang="en-US" sz="2400" dirty="0" smtClean="0"/>
          </a:p>
          <a:p>
            <a:pPr algn="l" rtl="0"/>
            <a:r>
              <a:rPr lang="en-US" sz="2400" dirty="0" smtClean="0"/>
              <a:t>In </a:t>
            </a:r>
            <a:r>
              <a:rPr lang="en-US" sz="2400" dirty="0"/>
              <a:t>distributed computing a single task is divided among different computers.</a:t>
            </a:r>
          </a:p>
        </p:txBody>
      </p:sp>
    </p:spTree>
    <p:extLst>
      <p:ext uri="{BB962C8B-B14F-4D97-AF65-F5344CB8AC3E}">
        <p14:creationId xmlns:p14="http://schemas.microsoft.com/office/powerpoint/2010/main" val="1102787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A. Classifications </a:t>
            </a:r>
            <a:r>
              <a:rPr lang="en-US" sz="3600" b="1" dirty="0"/>
              <a:t>of parallel computers</a:t>
            </a:r>
          </a:p>
        </p:txBody>
      </p:sp>
      <p:sp>
        <p:nvSpPr>
          <p:cNvPr id="3" name="Content Placeholder 2"/>
          <p:cNvSpPr>
            <a:spLocks noGrp="1"/>
          </p:cNvSpPr>
          <p:nvPr>
            <p:ph idx="1"/>
          </p:nvPr>
        </p:nvSpPr>
        <p:spPr/>
        <p:txBody>
          <a:bodyPr>
            <a:normAutofit/>
          </a:bodyPr>
          <a:lstStyle/>
          <a:p>
            <a:r>
              <a:rPr lang="en-US" sz="2400" dirty="0"/>
              <a:t>ILP and TLP provide parallelism at a very low level; they’re typically controlled by the processor and the compiler, and their use isn’t directly controlled by the </a:t>
            </a:r>
            <a:r>
              <a:rPr lang="en-US" sz="2400" dirty="0" smtClean="0"/>
              <a:t>programmer</a:t>
            </a:r>
            <a:r>
              <a:rPr lang="en-US" sz="2400" dirty="0"/>
              <a:t>. </a:t>
            </a:r>
            <a:endParaRPr lang="en-US" sz="2400" dirty="0" smtClean="0"/>
          </a:p>
          <a:p>
            <a:r>
              <a:rPr lang="en-US" sz="2400" dirty="0" smtClean="0"/>
              <a:t>For </a:t>
            </a:r>
            <a:r>
              <a:rPr lang="en-US" sz="2400" dirty="0"/>
              <a:t>our purposes, hardware is parallel if the parallelism is visible to the </a:t>
            </a:r>
            <a:r>
              <a:rPr lang="en-US" sz="2400" dirty="0" smtClean="0"/>
              <a:t>programmer.</a:t>
            </a:r>
          </a:p>
          <a:p>
            <a:r>
              <a:rPr lang="en-US" sz="2400" dirty="0"/>
              <a:t>We use two main classifications of parallel hardware: </a:t>
            </a:r>
            <a:r>
              <a:rPr lang="en-US" sz="2400" dirty="0">
                <a:solidFill>
                  <a:srgbClr val="FF0000"/>
                </a:solidFill>
              </a:rPr>
              <a:t>Flynn’s Taxonomy </a:t>
            </a:r>
            <a:r>
              <a:rPr lang="en-US" sz="2400" dirty="0"/>
              <a:t>and </a:t>
            </a:r>
            <a:r>
              <a:rPr lang="en-US" sz="2400" dirty="0">
                <a:solidFill>
                  <a:srgbClr val="FF0000"/>
                </a:solidFill>
              </a:rPr>
              <a:t>shared vs. distributed memory</a:t>
            </a:r>
            <a:r>
              <a:rPr lang="en-US" sz="2400" dirty="0" smtClean="0">
                <a:solidFill>
                  <a:srgbClr val="FF0000"/>
                </a:solidFill>
              </a:rPr>
              <a:t>.</a:t>
            </a:r>
          </a:p>
          <a:p>
            <a:r>
              <a:rPr lang="en-US" sz="2400" dirty="0"/>
              <a:t>Flynn’s taxonomy distinguishes between the number of instruction streams and the number of data streams a system can simultaneously </a:t>
            </a:r>
            <a:r>
              <a:rPr lang="en-US" sz="2400" dirty="0" smtClean="0"/>
              <a:t>manage.</a:t>
            </a:r>
            <a:endParaRPr lang="en-US" sz="2400" dirty="0">
              <a:solidFill>
                <a:srgbClr val="FF0000"/>
              </a:solidFill>
            </a:endParaRPr>
          </a:p>
        </p:txBody>
      </p:sp>
    </p:spTree>
    <p:extLst>
      <p:ext uri="{BB962C8B-B14F-4D97-AF65-F5344CB8AC3E}">
        <p14:creationId xmlns:p14="http://schemas.microsoft.com/office/powerpoint/2010/main" val="2863959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sz="2400" dirty="0" smtClean="0"/>
              <a:t>In </a:t>
            </a:r>
            <a:r>
              <a:rPr lang="en-US" sz="2400" dirty="0"/>
              <a:t>a shared-memory system each core has access to the same “shared” block of main memory. </a:t>
            </a:r>
            <a:endParaRPr lang="en-US" sz="2400" dirty="0" smtClean="0"/>
          </a:p>
          <a:p>
            <a:r>
              <a:rPr lang="en-US" sz="2400" dirty="0" smtClean="0"/>
              <a:t>In </a:t>
            </a:r>
            <a:r>
              <a:rPr lang="en-US" sz="2400" dirty="0"/>
              <a:t>a distributed-memory system each core has a </a:t>
            </a:r>
            <a:r>
              <a:rPr lang="en-US" sz="2400" dirty="0" smtClean="0"/>
              <a:t>private </a:t>
            </a:r>
            <a:r>
              <a:rPr lang="en-US" sz="2400" dirty="0"/>
              <a:t>block of memory, to which only it has direct access. </a:t>
            </a:r>
            <a:endParaRPr lang="en-US" sz="2400" dirty="0" smtClean="0"/>
          </a:p>
          <a:p>
            <a:r>
              <a:rPr lang="en-US" sz="2400" dirty="0" smtClean="0"/>
              <a:t>If </a:t>
            </a:r>
            <a:r>
              <a:rPr lang="en-US" sz="2400" dirty="0"/>
              <a:t>a core needs to access a memory location in another core’s block, it will communicate over the network.</a:t>
            </a:r>
          </a:p>
        </p:txBody>
      </p:sp>
    </p:spTree>
    <p:extLst>
      <p:ext uri="{BB962C8B-B14F-4D97-AF65-F5344CB8AC3E}">
        <p14:creationId xmlns:p14="http://schemas.microsoft.com/office/powerpoint/2010/main" val="3827492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b="1" dirty="0" smtClean="0"/>
              <a:t>1. Flynn’s Classification</a:t>
            </a:r>
            <a:endParaRPr lang="en-US" b="1" dirty="0"/>
          </a:p>
        </p:txBody>
      </p:sp>
      <p:sp>
        <p:nvSpPr>
          <p:cNvPr id="3" name="Content Placeholder 2"/>
          <p:cNvSpPr>
            <a:spLocks noGrp="1"/>
          </p:cNvSpPr>
          <p:nvPr>
            <p:ph idx="1"/>
          </p:nvPr>
        </p:nvSpPr>
        <p:spPr/>
        <p:txBody>
          <a:bodyPr>
            <a:normAutofit/>
          </a:bodyPr>
          <a:lstStyle/>
          <a:p>
            <a:pPr marL="0" indent="0" algn="l" rtl="0">
              <a:buFontTx/>
              <a:buNone/>
              <a:defRPr/>
            </a:pPr>
            <a:r>
              <a:rPr lang="en-US" sz="2400" dirty="0"/>
              <a:t>He looked at the parallelism in the instruction and data streams, and placed all computers into one of </a:t>
            </a:r>
            <a:r>
              <a:rPr lang="en-GB" sz="2400" dirty="0"/>
              <a:t>four categories:</a:t>
            </a:r>
            <a:endParaRPr lang="en-US" sz="2400" i="1" dirty="0"/>
          </a:p>
          <a:p>
            <a:pPr algn="l" rtl="0">
              <a:defRPr/>
            </a:pPr>
            <a:r>
              <a:rPr lang="en-US" sz="2400" i="1" dirty="0"/>
              <a:t>Single instruction stream, single data stream </a:t>
            </a:r>
            <a:r>
              <a:rPr lang="en-US" sz="2400" dirty="0"/>
              <a:t>(</a:t>
            </a:r>
            <a:r>
              <a:rPr lang="en-US" sz="2400" b="1" dirty="0">
                <a:solidFill>
                  <a:srgbClr val="FF0000"/>
                </a:solidFill>
              </a:rPr>
              <a:t>SISD</a:t>
            </a:r>
            <a:r>
              <a:rPr lang="en-US" sz="2400" dirty="0"/>
              <a:t>)</a:t>
            </a:r>
          </a:p>
          <a:p>
            <a:pPr algn="l" rtl="0">
              <a:defRPr/>
            </a:pPr>
            <a:r>
              <a:rPr lang="en-US" sz="2400" i="1" dirty="0"/>
              <a:t>Single instruction stream, multiple data streams </a:t>
            </a:r>
            <a:r>
              <a:rPr lang="en-US" sz="2400" dirty="0"/>
              <a:t>(</a:t>
            </a:r>
            <a:r>
              <a:rPr lang="en-US" sz="2400" b="1" dirty="0">
                <a:solidFill>
                  <a:srgbClr val="FF0000"/>
                </a:solidFill>
              </a:rPr>
              <a:t>SIMD</a:t>
            </a:r>
            <a:r>
              <a:rPr lang="en-US" sz="2400" dirty="0"/>
              <a:t>)</a:t>
            </a:r>
          </a:p>
          <a:p>
            <a:pPr algn="l" rtl="0">
              <a:defRPr/>
            </a:pPr>
            <a:r>
              <a:rPr lang="en-US" sz="2400" i="1" dirty="0"/>
              <a:t>Multiple instruction streams, single data stream </a:t>
            </a:r>
            <a:r>
              <a:rPr lang="en-US" sz="2400" dirty="0"/>
              <a:t>(</a:t>
            </a:r>
            <a:r>
              <a:rPr lang="en-US" sz="2400" b="1" dirty="0">
                <a:solidFill>
                  <a:srgbClr val="FF0000"/>
                </a:solidFill>
              </a:rPr>
              <a:t>MISD</a:t>
            </a:r>
            <a:r>
              <a:rPr lang="en-US" sz="2400" dirty="0"/>
              <a:t>)</a:t>
            </a:r>
          </a:p>
          <a:p>
            <a:pPr algn="l" rtl="0">
              <a:defRPr/>
            </a:pPr>
            <a:r>
              <a:rPr lang="en-US" sz="2400" i="1" dirty="0"/>
              <a:t>Multiple instruction streams, multiple data streams </a:t>
            </a:r>
            <a:r>
              <a:rPr lang="en-US" sz="2400" dirty="0"/>
              <a:t>(</a:t>
            </a:r>
            <a:r>
              <a:rPr lang="en-US" sz="2400" b="1" dirty="0">
                <a:solidFill>
                  <a:srgbClr val="FF0000"/>
                </a:solidFill>
              </a:rPr>
              <a:t>MIMD</a:t>
            </a:r>
            <a:r>
              <a:rPr lang="en-US" sz="2400" dirty="0"/>
              <a:t>)</a:t>
            </a:r>
            <a:endParaRPr lang="ar-EG" sz="2400" dirty="0"/>
          </a:p>
          <a:p>
            <a:pPr algn="l" rtl="0"/>
            <a:endParaRPr lang="en-US" sz="2400" dirty="0"/>
          </a:p>
        </p:txBody>
      </p:sp>
    </p:spTree>
    <p:extLst>
      <p:ext uri="{BB962C8B-B14F-4D97-AF65-F5344CB8AC3E}">
        <p14:creationId xmlns:p14="http://schemas.microsoft.com/office/powerpoint/2010/main" val="3366752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SIMD</a:t>
            </a:r>
            <a:endParaRPr lang="en-US" b="1" dirty="0">
              <a:solidFill>
                <a:srgbClr val="FF0000"/>
              </a:solidFill>
            </a:endParaRPr>
          </a:p>
        </p:txBody>
      </p:sp>
      <p:sp>
        <p:nvSpPr>
          <p:cNvPr id="3" name="Content Placeholder 2"/>
          <p:cNvSpPr>
            <a:spLocks noGrp="1"/>
          </p:cNvSpPr>
          <p:nvPr>
            <p:ph idx="1"/>
          </p:nvPr>
        </p:nvSpPr>
        <p:spPr/>
        <p:txBody>
          <a:bodyPr>
            <a:noAutofit/>
          </a:bodyPr>
          <a:lstStyle/>
          <a:p>
            <a:r>
              <a:rPr lang="en-US" sz="2400" dirty="0" smtClean="0"/>
              <a:t>Single </a:t>
            </a:r>
            <a:r>
              <a:rPr lang="en-US" sz="2400" dirty="0"/>
              <a:t>instruction: All processing units execute the same instruction issued by the control unit at any given clock cycle as shown in </a:t>
            </a:r>
            <a:r>
              <a:rPr lang="en-US" sz="2400" dirty="0" smtClean="0"/>
              <a:t>the following figure.</a:t>
            </a:r>
          </a:p>
          <a:p>
            <a:r>
              <a:rPr lang="en-US" sz="2400" dirty="0" smtClean="0"/>
              <a:t>Multiple </a:t>
            </a:r>
            <a:r>
              <a:rPr lang="en-US" sz="2400" dirty="0"/>
              <a:t>data: Each processing unit can operate on a different data element </a:t>
            </a:r>
            <a:r>
              <a:rPr lang="en-US" sz="2400" dirty="0" smtClean="0"/>
              <a:t>as </a:t>
            </a:r>
            <a:r>
              <a:rPr lang="en-US" sz="2400" dirty="0"/>
              <a:t>shown if </a:t>
            </a:r>
            <a:r>
              <a:rPr lang="en-US" sz="2400" dirty="0" smtClean="0"/>
              <a:t>figure.</a:t>
            </a:r>
          </a:p>
          <a:p>
            <a:r>
              <a:rPr lang="en-US" sz="2400" dirty="0" smtClean="0"/>
              <a:t>The </a:t>
            </a:r>
            <a:r>
              <a:rPr lang="en-US" sz="2400" dirty="0"/>
              <a:t>processor are connected to shared memory or interconnection network providing multiple data to processing unit. </a:t>
            </a:r>
            <a:endParaRPr lang="en-US" sz="2400" dirty="0" smtClean="0"/>
          </a:p>
          <a:p>
            <a:r>
              <a:rPr lang="en-US" sz="2400" dirty="0" smtClean="0"/>
              <a:t>This </a:t>
            </a:r>
            <a:r>
              <a:rPr lang="en-US" sz="2400" dirty="0"/>
              <a:t>type of machine typically has an </a:t>
            </a:r>
            <a:r>
              <a:rPr lang="en-US" sz="2400" dirty="0" smtClean="0"/>
              <a:t>instruction dispatcher (single control unit), </a:t>
            </a:r>
            <a:r>
              <a:rPr lang="en-US" sz="2400" dirty="0"/>
              <a:t>a very high- bandwidth internal network, and a very large array of very small-capacity instruction units. </a:t>
            </a:r>
            <a:endParaRPr lang="en-US" sz="2400" dirty="0" smtClean="0"/>
          </a:p>
        </p:txBody>
      </p:sp>
    </p:spTree>
    <p:extLst>
      <p:ext uri="{BB962C8B-B14F-4D97-AF65-F5344CB8AC3E}">
        <p14:creationId xmlns:p14="http://schemas.microsoft.com/office/powerpoint/2010/main" val="1431389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6197" y="1164922"/>
            <a:ext cx="7452987" cy="3230866"/>
          </a:xfrm>
          <a:prstGeom prst="rect">
            <a:avLst/>
          </a:prstGeom>
        </p:spPr>
      </p:pic>
      <p:sp>
        <p:nvSpPr>
          <p:cNvPr id="3" name="Rectangle 2"/>
          <p:cNvSpPr/>
          <p:nvPr/>
        </p:nvSpPr>
        <p:spPr>
          <a:xfrm>
            <a:off x="751562" y="4521048"/>
            <a:ext cx="7102256" cy="1200329"/>
          </a:xfrm>
          <a:prstGeom prst="rect">
            <a:avLst/>
          </a:prstGeom>
        </p:spPr>
        <p:txBody>
          <a:bodyPr wrap="square">
            <a:spAutoFit/>
          </a:bodyPr>
          <a:lstStyle/>
          <a:p>
            <a:pPr marL="342900" indent="-342900">
              <a:buFont typeface="Arial" panose="020B0604020202020204" pitchFamily="34" charset="0"/>
              <a:buChar char="•"/>
            </a:pPr>
            <a:r>
              <a:rPr lang="en-US" sz="2400" dirty="0"/>
              <a:t>Best suited for specialized </a:t>
            </a:r>
            <a:r>
              <a:rPr lang="en-US" sz="2400" dirty="0" smtClean="0"/>
              <a:t>problems characterized </a:t>
            </a:r>
            <a:r>
              <a:rPr lang="en-US" sz="2400" dirty="0"/>
              <a:t>by a high degree of regularity, such as image processing and vector computation. </a:t>
            </a:r>
          </a:p>
        </p:txBody>
      </p:sp>
    </p:spTree>
    <p:extLst>
      <p:ext uri="{BB962C8B-B14F-4D97-AF65-F5344CB8AC3E}">
        <p14:creationId xmlns:p14="http://schemas.microsoft.com/office/powerpoint/2010/main" val="1277598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MISD</a:t>
            </a:r>
            <a:endParaRPr lang="en-US" b="1" dirty="0">
              <a:solidFill>
                <a:srgbClr val="FF0000"/>
              </a:solidFill>
            </a:endParaRPr>
          </a:p>
        </p:txBody>
      </p:sp>
      <p:sp>
        <p:nvSpPr>
          <p:cNvPr id="3" name="Content Placeholder 2"/>
          <p:cNvSpPr>
            <a:spLocks noGrp="1"/>
          </p:cNvSpPr>
          <p:nvPr>
            <p:ph idx="1"/>
          </p:nvPr>
        </p:nvSpPr>
        <p:spPr/>
        <p:txBody>
          <a:bodyPr>
            <a:noAutofit/>
          </a:bodyPr>
          <a:lstStyle/>
          <a:p>
            <a:r>
              <a:rPr lang="en-US" sz="2400" dirty="0" smtClean="0"/>
              <a:t> </a:t>
            </a:r>
            <a:r>
              <a:rPr lang="en-US" sz="2400" dirty="0"/>
              <a:t>Here, a single data stream is feed into multiple processing units. </a:t>
            </a:r>
            <a:endParaRPr lang="en-US" sz="2400" dirty="0" smtClean="0"/>
          </a:p>
          <a:p>
            <a:r>
              <a:rPr lang="en-US" sz="2400" dirty="0" smtClean="0"/>
              <a:t>Each </a:t>
            </a:r>
            <a:r>
              <a:rPr lang="en-US" sz="2400" dirty="0"/>
              <a:t>processing unit operates on the data independently through independent instruction streams as shown in following </a:t>
            </a:r>
            <a:r>
              <a:rPr lang="en-US" sz="2400" dirty="0" smtClean="0"/>
              <a:t>figure.</a:t>
            </a:r>
          </a:p>
          <a:p>
            <a:r>
              <a:rPr lang="en-US" sz="2400" dirty="0" smtClean="0"/>
              <a:t>A </a:t>
            </a:r>
            <a:r>
              <a:rPr lang="en-US" sz="2400" dirty="0"/>
              <a:t>single data stream is forwarded to different processing unit which are connected to different control unit and execute instruction given to it by control unit to which it is attached</a:t>
            </a:r>
            <a:r>
              <a:rPr lang="en-US" sz="2400" dirty="0" smtClean="0"/>
              <a:t>.</a:t>
            </a:r>
          </a:p>
          <a:p>
            <a:r>
              <a:rPr lang="en-US" sz="2400" dirty="0" smtClean="0"/>
              <a:t>Thus</a:t>
            </a:r>
            <a:r>
              <a:rPr lang="en-US" sz="2400" dirty="0"/>
              <a:t>, in these computers same data flow through a linear array of processors executing different instruction streams</a:t>
            </a:r>
            <a:r>
              <a:rPr lang="en-US" sz="2400" dirty="0" smtClean="0"/>
              <a:t>.</a:t>
            </a:r>
          </a:p>
        </p:txBody>
      </p:sp>
    </p:spTree>
    <p:extLst>
      <p:ext uri="{BB962C8B-B14F-4D97-AF65-F5344CB8AC3E}">
        <p14:creationId xmlns:p14="http://schemas.microsoft.com/office/powerpoint/2010/main" val="4007670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3254" y="776614"/>
            <a:ext cx="7853819" cy="3210055"/>
          </a:xfrm>
          <a:prstGeom prst="rect">
            <a:avLst/>
          </a:prstGeom>
        </p:spPr>
      </p:pic>
      <p:sp>
        <p:nvSpPr>
          <p:cNvPr id="3" name="Rectangle 2"/>
          <p:cNvSpPr/>
          <p:nvPr/>
        </p:nvSpPr>
        <p:spPr>
          <a:xfrm>
            <a:off x="363254" y="4382775"/>
            <a:ext cx="7853819" cy="1938992"/>
          </a:xfrm>
          <a:prstGeom prst="rect">
            <a:avLst/>
          </a:prstGeom>
        </p:spPr>
        <p:txBody>
          <a:bodyPr wrap="square">
            <a:spAutoFit/>
          </a:bodyPr>
          <a:lstStyle/>
          <a:p>
            <a:pPr marL="342900" indent="-342900">
              <a:buFont typeface="Arial" panose="020B0604020202020204" pitchFamily="34" charset="0"/>
              <a:buChar char="•"/>
            </a:pPr>
            <a:r>
              <a:rPr lang="en-US" sz="2400" dirty="0"/>
              <a:t>This architecture is also known as </a:t>
            </a:r>
            <a:r>
              <a:rPr lang="en-US" sz="2400" dirty="0">
                <a:solidFill>
                  <a:srgbClr val="FF0000"/>
                </a:solidFill>
              </a:rPr>
              <a:t>systolic arrays </a:t>
            </a:r>
            <a:r>
              <a:rPr lang="en-US" sz="2400" dirty="0"/>
              <a:t>for pipelined execution of specific </a:t>
            </a:r>
            <a:r>
              <a:rPr lang="en-US" sz="2400" dirty="0" smtClean="0"/>
              <a:t>instructions.</a:t>
            </a:r>
          </a:p>
          <a:p>
            <a:pPr marL="342900" indent="-342900">
              <a:buFont typeface="Arial" panose="020B0604020202020204" pitchFamily="34" charset="0"/>
              <a:buChar char="•"/>
            </a:pPr>
            <a:r>
              <a:rPr lang="en-US" sz="2400" dirty="0" smtClean="0"/>
              <a:t>Systolic array computers are used in various applications, particularly in fields where high-performance parallel computations (HPC) is essential.</a:t>
            </a:r>
            <a:endParaRPr lang="en-US" sz="2400" dirty="0"/>
          </a:p>
        </p:txBody>
      </p:sp>
    </p:spTree>
    <p:extLst>
      <p:ext uri="{BB962C8B-B14F-4D97-AF65-F5344CB8AC3E}">
        <p14:creationId xmlns:p14="http://schemas.microsoft.com/office/powerpoint/2010/main" val="1363012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MIMD</a:t>
            </a:r>
            <a:endParaRPr lang="en-US" b="1" dirty="0">
              <a:solidFill>
                <a:srgbClr val="FF0000"/>
              </a:solidFill>
            </a:endParaRPr>
          </a:p>
        </p:txBody>
      </p:sp>
      <p:sp>
        <p:nvSpPr>
          <p:cNvPr id="3" name="Content Placeholder 2"/>
          <p:cNvSpPr>
            <a:spLocks noGrp="1"/>
          </p:cNvSpPr>
          <p:nvPr>
            <p:ph idx="1"/>
          </p:nvPr>
        </p:nvSpPr>
        <p:spPr/>
        <p:txBody>
          <a:bodyPr>
            <a:noAutofit/>
          </a:bodyPr>
          <a:lstStyle/>
          <a:p>
            <a:r>
              <a:rPr lang="en-US" sz="2400" dirty="0"/>
              <a:t>Multiple Instructions: </a:t>
            </a:r>
            <a:r>
              <a:rPr lang="en-US" sz="2400" dirty="0" smtClean="0"/>
              <a:t>every </a:t>
            </a:r>
            <a:r>
              <a:rPr lang="en-US" sz="2400" dirty="0"/>
              <a:t>Processor may be executing a different instruction stream</a:t>
            </a:r>
            <a:r>
              <a:rPr lang="en-US" sz="2400" dirty="0" smtClean="0"/>
              <a:t>.</a:t>
            </a:r>
          </a:p>
          <a:p>
            <a:r>
              <a:rPr lang="en-US" sz="2400" dirty="0" smtClean="0"/>
              <a:t>Multiple </a:t>
            </a:r>
            <a:r>
              <a:rPr lang="en-US" sz="2400" dirty="0"/>
              <a:t>Data: every processor may be working with a different data stream as shown in the figure multiple data stream is provided by shared memory. </a:t>
            </a:r>
            <a:endParaRPr lang="en-US" sz="2400" dirty="0" smtClean="0"/>
          </a:p>
          <a:p>
            <a:r>
              <a:rPr lang="en-US" sz="2400" dirty="0" smtClean="0"/>
              <a:t>Can </a:t>
            </a:r>
            <a:r>
              <a:rPr lang="en-US" sz="2400" dirty="0"/>
              <a:t>be categorized </a:t>
            </a:r>
            <a:r>
              <a:rPr lang="en-US" sz="2400" dirty="0" smtClean="0"/>
              <a:t>as loosely </a:t>
            </a:r>
            <a:r>
              <a:rPr lang="en-US" sz="2400" dirty="0"/>
              <a:t>coupled or tightly coupled depending on sharing of data and control</a:t>
            </a:r>
            <a:r>
              <a:rPr lang="en-US" sz="2400" dirty="0" smtClean="0"/>
              <a:t>.</a:t>
            </a:r>
          </a:p>
          <a:p>
            <a:r>
              <a:rPr lang="en-US" sz="2400" dirty="0" smtClean="0"/>
              <a:t>Execution </a:t>
            </a:r>
            <a:r>
              <a:rPr lang="en-US" sz="2400" dirty="0"/>
              <a:t>can be synchronous or asynchronous, deterministic or non- deterministic</a:t>
            </a:r>
            <a:r>
              <a:rPr lang="en-US" sz="2400" dirty="0" smtClean="0"/>
              <a:t>.</a:t>
            </a:r>
          </a:p>
        </p:txBody>
      </p:sp>
    </p:spTree>
    <p:extLst>
      <p:ext uri="{BB962C8B-B14F-4D97-AF65-F5344CB8AC3E}">
        <p14:creationId xmlns:p14="http://schemas.microsoft.com/office/powerpoint/2010/main" val="583199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1249" y="1265129"/>
            <a:ext cx="7528143" cy="3021121"/>
          </a:xfrm>
          <a:prstGeom prst="rect">
            <a:avLst/>
          </a:prstGeom>
        </p:spPr>
      </p:pic>
    </p:spTree>
    <p:extLst>
      <p:ext uri="{BB962C8B-B14F-4D97-AF65-F5344CB8AC3E}">
        <p14:creationId xmlns:p14="http://schemas.microsoft.com/office/powerpoint/2010/main" val="1115001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rtl="0"/>
            <a:r>
              <a:rPr lang="en-US" sz="3600" b="1" dirty="0" smtClean="0"/>
              <a:t>2. Shared Memory &amp; Distributed Memory</a:t>
            </a:r>
            <a:endParaRPr lang="en-US" sz="3600" b="1" dirty="0"/>
          </a:p>
        </p:txBody>
      </p:sp>
      <p:sp>
        <p:nvSpPr>
          <p:cNvPr id="3" name="Content Placeholder 2"/>
          <p:cNvSpPr>
            <a:spLocks noGrp="1"/>
          </p:cNvSpPr>
          <p:nvPr>
            <p:ph idx="1"/>
          </p:nvPr>
        </p:nvSpPr>
        <p:spPr/>
        <p:txBody>
          <a:bodyPr>
            <a:normAutofit/>
          </a:bodyPr>
          <a:lstStyle/>
          <a:p>
            <a:r>
              <a:rPr lang="en-US" sz="2400" dirty="0"/>
              <a:t>In a </a:t>
            </a:r>
            <a:r>
              <a:rPr lang="en-US" sz="2400" dirty="0">
                <a:solidFill>
                  <a:srgbClr val="FF0000"/>
                </a:solidFill>
              </a:rPr>
              <a:t>shared-memory</a:t>
            </a:r>
            <a:r>
              <a:rPr lang="en-US" sz="2400" dirty="0"/>
              <a:t> system a collection of autonomous processors is connected to a memory system via an </a:t>
            </a:r>
            <a:r>
              <a:rPr lang="en-US" sz="2400" dirty="0" smtClean="0"/>
              <a:t>interconnection </a:t>
            </a:r>
            <a:r>
              <a:rPr lang="en-US" sz="2400" dirty="0"/>
              <a:t>network, and each processor can access each memory location. </a:t>
            </a:r>
            <a:endParaRPr lang="en-US" sz="2400" dirty="0" smtClean="0"/>
          </a:p>
          <a:p>
            <a:r>
              <a:rPr lang="en-US" sz="2400" dirty="0" smtClean="0"/>
              <a:t>In </a:t>
            </a:r>
            <a:r>
              <a:rPr lang="en-US" sz="2400" dirty="0"/>
              <a:t>a </a:t>
            </a:r>
            <a:r>
              <a:rPr lang="en-US" sz="2400" dirty="0">
                <a:solidFill>
                  <a:srgbClr val="FF0000"/>
                </a:solidFill>
              </a:rPr>
              <a:t>distributed-memory</a:t>
            </a:r>
            <a:r>
              <a:rPr lang="en-US" sz="2400" dirty="0"/>
              <a:t> system, each processor is paired with its own private memory, and the processor-memory pairs communicate over an interconnection network</a:t>
            </a:r>
            <a:r>
              <a:rPr lang="en-US" sz="2400" dirty="0" smtClean="0"/>
              <a:t>.</a:t>
            </a:r>
          </a:p>
        </p:txBody>
      </p:sp>
    </p:spTree>
    <p:extLst>
      <p:ext uri="{BB962C8B-B14F-4D97-AF65-F5344CB8AC3E}">
        <p14:creationId xmlns:p14="http://schemas.microsoft.com/office/powerpoint/2010/main" val="940692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13984" y="588723"/>
            <a:ext cx="7528142" cy="5674291"/>
          </a:xfrm>
          <a:prstGeom prst="rect">
            <a:avLst/>
          </a:prstGeom>
        </p:spPr>
      </p:pic>
    </p:spTree>
    <p:extLst>
      <p:ext uri="{BB962C8B-B14F-4D97-AF65-F5344CB8AC3E}">
        <p14:creationId xmlns:p14="http://schemas.microsoft.com/office/powerpoint/2010/main" val="1348890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9C7C99-CED1-4046-98EC-D24A9E0A417B}"/>
              </a:ext>
            </a:extLst>
          </p:cNvPr>
          <p:cNvSpPr>
            <a:spLocks noGrp="1"/>
          </p:cNvSpPr>
          <p:nvPr>
            <p:ph type="title"/>
          </p:nvPr>
        </p:nvSpPr>
        <p:spPr>
          <a:xfrm>
            <a:off x="457200" y="365126"/>
            <a:ext cx="8058150" cy="1100093"/>
          </a:xfrm>
        </p:spPr>
        <p:txBody>
          <a:bodyPr>
            <a:normAutofit/>
          </a:bodyPr>
          <a:lstStyle/>
          <a:p>
            <a:pPr algn="l" rtl="0"/>
            <a:r>
              <a:rPr lang="en-US" sz="3600" b="1" dirty="0" smtClean="0">
                <a:solidFill>
                  <a:srgbClr val="FF0000"/>
                </a:solidFill>
              </a:rPr>
              <a:t>Shared memory Systems</a:t>
            </a:r>
            <a:endParaRPr lang="en-US" sz="3600" b="1" dirty="0">
              <a:solidFill>
                <a:srgbClr val="FF0000"/>
              </a:solidFill>
            </a:endParaRPr>
          </a:p>
        </p:txBody>
      </p:sp>
      <p:sp>
        <p:nvSpPr>
          <p:cNvPr id="3" name="Content Placeholder 2">
            <a:extLst>
              <a:ext uri="{FF2B5EF4-FFF2-40B4-BE49-F238E27FC236}">
                <a16:creationId xmlns="" xmlns:a16="http://schemas.microsoft.com/office/drawing/2014/main" id="{9BA7F2F7-E73B-45E4-8FE6-921F905E29DE}"/>
              </a:ext>
            </a:extLst>
          </p:cNvPr>
          <p:cNvSpPr>
            <a:spLocks noGrp="1"/>
          </p:cNvSpPr>
          <p:nvPr>
            <p:ph idx="1"/>
          </p:nvPr>
        </p:nvSpPr>
        <p:spPr>
          <a:xfrm>
            <a:off x="457200" y="1477419"/>
            <a:ext cx="8229600" cy="4396962"/>
          </a:xfrm>
        </p:spPr>
        <p:txBody>
          <a:bodyPr>
            <a:noAutofit/>
          </a:bodyPr>
          <a:lstStyle/>
          <a:p>
            <a:r>
              <a:rPr lang="en-US" sz="2400" dirty="0"/>
              <a:t>The most widely available shared-memory systems use one or more multicore </a:t>
            </a:r>
            <a:r>
              <a:rPr lang="en-US" sz="2400" dirty="0" smtClean="0"/>
              <a:t>processors</a:t>
            </a:r>
            <a:r>
              <a:rPr lang="en-US" sz="2400" dirty="0"/>
              <a:t>. </a:t>
            </a:r>
            <a:endParaRPr lang="en-US" sz="2400" dirty="0" smtClean="0"/>
          </a:p>
          <a:p>
            <a:r>
              <a:rPr lang="en-US" sz="2400" dirty="0" smtClean="0"/>
              <a:t>A </a:t>
            </a:r>
            <a:r>
              <a:rPr lang="en-US" sz="2400" dirty="0"/>
              <a:t>multicore processor has multiple CPUs or cores on a single chip. </a:t>
            </a:r>
            <a:endParaRPr lang="en-US" sz="2400" dirty="0" smtClean="0"/>
          </a:p>
          <a:p>
            <a:r>
              <a:rPr lang="en-US" sz="2400" dirty="0" smtClean="0"/>
              <a:t>In </a:t>
            </a:r>
            <a:r>
              <a:rPr lang="en-US" sz="2400" dirty="0"/>
              <a:t>shared-memory systems with multiple multicore processors, the interconnect can either connect all the processors directly to main </a:t>
            </a:r>
            <a:r>
              <a:rPr lang="en-US" sz="2400" dirty="0" smtClean="0"/>
              <a:t>memory (Uniform memory access, or </a:t>
            </a:r>
            <a:r>
              <a:rPr lang="en-US" sz="2400" dirty="0" smtClean="0">
                <a:solidFill>
                  <a:srgbClr val="FF0000"/>
                </a:solidFill>
              </a:rPr>
              <a:t>UMA</a:t>
            </a:r>
            <a:r>
              <a:rPr lang="en-US" sz="2400" dirty="0" smtClean="0"/>
              <a:t>).</a:t>
            </a:r>
          </a:p>
          <a:p>
            <a:r>
              <a:rPr lang="en-US" sz="2400" dirty="0" smtClean="0"/>
              <a:t>Or, </a:t>
            </a:r>
            <a:r>
              <a:rPr lang="en-US" sz="2400" dirty="0"/>
              <a:t>each processor can have a direct connection to a block of main memory, and the processors can access each other’s blocks of main memory through special hardware built into the </a:t>
            </a:r>
            <a:r>
              <a:rPr lang="en-US" sz="2400" dirty="0" smtClean="0"/>
              <a:t>processors (Nonuniform memory access or </a:t>
            </a:r>
            <a:r>
              <a:rPr lang="en-US" sz="2400" dirty="0" smtClean="0">
                <a:solidFill>
                  <a:srgbClr val="FF0000"/>
                </a:solidFill>
              </a:rPr>
              <a:t>NUMA</a:t>
            </a:r>
            <a:r>
              <a:rPr lang="en-US" sz="2400" dirty="0" smtClean="0"/>
              <a:t>).</a:t>
            </a:r>
          </a:p>
          <a:p>
            <a:pPr algn="l" rtl="0"/>
            <a:endParaRPr lang="en-US" sz="2400" dirty="0" smtClean="0">
              <a:effectLst/>
              <a:ea typeface="Times New Roman" panose="02020603050405020304" pitchFamily="18" charset="0"/>
            </a:endParaRPr>
          </a:p>
          <a:p>
            <a:pPr marL="0" indent="0" algn="l" rtl="0">
              <a:buNone/>
            </a:pPr>
            <a:endParaRPr lang="en-US" sz="2400" dirty="0"/>
          </a:p>
        </p:txBody>
      </p:sp>
    </p:spTree>
    <p:extLst>
      <p:ext uri="{BB962C8B-B14F-4D97-AF65-F5344CB8AC3E}">
        <p14:creationId xmlns:p14="http://schemas.microsoft.com/office/powerpoint/2010/main" val="2785286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6511" y="789140"/>
            <a:ext cx="7227516" cy="5311035"/>
          </a:xfrm>
          <a:prstGeom prst="rect">
            <a:avLst/>
          </a:prstGeom>
        </p:spPr>
      </p:pic>
    </p:spTree>
    <p:extLst>
      <p:ext uri="{BB962C8B-B14F-4D97-AF65-F5344CB8AC3E}">
        <p14:creationId xmlns:p14="http://schemas.microsoft.com/office/powerpoint/2010/main" val="2683333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a:t>
            </a:r>
            <a:endParaRPr lang="en-US" dirty="0"/>
          </a:p>
        </p:txBody>
      </p:sp>
      <p:sp>
        <p:nvSpPr>
          <p:cNvPr id="3" name="Content Placeholder 2"/>
          <p:cNvSpPr>
            <a:spLocks noGrp="1"/>
          </p:cNvSpPr>
          <p:nvPr>
            <p:ph idx="1"/>
          </p:nvPr>
        </p:nvSpPr>
        <p:spPr/>
        <p:txBody>
          <a:bodyPr>
            <a:normAutofit/>
          </a:bodyPr>
          <a:lstStyle/>
          <a:p>
            <a:r>
              <a:rPr lang="en-US" sz="2400" dirty="0">
                <a:solidFill>
                  <a:srgbClr val="FF0000"/>
                </a:solidFill>
              </a:rPr>
              <a:t>UMA</a:t>
            </a:r>
            <a:r>
              <a:rPr lang="en-US" sz="2400" dirty="0"/>
              <a:t> systems </a:t>
            </a:r>
            <a:r>
              <a:rPr lang="en-US" sz="2400" dirty="0" smtClean="0"/>
              <a:t>are usually </a:t>
            </a:r>
            <a:r>
              <a:rPr lang="en-US" sz="2400" dirty="0"/>
              <a:t>easier to program, since the programmer doesn’t need to worry about </a:t>
            </a:r>
            <a:r>
              <a:rPr lang="en-US" sz="2400" dirty="0" smtClean="0"/>
              <a:t>different </a:t>
            </a:r>
            <a:r>
              <a:rPr lang="en-US" sz="2400" dirty="0"/>
              <a:t>access times for different memory locations. </a:t>
            </a:r>
            <a:endParaRPr lang="en-US" sz="2400" dirty="0" smtClean="0"/>
          </a:p>
          <a:p>
            <a:r>
              <a:rPr lang="en-US" sz="2400" dirty="0" smtClean="0"/>
              <a:t>This </a:t>
            </a:r>
            <a:r>
              <a:rPr lang="en-US" sz="2400" dirty="0"/>
              <a:t>advantage can be offset by the faster access to the directly connected memory in </a:t>
            </a:r>
            <a:r>
              <a:rPr lang="en-US" sz="2400" dirty="0">
                <a:solidFill>
                  <a:srgbClr val="FF0000"/>
                </a:solidFill>
              </a:rPr>
              <a:t>NUMA</a:t>
            </a:r>
            <a:r>
              <a:rPr lang="en-US" sz="2400" dirty="0"/>
              <a:t> systems</a:t>
            </a:r>
            <a:r>
              <a:rPr lang="en-US" sz="2400" dirty="0" smtClean="0"/>
              <a:t>.</a:t>
            </a:r>
          </a:p>
          <a:p>
            <a:r>
              <a:rPr lang="en-US" sz="2400" dirty="0" smtClean="0"/>
              <a:t>Furthermore</a:t>
            </a:r>
            <a:r>
              <a:rPr lang="en-US" sz="2400" dirty="0"/>
              <a:t>, </a:t>
            </a:r>
            <a:r>
              <a:rPr lang="en-US" sz="2400" dirty="0">
                <a:solidFill>
                  <a:srgbClr val="FF0000"/>
                </a:solidFill>
              </a:rPr>
              <a:t>NUMA</a:t>
            </a:r>
            <a:r>
              <a:rPr lang="en-US" sz="2400" dirty="0"/>
              <a:t> systems have the potential to use larger amounts of memory than </a:t>
            </a:r>
            <a:r>
              <a:rPr lang="en-US" sz="2400" dirty="0">
                <a:solidFill>
                  <a:srgbClr val="FF0000"/>
                </a:solidFill>
              </a:rPr>
              <a:t>UMA</a:t>
            </a:r>
            <a:r>
              <a:rPr lang="en-US" sz="2400" dirty="0"/>
              <a:t> </a:t>
            </a:r>
            <a:r>
              <a:rPr lang="en-US" sz="2400" dirty="0" smtClean="0"/>
              <a:t>systems</a:t>
            </a:r>
            <a:r>
              <a:rPr lang="en-US" sz="2400" dirty="0"/>
              <a:t>.</a:t>
            </a:r>
          </a:p>
        </p:txBody>
      </p:sp>
    </p:spTree>
    <p:extLst>
      <p:ext uri="{BB962C8B-B14F-4D97-AF65-F5344CB8AC3E}">
        <p14:creationId xmlns:p14="http://schemas.microsoft.com/office/powerpoint/2010/main" val="3256284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rtl="0"/>
            <a:r>
              <a:rPr lang="en-US" sz="3600" b="1" dirty="0" smtClean="0">
                <a:solidFill>
                  <a:srgbClr val="FF0000"/>
                </a:solidFill>
              </a:rPr>
              <a:t>Distributed Memory Systems</a:t>
            </a:r>
            <a:endParaRPr lang="en-US" sz="3600" b="1" dirty="0">
              <a:solidFill>
                <a:srgbClr val="FF0000"/>
              </a:solidFill>
            </a:endParaRPr>
          </a:p>
        </p:txBody>
      </p:sp>
      <p:sp>
        <p:nvSpPr>
          <p:cNvPr id="3" name="Content Placeholder 2"/>
          <p:cNvSpPr>
            <a:spLocks noGrp="1"/>
          </p:cNvSpPr>
          <p:nvPr>
            <p:ph idx="1"/>
          </p:nvPr>
        </p:nvSpPr>
        <p:spPr/>
        <p:txBody>
          <a:bodyPr>
            <a:normAutofit lnSpcReduction="10000"/>
          </a:bodyPr>
          <a:lstStyle/>
          <a:p>
            <a:pPr algn="l" rtl="0"/>
            <a:r>
              <a:rPr lang="en-US" sz="2400" dirty="0"/>
              <a:t>To overcome the limitations of shared-memory systems, high-performance computing moved to distributed-memory systems. </a:t>
            </a:r>
            <a:endParaRPr lang="en-US" sz="2400" dirty="0" smtClean="0"/>
          </a:p>
          <a:p>
            <a:pPr algn="l" rtl="0"/>
            <a:r>
              <a:rPr lang="en-US" sz="2400" dirty="0" smtClean="0"/>
              <a:t>This </a:t>
            </a:r>
            <a:r>
              <a:rPr lang="en-US" sz="2400" dirty="0"/>
              <a:t>shift also meant that many programs had to make use of message passing instead of modifying shared data as a means of communication and synchronization between threads</a:t>
            </a:r>
            <a:r>
              <a:rPr lang="en-US" sz="2400" dirty="0" smtClean="0"/>
              <a:t>.</a:t>
            </a:r>
          </a:p>
          <a:p>
            <a:pPr algn="l" rtl="0"/>
            <a:r>
              <a:rPr lang="en-US" sz="2400" dirty="0" smtClean="0"/>
              <a:t>Unfortunately</a:t>
            </a:r>
            <a:r>
              <a:rPr lang="en-US" sz="2400" dirty="0"/>
              <a:t>, message-passing models have proven to be much more difficult and error-prone compared to the shared-memory programming </a:t>
            </a:r>
            <a:r>
              <a:rPr lang="en-US" sz="2400" dirty="0" smtClean="0"/>
              <a:t>models.</a:t>
            </a:r>
          </a:p>
          <a:p>
            <a:r>
              <a:rPr lang="en-US" sz="2400" dirty="0"/>
              <a:t>The most widely available distributed-memory systems are called </a:t>
            </a:r>
            <a:r>
              <a:rPr lang="en-US" sz="2400" dirty="0" smtClean="0">
                <a:solidFill>
                  <a:srgbClr val="FF0000"/>
                </a:solidFill>
              </a:rPr>
              <a:t>clusters</a:t>
            </a:r>
            <a:r>
              <a:rPr lang="en-US" sz="2400" dirty="0" smtClean="0"/>
              <a:t> &amp; </a:t>
            </a:r>
            <a:r>
              <a:rPr lang="en-US" sz="2400" dirty="0" smtClean="0">
                <a:solidFill>
                  <a:srgbClr val="FF0000"/>
                </a:solidFill>
              </a:rPr>
              <a:t>Grid</a:t>
            </a:r>
            <a:r>
              <a:rPr lang="en-US" sz="2400" dirty="0" smtClean="0"/>
              <a:t> computing systems.</a:t>
            </a:r>
          </a:p>
          <a:p>
            <a:pPr algn="l" rtl="0"/>
            <a:endParaRPr lang="en-US" sz="2400" dirty="0"/>
          </a:p>
          <a:p>
            <a:pPr algn="l" rtl="0"/>
            <a:endParaRPr lang="en-US" sz="2400" dirty="0">
              <a:ea typeface="Times New Roman" panose="02020603050405020304" pitchFamily="18" charset="0"/>
            </a:endParaRPr>
          </a:p>
          <a:p>
            <a:pPr algn="l" rtl="0"/>
            <a:endParaRPr lang="en-US" sz="2400" dirty="0"/>
          </a:p>
          <a:p>
            <a:pPr algn="l" rtl="0"/>
            <a:endParaRPr lang="en-US" sz="2400" dirty="0"/>
          </a:p>
        </p:txBody>
      </p:sp>
    </p:spTree>
    <p:extLst>
      <p:ext uri="{BB962C8B-B14F-4D97-AF65-F5344CB8AC3E}">
        <p14:creationId xmlns:p14="http://schemas.microsoft.com/office/powerpoint/2010/main" val="41850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1560" y="764704"/>
            <a:ext cx="7632848" cy="5400600"/>
          </a:xfrm>
          <a:prstGeom prst="rect">
            <a:avLst/>
          </a:prstGeom>
        </p:spPr>
      </p:pic>
    </p:spTree>
    <p:extLst>
      <p:ext uri="{BB962C8B-B14F-4D97-AF65-F5344CB8AC3E}">
        <p14:creationId xmlns:p14="http://schemas.microsoft.com/office/powerpoint/2010/main" val="1900685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Cluster </a:t>
            </a:r>
            <a:r>
              <a:rPr lang="en-US" b="1" dirty="0"/>
              <a:t>computing</a:t>
            </a:r>
            <a:endParaRPr lang="en-US" dirty="0"/>
          </a:p>
        </p:txBody>
      </p:sp>
      <p:sp>
        <p:nvSpPr>
          <p:cNvPr id="3" name="Content Placeholder 2"/>
          <p:cNvSpPr>
            <a:spLocks noGrp="1"/>
          </p:cNvSpPr>
          <p:nvPr>
            <p:ph idx="1"/>
          </p:nvPr>
        </p:nvSpPr>
        <p:spPr/>
        <p:txBody>
          <a:bodyPr>
            <a:normAutofit/>
          </a:bodyPr>
          <a:lstStyle/>
          <a:p>
            <a:r>
              <a:rPr lang="en-US" sz="2400" dirty="0"/>
              <a:t>The most widely available distributed-memory systems are called clusters</a:t>
            </a:r>
            <a:r>
              <a:rPr lang="en-US" sz="2400" dirty="0" smtClean="0"/>
              <a:t>.</a:t>
            </a:r>
          </a:p>
          <a:p>
            <a:r>
              <a:rPr lang="en-US" sz="2400" dirty="0" smtClean="0"/>
              <a:t>They </a:t>
            </a:r>
            <a:r>
              <a:rPr lang="en-US" sz="2400" dirty="0"/>
              <a:t>are composed of a collection of commodity systems—for example, PCs—connected by a commodity interconnection network—for example, Ethernet</a:t>
            </a:r>
            <a:r>
              <a:rPr lang="en-US" sz="2400" dirty="0" smtClean="0"/>
              <a:t>.</a:t>
            </a:r>
          </a:p>
          <a:p>
            <a:r>
              <a:rPr lang="en-US" sz="2400" dirty="0" smtClean="0"/>
              <a:t>In </a:t>
            </a:r>
            <a:r>
              <a:rPr lang="en-US" sz="2400" dirty="0"/>
              <a:t>fact, the nodes of these systems, the individual computational units joined together by the </a:t>
            </a:r>
            <a:r>
              <a:rPr lang="en-US" sz="2400" dirty="0" smtClean="0"/>
              <a:t>communication </a:t>
            </a:r>
            <a:r>
              <a:rPr lang="en-US" sz="2400" dirty="0"/>
              <a:t>network, are usually shared-memory systems with one or more multicore processors. </a:t>
            </a:r>
          </a:p>
        </p:txBody>
      </p:sp>
    </p:spTree>
    <p:extLst>
      <p:ext uri="{BB962C8B-B14F-4D97-AF65-F5344CB8AC3E}">
        <p14:creationId xmlns:p14="http://schemas.microsoft.com/office/powerpoint/2010/main" val="3845874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b="1" dirty="0" smtClean="0"/>
              <a:t>Cont.,</a:t>
            </a:r>
            <a:endParaRPr lang="en-US" b="1" dirty="0"/>
          </a:p>
        </p:txBody>
      </p:sp>
      <p:sp>
        <p:nvSpPr>
          <p:cNvPr id="3" name="Content Placeholder 2"/>
          <p:cNvSpPr>
            <a:spLocks noGrp="1"/>
          </p:cNvSpPr>
          <p:nvPr>
            <p:ph idx="1"/>
          </p:nvPr>
        </p:nvSpPr>
        <p:spPr/>
        <p:txBody>
          <a:bodyPr>
            <a:normAutofit/>
          </a:bodyPr>
          <a:lstStyle/>
          <a:p>
            <a:pPr algn="l" rtl="0"/>
            <a:r>
              <a:rPr lang="en-US" sz="2400" dirty="0" smtClean="0"/>
              <a:t>A </a:t>
            </a:r>
            <a:r>
              <a:rPr lang="en-US" sz="2400" dirty="0"/>
              <a:t>characteristic feature of traditional cluster computing is its </a:t>
            </a:r>
            <a:r>
              <a:rPr lang="en-US" sz="2400" i="1" dirty="0">
                <a:solidFill>
                  <a:srgbClr val="FF0000"/>
                </a:solidFill>
              </a:rPr>
              <a:t>homogeneity</a:t>
            </a:r>
            <a:r>
              <a:rPr lang="en-US" sz="2400" dirty="0" smtClean="0"/>
              <a:t>.</a:t>
            </a:r>
          </a:p>
          <a:p>
            <a:pPr algn="l" rtl="0"/>
            <a:r>
              <a:rPr lang="en-US" sz="2400" dirty="0" smtClean="0"/>
              <a:t>In </a:t>
            </a:r>
            <a:r>
              <a:rPr lang="en-US" sz="2400" dirty="0"/>
              <a:t>most cases, the computers in a cluster are largely the same, have the same operating system, and are all connected through the same network.</a:t>
            </a:r>
            <a:endParaRPr lang="en-US" sz="2400" dirty="0" smtClean="0"/>
          </a:p>
          <a:p>
            <a:pPr algn="l" rtl="0"/>
            <a:r>
              <a:rPr lang="en-US" sz="2400" dirty="0" smtClean="0"/>
              <a:t>Cluster </a:t>
            </a:r>
            <a:r>
              <a:rPr lang="en-US" sz="2400" dirty="0"/>
              <a:t>computing is used for parallel programming in which a </a:t>
            </a:r>
            <a:r>
              <a:rPr lang="en-US" sz="2400" dirty="0" smtClean="0"/>
              <a:t>single </a:t>
            </a:r>
            <a:r>
              <a:rPr lang="en-US" sz="2400" dirty="0"/>
              <a:t>program is run in parallel on multiple machines. </a:t>
            </a:r>
          </a:p>
        </p:txBody>
      </p:sp>
    </p:spTree>
    <p:extLst>
      <p:ext uri="{BB962C8B-B14F-4D97-AF65-F5344CB8AC3E}">
        <p14:creationId xmlns:p14="http://schemas.microsoft.com/office/powerpoint/2010/main" val="957018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b="1" dirty="0" smtClean="0"/>
              <a:t>Cluster Structure</a:t>
            </a:r>
            <a:endParaRPr lang="en-US" b="1" dirty="0"/>
          </a:p>
        </p:txBody>
      </p:sp>
      <p:sp>
        <p:nvSpPr>
          <p:cNvPr id="3" name="Content Placeholder 2"/>
          <p:cNvSpPr>
            <a:spLocks noGrp="1"/>
          </p:cNvSpPr>
          <p:nvPr>
            <p:ph idx="1"/>
          </p:nvPr>
        </p:nvSpPr>
        <p:spPr/>
        <p:txBody>
          <a:bodyPr>
            <a:normAutofit/>
          </a:bodyPr>
          <a:lstStyle/>
          <a:p>
            <a:r>
              <a:rPr lang="en-US" sz="2400" dirty="0"/>
              <a:t>Each </a:t>
            </a:r>
            <a:r>
              <a:rPr lang="en-US" sz="2400" dirty="0" smtClean="0"/>
              <a:t>cluster consists </a:t>
            </a:r>
            <a:r>
              <a:rPr lang="en-US" sz="2400" dirty="0"/>
              <a:t>of a collection of compute nodes that are controlled and accessed by means of a single master node (Head node) . </a:t>
            </a:r>
            <a:endParaRPr lang="en-US" sz="2400" dirty="0" smtClean="0"/>
          </a:p>
          <a:p>
            <a:pPr algn="l" rtl="0"/>
            <a:r>
              <a:rPr lang="en-US" sz="2400" dirty="0" smtClean="0"/>
              <a:t>The </a:t>
            </a:r>
            <a:r>
              <a:rPr lang="en-US" sz="2400" dirty="0"/>
              <a:t>master typically handles the allocation of nodes to a particular parallel </a:t>
            </a:r>
            <a:r>
              <a:rPr lang="en-US" sz="2400" dirty="0" smtClean="0"/>
              <a:t>program (Scheduler).</a:t>
            </a:r>
          </a:p>
          <a:p>
            <a:pPr algn="l" rtl="0"/>
            <a:r>
              <a:rPr lang="en-US" sz="2400" dirty="0"/>
              <a:t>As such, the master actually runs the middleware needed for the execution of programs and management of the cluster</a:t>
            </a:r>
            <a:r>
              <a:rPr lang="en-US" sz="2400" dirty="0" smtClean="0"/>
              <a:t>,</a:t>
            </a:r>
          </a:p>
          <a:p>
            <a:pPr algn="l" rtl="0"/>
            <a:r>
              <a:rPr lang="en-US" sz="2400" dirty="0" smtClean="0"/>
              <a:t>The </a:t>
            </a:r>
            <a:r>
              <a:rPr lang="en-US" sz="2400" dirty="0"/>
              <a:t>compute nodes are equipped with a standard operating system extended with typical middleware functions for communication, storage, fault tolerance, and so </a:t>
            </a:r>
            <a:r>
              <a:rPr lang="en-US" sz="2400" dirty="0" smtClean="0"/>
              <a:t>on.</a:t>
            </a:r>
          </a:p>
          <a:p>
            <a:pPr marL="0" indent="0" algn="l" rtl="0">
              <a:buNone/>
            </a:pPr>
            <a:endParaRPr lang="en-US" sz="2400" dirty="0" smtClean="0"/>
          </a:p>
        </p:txBody>
      </p:sp>
    </p:spTree>
    <p:extLst>
      <p:ext uri="{BB962C8B-B14F-4D97-AF65-F5344CB8AC3E}">
        <p14:creationId xmlns:p14="http://schemas.microsoft.com/office/powerpoint/2010/main" val="2013051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 laptop connects to a head node computer, which is connected to several compute nod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341" y="475575"/>
            <a:ext cx="7143750" cy="317182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934950" y="3647401"/>
            <a:ext cx="6372225" cy="2952750"/>
          </a:xfrm>
          <a:prstGeom prst="rect">
            <a:avLst/>
          </a:prstGeom>
        </p:spPr>
      </p:pic>
    </p:spTree>
    <p:extLst>
      <p:ext uri="{BB962C8B-B14F-4D97-AF65-F5344CB8AC3E}">
        <p14:creationId xmlns:p14="http://schemas.microsoft.com/office/powerpoint/2010/main" val="2694636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b="1" dirty="0" smtClean="0"/>
              <a:t>2- Grid </a:t>
            </a:r>
            <a:r>
              <a:rPr lang="en-US" b="1" dirty="0"/>
              <a:t>computing</a:t>
            </a:r>
          </a:p>
        </p:txBody>
      </p:sp>
      <p:sp>
        <p:nvSpPr>
          <p:cNvPr id="3" name="Content Placeholder 2"/>
          <p:cNvSpPr>
            <a:spLocks noGrp="1"/>
          </p:cNvSpPr>
          <p:nvPr>
            <p:ph idx="1"/>
          </p:nvPr>
        </p:nvSpPr>
        <p:spPr/>
        <p:txBody>
          <a:bodyPr>
            <a:normAutofit fontScale="92500"/>
          </a:bodyPr>
          <a:lstStyle/>
          <a:p>
            <a:r>
              <a:rPr lang="en-US" dirty="0"/>
              <a:t>The grid provides the infrastructure necessary to turn large networks of </a:t>
            </a:r>
            <a:r>
              <a:rPr lang="en-US" dirty="0" smtClean="0"/>
              <a:t>geographically </a:t>
            </a:r>
            <a:r>
              <a:rPr lang="en-US" dirty="0"/>
              <a:t>distributed computers into a unified distributed-memory system. </a:t>
            </a:r>
            <a:endParaRPr lang="en-US" dirty="0" smtClean="0"/>
          </a:p>
          <a:p>
            <a:r>
              <a:rPr lang="en-US" dirty="0" smtClean="0"/>
              <a:t>In </a:t>
            </a:r>
            <a:r>
              <a:rPr lang="en-US" dirty="0"/>
              <a:t>general, such a system is </a:t>
            </a:r>
            <a:r>
              <a:rPr lang="en-US" dirty="0">
                <a:solidFill>
                  <a:srgbClr val="FF0000"/>
                </a:solidFill>
              </a:rPr>
              <a:t>heterogeneous</a:t>
            </a:r>
            <a:r>
              <a:rPr lang="en-US" dirty="0"/>
              <a:t>, that is, the individual nodes are built from different types of hardware.</a:t>
            </a:r>
            <a:endParaRPr lang="en-US" dirty="0" smtClean="0"/>
          </a:p>
          <a:p>
            <a:pPr algn="l" rtl="0"/>
            <a:r>
              <a:rPr lang="en-US" dirty="0" smtClean="0"/>
              <a:t>This </a:t>
            </a:r>
            <a:r>
              <a:rPr lang="en-US" dirty="0"/>
              <a:t>diversity is even more prevalent in grid-computing systems: no assumptions are made concerning similarity of hardware, operating systems, networks, administrative domains, security policies, etc</a:t>
            </a:r>
            <a:r>
              <a:rPr lang="en-US" dirty="0" smtClean="0"/>
              <a:t>.</a:t>
            </a:r>
          </a:p>
        </p:txBody>
      </p:sp>
    </p:spTree>
    <p:extLst>
      <p:ext uri="{BB962C8B-B14F-4D97-AF65-F5344CB8AC3E}">
        <p14:creationId xmlns:p14="http://schemas.microsoft.com/office/powerpoint/2010/main" val="3242081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Grid Computing Network</a:t>
            </a:r>
            <a:endParaRPr lang="en-US" b="1" dirty="0"/>
          </a:p>
        </p:txBody>
      </p:sp>
      <p:sp>
        <p:nvSpPr>
          <p:cNvPr id="3" name="Content Placeholder 2"/>
          <p:cNvSpPr>
            <a:spLocks noGrp="1"/>
          </p:cNvSpPr>
          <p:nvPr>
            <p:ph idx="1"/>
          </p:nvPr>
        </p:nvSpPr>
        <p:spPr/>
        <p:txBody>
          <a:bodyPr>
            <a:normAutofit fontScale="92500" lnSpcReduction="10000"/>
          </a:bodyPr>
          <a:lstStyle/>
          <a:p>
            <a:pPr fontAlgn="base"/>
            <a:r>
              <a:rPr lang="en-US" dirty="0" smtClean="0"/>
              <a:t>A </a:t>
            </a:r>
            <a:r>
              <a:rPr lang="en-US" dirty="0"/>
              <a:t>typical grid computing network consists of three machine types</a:t>
            </a:r>
            <a:r>
              <a:rPr lang="en-US" dirty="0" smtClean="0"/>
              <a:t>:</a:t>
            </a:r>
            <a:endParaRPr lang="en-US" dirty="0"/>
          </a:p>
          <a:p>
            <a:pPr fontAlgn="base"/>
            <a:r>
              <a:rPr lang="en-US" b="1" dirty="0"/>
              <a:t>Control node/server:</a:t>
            </a:r>
            <a:r>
              <a:rPr lang="en-US" dirty="0"/>
              <a:t> A control node is a server or a group of servers that administers the entire network and maintains the record for resources in a network pool.</a:t>
            </a:r>
          </a:p>
          <a:p>
            <a:pPr fontAlgn="base"/>
            <a:r>
              <a:rPr lang="en-US" b="1" dirty="0"/>
              <a:t>Provider/grid node: </a:t>
            </a:r>
            <a:r>
              <a:rPr lang="en-US" dirty="0"/>
              <a:t>A provider or grid node is a computer that contributes its resources to the network resource pool.</a:t>
            </a:r>
          </a:p>
          <a:p>
            <a:pPr fontAlgn="base"/>
            <a:r>
              <a:rPr lang="en-US" b="1" dirty="0"/>
              <a:t>User:</a:t>
            </a:r>
            <a:r>
              <a:rPr lang="en-US" dirty="0"/>
              <a:t> A user refers to the computer that uses the resources on the network to complete the task.</a:t>
            </a:r>
          </a:p>
          <a:p>
            <a:endParaRPr lang="en-US" dirty="0"/>
          </a:p>
        </p:txBody>
      </p:sp>
    </p:spTree>
    <p:extLst>
      <p:ext uri="{BB962C8B-B14F-4D97-AF65-F5344CB8AC3E}">
        <p14:creationId xmlns:p14="http://schemas.microsoft.com/office/powerpoint/2010/main" val="2337071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Grid Computing 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358" y="212943"/>
            <a:ext cx="7903923" cy="5984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455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B. Interconnection Networks</a:t>
            </a:r>
            <a:endParaRPr lang="en-US" sz="3600" b="1" dirty="0"/>
          </a:p>
        </p:txBody>
      </p:sp>
      <p:sp>
        <p:nvSpPr>
          <p:cNvPr id="3" name="Content Placeholder 2"/>
          <p:cNvSpPr>
            <a:spLocks noGrp="1"/>
          </p:cNvSpPr>
          <p:nvPr>
            <p:ph idx="1"/>
          </p:nvPr>
        </p:nvSpPr>
        <p:spPr/>
        <p:txBody>
          <a:bodyPr>
            <a:normAutofit/>
          </a:bodyPr>
          <a:lstStyle/>
          <a:p>
            <a:r>
              <a:rPr lang="en-US" sz="2400" dirty="0"/>
              <a:t>The interconnect plays a decisive role in the performance of both distributed- and shared-memory </a:t>
            </a:r>
            <a:r>
              <a:rPr lang="en-US" sz="2400" dirty="0" smtClean="0"/>
              <a:t>systems.</a:t>
            </a:r>
          </a:p>
          <a:p>
            <a:r>
              <a:rPr lang="en-US" sz="2400" dirty="0" smtClean="0"/>
              <a:t>Even </a:t>
            </a:r>
            <a:r>
              <a:rPr lang="en-US" sz="2400" dirty="0"/>
              <a:t>if the processors and memory have virtually unlimited performance, a </a:t>
            </a:r>
            <a:r>
              <a:rPr lang="en-US" sz="2400" u="sng" dirty="0">
                <a:solidFill>
                  <a:srgbClr val="FF0000"/>
                </a:solidFill>
              </a:rPr>
              <a:t>slow</a:t>
            </a:r>
            <a:r>
              <a:rPr lang="en-US" sz="2400" u="sng" dirty="0"/>
              <a:t> </a:t>
            </a:r>
            <a:r>
              <a:rPr lang="en-US" sz="2400" u="sng" dirty="0">
                <a:solidFill>
                  <a:srgbClr val="FF0000"/>
                </a:solidFill>
              </a:rPr>
              <a:t>interconnect</a:t>
            </a:r>
            <a:r>
              <a:rPr lang="en-US" sz="2400" u="sng" dirty="0"/>
              <a:t> </a:t>
            </a:r>
            <a:r>
              <a:rPr lang="en-US" sz="2400" dirty="0"/>
              <a:t>will seriously degrade the overall performance of all but the simplest parallel program. </a:t>
            </a:r>
            <a:endParaRPr lang="en-US" sz="2400" dirty="0" smtClean="0"/>
          </a:p>
          <a:p>
            <a:r>
              <a:rPr lang="en-US" sz="2400" dirty="0" smtClean="0"/>
              <a:t>Although </a:t>
            </a:r>
            <a:r>
              <a:rPr lang="en-US" sz="2400" dirty="0"/>
              <a:t>some of the interconnects have a great deal in common, there are enough differences to make it worthwhile to treat interconnects for shared-memory and distributed-memory separately</a:t>
            </a:r>
            <a:r>
              <a:rPr lang="en-US" sz="2400" dirty="0" smtClean="0"/>
              <a:t>.</a:t>
            </a:r>
          </a:p>
          <a:p>
            <a:r>
              <a:rPr lang="en-US" sz="2400" dirty="0"/>
              <a:t>Various types of interconnection networks have been suggested for SIMD &amp; MIMD computers.</a:t>
            </a:r>
          </a:p>
          <a:p>
            <a:pPr marL="0" indent="0">
              <a:buNone/>
            </a:pPr>
            <a:endParaRPr lang="en-US" sz="2400" dirty="0"/>
          </a:p>
        </p:txBody>
      </p:sp>
    </p:spTree>
    <p:extLst>
      <p:ext uri="{BB962C8B-B14F-4D97-AF65-F5344CB8AC3E}">
        <p14:creationId xmlns:p14="http://schemas.microsoft.com/office/powerpoint/2010/main" val="2626317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Network Topologies</a:t>
            </a:r>
            <a:endParaRPr lang="en-US" b="1" dirty="0"/>
          </a:p>
        </p:txBody>
      </p:sp>
      <p:sp>
        <p:nvSpPr>
          <p:cNvPr id="3" name="Content Placeholder 2"/>
          <p:cNvSpPr>
            <a:spLocks noGrp="1"/>
          </p:cNvSpPr>
          <p:nvPr>
            <p:ph idx="1"/>
          </p:nvPr>
        </p:nvSpPr>
        <p:spPr/>
        <p:txBody>
          <a:bodyPr>
            <a:normAutofit/>
          </a:bodyPr>
          <a:lstStyle/>
          <a:p>
            <a:r>
              <a:rPr lang="en-US" sz="2400" dirty="0" smtClean="0"/>
              <a:t>These </a:t>
            </a:r>
            <a:r>
              <a:rPr lang="en-US" sz="2400" dirty="0"/>
              <a:t>are basically </a:t>
            </a:r>
            <a:r>
              <a:rPr lang="en-US" sz="2400" dirty="0" smtClean="0"/>
              <a:t>have </a:t>
            </a:r>
            <a:r>
              <a:rPr lang="en-US" sz="2400" dirty="0"/>
              <a:t>been classified on network topologies into two categories namely </a:t>
            </a:r>
            <a:r>
              <a:rPr lang="en-US" sz="2400" dirty="0" smtClean="0"/>
              <a:t>:</a:t>
            </a:r>
          </a:p>
          <a:p>
            <a:r>
              <a:rPr lang="en-US" sz="2400" dirty="0" smtClean="0">
                <a:solidFill>
                  <a:srgbClr val="FF0000"/>
                </a:solidFill>
              </a:rPr>
              <a:t>Static </a:t>
            </a:r>
            <a:r>
              <a:rPr lang="en-US" sz="2400" dirty="0">
                <a:solidFill>
                  <a:srgbClr val="FF0000"/>
                </a:solidFill>
              </a:rPr>
              <a:t>Networks </a:t>
            </a:r>
            <a:r>
              <a:rPr lang="en-US" sz="2400" dirty="0" smtClean="0"/>
              <a:t>: point-to-point direct connection which will not change during program execution.</a:t>
            </a:r>
          </a:p>
          <a:p>
            <a:r>
              <a:rPr lang="en-US" sz="2400" dirty="0" smtClean="0">
                <a:solidFill>
                  <a:srgbClr val="FF0000"/>
                </a:solidFill>
              </a:rPr>
              <a:t>Dynamic </a:t>
            </a:r>
            <a:r>
              <a:rPr lang="en-US" sz="2400" dirty="0">
                <a:solidFill>
                  <a:srgbClr val="FF0000"/>
                </a:solidFill>
              </a:rPr>
              <a:t>Networks </a:t>
            </a:r>
            <a:r>
              <a:rPr lang="en-US" sz="2400" dirty="0" smtClean="0"/>
              <a:t>: are implemented with switched channels which are dynamically configured to match the communication demands in user programs.</a:t>
            </a:r>
          </a:p>
        </p:txBody>
      </p:sp>
    </p:spTree>
    <p:extLst>
      <p:ext uri="{BB962C8B-B14F-4D97-AF65-F5344CB8AC3E}">
        <p14:creationId xmlns:p14="http://schemas.microsoft.com/office/powerpoint/2010/main" val="2588203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Network </a:t>
            </a:r>
            <a:r>
              <a:rPr lang="en-US" sz="3600" b="1" dirty="0" smtClean="0"/>
              <a:t>Properties &amp; Routing</a:t>
            </a:r>
            <a:endParaRPr lang="en-US" sz="3600" dirty="0"/>
          </a:p>
        </p:txBody>
      </p:sp>
      <p:sp>
        <p:nvSpPr>
          <p:cNvPr id="3" name="Content Placeholder 2"/>
          <p:cNvSpPr>
            <a:spLocks noGrp="1"/>
          </p:cNvSpPr>
          <p:nvPr>
            <p:ph idx="1"/>
          </p:nvPr>
        </p:nvSpPr>
        <p:spPr/>
        <p:txBody>
          <a:bodyPr>
            <a:noAutofit/>
          </a:bodyPr>
          <a:lstStyle/>
          <a:p>
            <a:r>
              <a:rPr lang="en-US" sz="2400" dirty="0"/>
              <a:t>The goals of an interconnection network are to provide low-latency high data transfer rate wide communication bandwidth. </a:t>
            </a:r>
            <a:endParaRPr lang="en-US" sz="2400" dirty="0" smtClean="0"/>
          </a:p>
          <a:p>
            <a:r>
              <a:rPr lang="en-US" sz="2400" dirty="0" smtClean="0"/>
              <a:t>Analysis </a:t>
            </a:r>
            <a:r>
              <a:rPr lang="en-US" sz="2400" dirty="0"/>
              <a:t>includes latency, bisection bandwidth, data-routing functions and scalability of parallel architecture</a:t>
            </a:r>
            <a:r>
              <a:rPr lang="en-US" sz="2400" dirty="0" smtClean="0"/>
              <a:t>.</a:t>
            </a:r>
          </a:p>
          <a:p>
            <a:r>
              <a:rPr lang="en-US" sz="2400" dirty="0" smtClean="0"/>
              <a:t>Data </a:t>
            </a:r>
            <a:r>
              <a:rPr lang="en-US" sz="2400" dirty="0"/>
              <a:t>Routing Functions: A data routing network is used for inter-PE (Processing Element) data exchange. </a:t>
            </a:r>
            <a:endParaRPr lang="en-US" sz="2400" dirty="0" smtClean="0"/>
          </a:p>
          <a:p>
            <a:r>
              <a:rPr lang="en-US" sz="2400" dirty="0" smtClean="0"/>
              <a:t>It </a:t>
            </a:r>
            <a:r>
              <a:rPr lang="en-US" sz="2400" dirty="0"/>
              <a:t>can be static as in case of hypercube routing network or dynamic such as multistage network.</a:t>
            </a:r>
          </a:p>
        </p:txBody>
      </p:sp>
    </p:spTree>
    <p:extLst>
      <p:ext uri="{BB962C8B-B14F-4D97-AF65-F5344CB8AC3E}">
        <p14:creationId xmlns:p14="http://schemas.microsoft.com/office/powerpoint/2010/main" val="183024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rPr>
              <a:t>Static </a:t>
            </a:r>
            <a:r>
              <a:rPr lang="en-US" sz="3600" b="1" dirty="0" smtClean="0">
                <a:solidFill>
                  <a:srgbClr val="FF0000"/>
                </a:solidFill>
              </a:rPr>
              <a:t>Interconnection Networks</a:t>
            </a:r>
            <a:endParaRPr lang="en-US" sz="3600" b="1" dirty="0">
              <a:solidFill>
                <a:srgbClr val="FF0000"/>
              </a:solidFill>
            </a:endParaRPr>
          </a:p>
        </p:txBody>
      </p:sp>
      <p:sp>
        <p:nvSpPr>
          <p:cNvPr id="3" name="Content Placeholder 2"/>
          <p:cNvSpPr>
            <a:spLocks noGrp="1"/>
          </p:cNvSpPr>
          <p:nvPr>
            <p:ph idx="1"/>
          </p:nvPr>
        </p:nvSpPr>
        <p:spPr/>
        <p:txBody>
          <a:bodyPr>
            <a:normAutofit/>
          </a:bodyPr>
          <a:lstStyle/>
          <a:p>
            <a:r>
              <a:rPr lang="en-US" sz="2400" dirty="0"/>
              <a:t>Static interconnection networks can have many structures such as a linear structure (pipeline), a matrix, a ring, a torus, a complete connection structure, a tree, a star, a </a:t>
            </a:r>
            <a:r>
              <a:rPr lang="en-US" sz="2400" dirty="0" smtClean="0"/>
              <a:t>hypercube.</a:t>
            </a:r>
          </a:p>
          <a:p>
            <a:endParaRPr lang="en-US" sz="2400" dirty="0"/>
          </a:p>
        </p:txBody>
      </p:sp>
      <p:pic>
        <p:nvPicPr>
          <p:cNvPr id="4" name="Picture 3"/>
          <p:cNvPicPr>
            <a:picLocks noChangeAspect="1"/>
          </p:cNvPicPr>
          <p:nvPr/>
        </p:nvPicPr>
        <p:blipFill>
          <a:blip r:embed="rId2"/>
          <a:stretch>
            <a:fillRect/>
          </a:stretch>
        </p:blipFill>
        <p:spPr>
          <a:xfrm>
            <a:off x="1039660" y="3068877"/>
            <a:ext cx="7315199" cy="3243022"/>
          </a:xfrm>
          <a:prstGeom prst="rect">
            <a:avLst/>
          </a:prstGeom>
        </p:spPr>
      </p:pic>
    </p:spTree>
    <p:extLst>
      <p:ext uri="{BB962C8B-B14F-4D97-AF65-F5344CB8AC3E}">
        <p14:creationId xmlns:p14="http://schemas.microsoft.com/office/powerpoint/2010/main" val="3394795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0312" y="253978"/>
            <a:ext cx="8492647" cy="3842033"/>
          </a:xfrm>
          <a:prstGeom prst="rect">
            <a:avLst/>
          </a:prstGeom>
        </p:spPr>
      </p:pic>
      <p:pic>
        <p:nvPicPr>
          <p:cNvPr id="3" name="Picture 2"/>
          <p:cNvPicPr>
            <a:picLocks noChangeAspect="1"/>
          </p:cNvPicPr>
          <p:nvPr/>
        </p:nvPicPr>
        <p:blipFill>
          <a:blip r:embed="rId3"/>
          <a:stretch>
            <a:fillRect/>
          </a:stretch>
        </p:blipFill>
        <p:spPr>
          <a:xfrm>
            <a:off x="275573" y="4337593"/>
            <a:ext cx="8079287" cy="1990725"/>
          </a:xfrm>
          <a:prstGeom prst="rect">
            <a:avLst/>
          </a:prstGeom>
        </p:spPr>
      </p:pic>
    </p:spTree>
    <p:extLst>
      <p:ext uri="{BB962C8B-B14F-4D97-AF65-F5344CB8AC3E}">
        <p14:creationId xmlns:p14="http://schemas.microsoft.com/office/powerpoint/2010/main" val="2699586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rPr>
              <a:t>Dynamic </a:t>
            </a:r>
            <a:r>
              <a:rPr lang="en-US" sz="3600" b="1" dirty="0" smtClean="0">
                <a:solidFill>
                  <a:srgbClr val="FF0000"/>
                </a:solidFill>
              </a:rPr>
              <a:t>Interconnection Networks </a:t>
            </a:r>
            <a:endParaRPr lang="en-US" sz="3600" b="1" dirty="0">
              <a:solidFill>
                <a:srgbClr val="FF0000"/>
              </a:solidFill>
            </a:endParaRPr>
          </a:p>
        </p:txBody>
      </p:sp>
      <p:sp>
        <p:nvSpPr>
          <p:cNvPr id="3" name="Content Placeholder 2"/>
          <p:cNvSpPr>
            <a:spLocks noGrp="1"/>
          </p:cNvSpPr>
          <p:nvPr>
            <p:ph idx="1"/>
          </p:nvPr>
        </p:nvSpPr>
        <p:spPr/>
        <p:txBody>
          <a:bodyPr>
            <a:normAutofit/>
          </a:bodyPr>
          <a:lstStyle/>
          <a:p>
            <a:r>
              <a:rPr lang="en-US" sz="2400" dirty="0"/>
              <a:t>Dynamic interconnection networks between processors enable changing (reconfiguring) of the connection structure in a system</a:t>
            </a:r>
            <a:r>
              <a:rPr lang="en-US" sz="2400" dirty="0" smtClean="0"/>
              <a:t>.</a:t>
            </a:r>
          </a:p>
          <a:p>
            <a:r>
              <a:rPr lang="en-US" sz="2400" dirty="0" smtClean="0"/>
              <a:t>It </a:t>
            </a:r>
            <a:r>
              <a:rPr lang="en-US" sz="2400" dirty="0"/>
              <a:t>can be done before or during parallel program execution. </a:t>
            </a:r>
            <a:endParaRPr lang="en-US" sz="2400" dirty="0" smtClean="0"/>
          </a:p>
          <a:p>
            <a:r>
              <a:rPr lang="en-US" sz="2400" dirty="0" smtClean="0"/>
              <a:t>So</a:t>
            </a:r>
            <a:r>
              <a:rPr lang="en-US" sz="2400" dirty="0"/>
              <a:t>, we can speak about static or dynamic connection reconfiguration</a:t>
            </a:r>
            <a:r>
              <a:rPr lang="en-US" sz="2400" dirty="0" smtClean="0"/>
              <a:t>.</a:t>
            </a:r>
          </a:p>
          <a:p>
            <a:r>
              <a:rPr lang="en-US" sz="2400" dirty="0"/>
              <a:t>Usually all processing elements are equidistant and an interconnection path is established when two processing elements want to communicate by use of </a:t>
            </a:r>
            <a:r>
              <a:rPr lang="en-US" sz="2400" dirty="0">
                <a:solidFill>
                  <a:srgbClr val="FF0000"/>
                </a:solidFill>
              </a:rPr>
              <a:t>switches</a:t>
            </a:r>
            <a:r>
              <a:rPr lang="en-US" sz="2400" dirty="0"/>
              <a:t>. </a:t>
            </a:r>
          </a:p>
          <a:p>
            <a:endParaRPr lang="en-US" sz="2400" dirty="0"/>
          </a:p>
        </p:txBody>
      </p:sp>
    </p:spTree>
    <p:extLst>
      <p:ext uri="{BB962C8B-B14F-4D97-AF65-F5344CB8AC3E}">
        <p14:creationId xmlns:p14="http://schemas.microsoft.com/office/powerpoint/2010/main" val="22349064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smtClean="0"/>
              <a:t>Such </a:t>
            </a:r>
            <a:r>
              <a:rPr lang="en-US" dirty="0"/>
              <a:t>systems are more difficult to expand as compared to static network. </a:t>
            </a:r>
            <a:endParaRPr lang="en-US" dirty="0" smtClean="0"/>
          </a:p>
          <a:p>
            <a:r>
              <a:rPr lang="en-US" dirty="0" smtClean="0"/>
              <a:t>Examples</a:t>
            </a:r>
            <a:r>
              <a:rPr lang="en-US" dirty="0"/>
              <a:t>: Bus-based, Crossbar, Multistage </a:t>
            </a:r>
            <a:r>
              <a:rPr lang="en-US" dirty="0" smtClean="0"/>
              <a:t>networks.</a:t>
            </a:r>
          </a:p>
        </p:txBody>
      </p:sp>
    </p:spTree>
    <p:extLst>
      <p:ext uri="{BB962C8B-B14F-4D97-AF65-F5344CB8AC3E}">
        <p14:creationId xmlns:p14="http://schemas.microsoft.com/office/powerpoint/2010/main" val="29698698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Example 1: </a:t>
            </a:r>
            <a:r>
              <a:rPr lang="en-US" sz="4000" b="1" dirty="0">
                <a:solidFill>
                  <a:srgbClr val="FF0000"/>
                </a:solidFill>
              </a:rPr>
              <a:t>Crossbar network </a:t>
            </a:r>
          </a:p>
        </p:txBody>
      </p:sp>
      <p:sp>
        <p:nvSpPr>
          <p:cNvPr id="3" name="Content Placeholder 2"/>
          <p:cNvSpPr>
            <a:spLocks noGrp="1"/>
          </p:cNvSpPr>
          <p:nvPr>
            <p:ph idx="1"/>
          </p:nvPr>
        </p:nvSpPr>
        <p:spPr/>
        <p:txBody>
          <a:bodyPr>
            <a:normAutofit/>
          </a:bodyPr>
          <a:lstStyle/>
          <a:p>
            <a:r>
              <a:rPr lang="en-US" sz="2400" dirty="0"/>
              <a:t>Crossbar network is a single stage network shown in the following figure</a:t>
            </a:r>
            <a:r>
              <a:rPr lang="en-US" sz="2400" dirty="0" smtClean="0"/>
              <a:t>.</a:t>
            </a:r>
          </a:p>
          <a:p>
            <a:r>
              <a:rPr lang="en-US" sz="2400" dirty="0" smtClean="0"/>
              <a:t>A </a:t>
            </a:r>
            <a:r>
              <a:rPr lang="en-US" sz="2400" dirty="0"/>
              <a:t>single stage switching network with N input selectors (IS) and N output selectors (OS</a:t>
            </a:r>
            <a:r>
              <a:rPr lang="en-US" sz="2400" dirty="0" smtClean="0"/>
              <a:t>).</a:t>
            </a:r>
          </a:p>
          <a:p>
            <a:r>
              <a:rPr lang="en-US" sz="2400" dirty="0"/>
              <a:t>In order to establish a desired connecting </a:t>
            </a:r>
            <a:r>
              <a:rPr lang="en-US" sz="2400" dirty="0" smtClean="0"/>
              <a:t>path, </a:t>
            </a:r>
            <a:r>
              <a:rPr lang="en-US" sz="2400" dirty="0"/>
              <a:t>different path control signals will be applied to all IS and OS </a:t>
            </a:r>
            <a:r>
              <a:rPr lang="en-US" sz="2400" dirty="0" smtClean="0"/>
              <a:t>selectors.</a:t>
            </a:r>
            <a:endParaRPr lang="en-US" sz="2400" dirty="0"/>
          </a:p>
          <a:p>
            <a:r>
              <a:rPr lang="en-US" sz="2400" dirty="0" smtClean="0"/>
              <a:t>Only one crosspoint switch can be set on in each row or column.</a:t>
            </a:r>
            <a:endParaRPr lang="en-US" sz="2400" dirty="0"/>
          </a:p>
        </p:txBody>
      </p:sp>
    </p:spTree>
    <p:extLst>
      <p:ext uri="{BB962C8B-B14F-4D97-AF65-F5344CB8AC3E}">
        <p14:creationId xmlns:p14="http://schemas.microsoft.com/office/powerpoint/2010/main" val="29304300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crossbar network of size N × M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745" y="834437"/>
            <a:ext cx="6563638" cy="213221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3"/>
          <a:stretch>
            <a:fillRect/>
          </a:stretch>
        </p:blipFill>
        <p:spPr>
          <a:xfrm>
            <a:off x="715746" y="3244242"/>
            <a:ext cx="6563637" cy="3344448"/>
          </a:xfrm>
          <a:prstGeom prst="rect">
            <a:avLst/>
          </a:prstGeom>
        </p:spPr>
      </p:pic>
    </p:spTree>
    <p:extLst>
      <p:ext uri="{BB962C8B-B14F-4D97-AF65-F5344CB8AC3E}">
        <p14:creationId xmlns:p14="http://schemas.microsoft.com/office/powerpoint/2010/main" val="15130623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Example 2: Omega </a:t>
            </a:r>
            <a:r>
              <a:rPr lang="en-US" b="1" dirty="0" smtClean="0">
                <a:solidFill>
                  <a:srgbClr val="FF0000"/>
                </a:solidFill>
              </a:rPr>
              <a:t>Network</a:t>
            </a:r>
            <a:endParaRPr lang="en-US" b="1" dirty="0"/>
          </a:p>
        </p:txBody>
      </p:sp>
      <p:sp>
        <p:nvSpPr>
          <p:cNvPr id="3" name="Content Placeholder 2"/>
          <p:cNvSpPr>
            <a:spLocks noGrp="1"/>
          </p:cNvSpPr>
          <p:nvPr>
            <p:ph idx="1"/>
          </p:nvPr>
        </p:nvSpPr>
        <p:spPr/>
        <p:txBody>
          <a:bodyPr>
            <a:normAutofit/>
          </a:bodyPr>
          <a:lstStyle/>
          <a:p>
            <a:r>
              <a:rPr lang="en-US" sz="2400" dirty="0" smtClean="0"/>
              <a:t>Omega network is a </a:t>
            </a:r>
            <a:r>
              <a:rPr lang="en-US" sz="2400" dirty="0"/>
              <a:t>multistage </a:t>
            </a:r>
            <a:r>
              <a:rPr lang="en-US" sz="2400" dirty="0" smtClean="0"/>
              <a:t>network</a:t>
            </a:r>
            <a:r>
              <a:rPr lang="en-US" sz="2400" dirty="0"/>
              <a:t>. </a:t>
            </a:r>
            <a:endParaRPr lang="en-US" sz="2400" dirty="0" smtClean="0"/>
          </a:p>
          <a:p>
            <a:r>
              <a:rPr lang="en-US" sz="2400" dirty="0" smtClean="0"/>
              <a:t>A </a:t>
            </a:r>
            <a:r>
              <a:rPr lang="en-US" sz="2400" dirty="0"/>
              <a:t>multistage network is capable of connecting any input terminal to any output terminal. </a:t>
            </a:r>
            <a:endParaRPr lang="en-US" sz="2400" dirty="0" smtClean="0"/>
          </a:p>
          <a:p>
            <a:r>
              <a:rPr lang="en-US" sz="2400" dirty="0" smtClean="0"/>
              <a:t>Multi-stage </a:t>
            </a:r>
            <a:r>
              <a:rPr lang="en-US" sz="2400" dirty="0"/>
              <a:t>networks are basically constructed by so called </a:t>
            </a:r>
            <a:r>
              <a:rPr lang="en-US" sz="2400" dirty="0">
                <a:solidFill>
                  <a:srgbClr val="FF0000"/>
                </a:solidFill>
              </a:rPr>
              <a:t>shuffle-exchange</a:t>
            </a:r>
            <a:r>
              <a:rPr lang="en-US" sz="2400" dirty="0"/>
              <a:t> switching element, which is basically a 2 x 2 </a:t>
            </a:r>
            <a:r>
              <a:rPr lang="en-US" sz="2400" dirty="0" smtClean="0"/>
              <a:t>crossbar switches. </a:t>
            </a:r>
          </a:p>
          <a:p>
            <a:r>
              <a:rPr lang="en-US" sz="2400" dirty="0" smtClean="0">
                <a:solidFill>
                  <a:srgbClr val="FF0000"/>
                </a:solidFill>
              </a:rPr>
              <a:t>Shuffle exchange </a:t>
            </a:r>
            <a:r>
              <a:rPr lang="en-US" sz="2400" dirty="0" smtClean="0"/>
              <a:t>maps X to Y, where Y is obtained from X by shifting one bit to the left and wrapping around the MSB to LSB.</a:t>
            </a:r>
          </a:p>
          <a:p>
            <a:r>
              <a:rPr lang="en-US" sz="2400" dirty="0" smtClean="0"/>
              <a:t>Example: 001 -&gt; 010</a:t>
            </a:r>
            <a:endParaRPr lang="en-US" sz="2400" dirty="0"/>
          </a:p>
        </p:txBody>
      </p:sp>
    </p:spTree>
    <p:extLst>
      <p:ext uri="{BB962C8B-B14F-4D97-AF65-F5344CB8AC3E}">
        <p14:creationId xmlns:p14="http://schemas.microsoft.com/office/powerpoint/2010/main" val="37021792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Cont., </a:t>
            </a:r>
            <a:endParaRPr lang="en-US" b="1" dirty="0">
              <a:solidFill>
                <a:srgbClr val="FF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400" dirty="0" smtClean="0"/>
                  <a:t>Switches are 2 x 2 with four possible connections, as shown in the following figure.</a:t>
                </a:r>
              </a:p>
              <a:p>
                <a:r>
                  <a:rPr lang="en-US" sz="2400" dirty="0" smtClean="0"/>
                  <a:t>If we have n input, then the # stages =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𝑙𝑜𝑔</m:t>
                        </m:r>
                      </m:e>
                      <m:sub>
                        <m:r>
                          <a:rPr lang="en-US" sz="2400" b="0" i="1" smtClean="0">
                            <a:latin typeface="Cambria Math" panose="02040503050406030204" pitchFamily="18" charset="0"/>
                          </a:rPr>
                          <m:t>2</m:t>
                        </m:r>
                      </m:sub>
                    </m:sSub>
                  </m:oMath>
                </a14:m>
                <a:r>
                  <a:rPr lang="en-US" sz="2400" dirty="0" smtClean="0"/>
                  <a:t> n of 2x2 switches.</a:t>
                </a:r>
              </a:p>
              <a:p>
                <a:r>
                  <a:rPr lang="en-US" sz="2400" dirty="0" smtClean="0"/>
                  <a:t>Each stage require # switches = n /2.</a:t>
                </a:r>
              </a:p>
              <a:p>
                <a:r>
                  <a:rPr lang="en-US" sz="2400" dirty="0" smtClean="0"/>
                  <a:t>Example: 8 x 8 Omega network, has # stages = 3, each with # switches = 4.</a:t>
                </a:r>
              </a:p>
              <a:p>
                <a:r>
                  <a:rPr lang="en-US" sz="2400" dirty="0" smtClean="0"/>
                  <a:t>The interstage connections (ISC) that used between the switches in adjacent stages is perfect shuffle.</a:t>
                </a: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05" t="-1961" r="-2009"/>
                </a:stretch>
              </a:blipFill>
            </p:spPr>
            <p:txBody>
              <a:bodyPr/>
              <a:lstStyle/>
              <a:p>
                <a:r>
                  <a:rPr lang="en-US">
                    <a:noFill/>
                  </a:rPr>
                  <a:t> </a:t>
                </a:r>
              </a:p>
            </p:txBody>
          </p:sp>
        </mc:Fallback>
      </mc:AlternateContent>
    </p:spTree>
    <p:extLst>
      <p:ext uri="{BB962C8B-B14F-4D97-AF65-F5344CB8AC3E}">
        <p14:creationId xmlns:p14="http://schemas.microsoft.com/office/powerpoint/2010/main" val="2761579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7862" y="860315"/>
            <a:ext cx="5711869" cy="2108353"/>
          </a:xfrm>
          <a:prstGeom prst="rect">
            <a:avLst/>
          </a:prstGeom>
        </p:spPr>
      </p:pic>
      <p:pic>
        <p:nvPicPr>
          <p:cNvPr id="6" name="Picture 5"/>
          <p:cNvPicPr>
            <a:picLocks noChangeAspect="1"/>
          </p:cNvPicPr>
          <p:nvPr/>
        </p:nvPicPr>
        <p:blipFill>
          <a:blip r:embed="rId3"/>
          <a:stretch>
            <a:fillRect/>
          </a:stretch>
        </p:blipFill>
        <p:spPr>
          <a:xfrm>
            <a:off x="1377862" y="3572071"/>
            <a:ext cx="5824603" cy="2891359"/>
          </a:xfrm>
          <a:prstGeom prst="rect">
            <a:avLst/>
          </a:prstGeom>
        </p:spPr>
      </p:pic>
    </p:spTree>
    <p:extLst>
      <p:ext uri="{BB962C8B-B14F-4D97-AF65-F5344CB8AC3E}">
        <p14:creationId xmlns:p14="http://schemas.microsoft.com/office/powerpoint/2010/main" val="15549911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Data Routing in Omega Network</a:t>
            </a:r>
            <a:endParaRPr lang="en-US" sz="3600" b="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When the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𝑡h</m:t>
                        </m:r>
                      </m:sup>
                    </m:sSup>
                  </m:oMath>
                </a14:m>
                <a:r>
                  <a:rPr lang="en-US" dirty="0" smtClean="0"/>
                  <a:t> high-order bit of the destination code is ‘0’, a 2 x2 switch stage </a:t>
                </a:r>
                <a:r>
                  <a:rPr lang="en-US" dirty="0" err="1" smtClean="0"/>
                  <a:t>i</a:t>
                </a:r>
                <a:r>
                  <a:rPr lang="en-US" dirty="0" smtClean="0"/>
                  <a:t> connects the input to the upper output.</a:t>
                </a:r>
              </a:p>
              <a:p>
                <a:r>
                  <a:rPr lang="en-US" dirty="0" smtClean="0"/>
                  <a:t>Otherwise, the input is directed to the lower output.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391" t="-2101" r="-2164"/>
                </a:stretch>
              </a:blipFill>
            </p:spPr>
            <p:txBody>
              <a:bodyPr/>
              <a:lstStyle/>
              <a:p>
                <a:r>
                  <a:rPr lang="en-US">
                    <a:noFill/>
                  </a:rPr>
                  <a:t> </a:t>
                </a:r>
              </a:p>
            </p:txBody>
          </p:sp>
        </mc:Fallback>
      </mc:AlternateContent>
    </p:spTree>
    <p:extLst>
      <p:ext uri="{BB962C8B-B14F-4D97-AF65-F5344CB8AC3E}">
        <p14:creationId xmlns:p14="http://schemas.microsoft.com/office/powerpoint/2010/main" val="41821650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a:t>Example: perform the following permutation: </a:t>
            </a:r>
          </a:p>
          <a:p>
            <a:pPr marL="0" indent="0">
              <a:buNone/>
            </a:pPr>
            <a:r>
              <a:rPr lang="en-US" dirty="0"/>
              <a:t>	</a:t>
            </a:r>
            <a:r>
              <a:rPr lang="en-US" dirty="0" smtClean="0"/>
              <a:t>(0,0), (1,1), (2,3), (3, 4), (4, 6), (5, 7)</a:t>
            </a:r>
            <a:endParaRPr lang="en-US" dirty="0"/>
          </a:p>
          <a:p>
            <a:endParaRPr lang="en-US" dirty="0"/>
          </a:p>
        </p:txBody>
      </p:sp>
      <p:pic>
        <p:nvPicPr>
          <p:cNvPr id="4" name="Picture 3"/>
          <p:cNvPicPr>
            <a:picLocks noChangeAspect="1"/>
          </p:cNvPicPr>
          <p:nvPr/>
        </p:nvPicPr>
        <p:blipFill>
          <a:blip r:embed="rId2"/>
          <a:stretch>
            <a:fillRect/>
          </a:stretch>
        </p:blipFill>
        <p:spPr>
          <a:xfrm>
            <a:off x="839243" y="3225518"/>
            <a:ext cx="6976997" cy="3214492"/>
          </a:xfrm>
          <a:prstGeom prst="rect">
            <a:avLst/>
          </a:prstGeom>
        </p:spPr>
      </p:pic>
    </p:spTree>
    <p:extLst>
      <p:ext uri="{BB962C8B-B14F-4D97-AF65-F5344CB8AC3E}">
        <p14:creationId xmlns:p14="http://schemas.microsoft.com/office/powerpoint/2010/main" val="16990459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US" dirty="0" smtClean="0"/>
                  <a:t>Suppose a program must execute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12</m:t>
                        </m:r>
                      </m:sup>
                    </m:sSup>
                  </m:oMath>
                </a14:m>
                <a:r>
                  <a:rPr lang="en-US" dirty="0" smtClean="0"/>
                  <a:t> </a:t>
                </a:r>
                <a:r>
                  <a:rPr lang="en-US" dirty="0"/>
                  <a:t>instructions to solve a particular </a:t>
                </a:r>
                <a:r>
                  <a:rPr lang="en-US" dirty="0" smtClean="0"/>
                  <a:t>problem</a:t>
                </a:r>
                <a:r>
                  <a:rPr lang="en-US" dirty="0"/>
                  <a:t>. </a:t>
                </a:r>
                <a:endParaRPr lang="en-US" dirty="0" smtClean="0"/>
              </a:p>
              <a:p>
                <a:r>
                  <a:rPr lang="en-US" dirty="0" smtClean="0"/>
                  <a:t>Suppose </a:t>
                </a:r>
                <a:r>
                  <a:rPr lang="en-US" dirty="0"/>
                  <a:t>also that a single processor system can solve the problem in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6</m:t>
                        </m:r>
                      </m:sup>
                    </m:sSup>
                  </m:oMath>
                </a14:m>
                <a:r>
                  <a:rPr lang="en-US" dirty="0" smtClean="0"/>
                  <a:t> </a:t>
                </a:r>
                <a:r>
                  <a:rPr lang="en-US" dirty="0"/>
                  <a:t>seconds (about 11.6 days</a:t>
                </a:r>
                <a:r>
                  <a:rPr lang="en-US" dirty="0" smtClean="0"/>
                  <a:t>).</a:t>
                </a:r>
              </a:p>
              <a:p>
                <a:r>
                  <a:rPr lang="en-US" dirty="0" smtClean="0"/>
                  <a:t> </a:t>
                </a:r>
                <a:r>
                  <a:rPr lang="en-US" dirty="0"/>
                  <a:t>So, on average, the single processor system </a:t>
                </a:r>
                <a:r>
                  <a:rPr lang="en-US" dirty="0" smtClean="0"/>
                  <a:t>executes </a:t>
                </a:r>
                <a:r>
                  <a:rPr lang="en-US" dirty="0"/>
                  <a:t>a million instructions per </a:t>
                </a:r>
                <a:r>
                  <a:rPr lang="en-US" dirty="0" smtClean="0"/>
                  <a:t>second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12</m:t>
                        </m:r>
                      </m:sup>
                    </m:sSup>
                  </m:oMath>
                </a14:m>
                <a:r>
                  <a:rPr lang="en-US" dirty="0" smtClean="0"/>
                  <a:t>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oMath>
                </a14:m>
                <a:r>
                  <a:rPr lang="en-US" dirty="0" smtClean="0"/>
                  <a:t>) . </a:t>
                </a:r>
              </a:p>
              <a:p>
                <a:r>
                  <a:rPr lang="en-US" dirty="0" smtClean="0"/>
                  <a:t>Now </a:t>
                </a:r>
                <a:r>
                  <a:rPr lang="en-US" dirty="0"/>
                  <a:t>suppose that the program has been parallelized for execution on a distributed-memory system. </a:t>
                </a:r>
                <a:endParaRPr lang="en-US" dirty="0" smtClean="0"/>
              </a:p>
              <a:p>
                <a:r>
                  <a:rPr lang="en-US" dirty="0" smtClean="0"/>
                  <a:t>Suppose </a:t>
                </a:r>
                <a:r>
                  <a:rPr lang="en-US" dirty="0"/>
                  <a:t>also that if the parallel program uses p processors, each processor will </a:t>
                </a:r>
                <a:r>
                  <a:rPr lang="en-US" dirty="0" smtClean="0"/>
                  <a:t>execute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12</m:t>
                        </m:r>
                      </m:sup>
                    </m:sSup>
                  </m:oMath>
                </a14:m>
                <a:r>
                  <a:rPr lang="en-US" dirty="0"/>
                  <a:t>/p instructions and each processor must send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9</m:t>
                        </m:r>
                      </m:sup>
                    </m:sSup>
                  </m:oMath>
                </a14:m>
                <a:r>
                  <a:rPr lang="en-US" dirty="0" smtClean="0"/>
                  <a:t> (p </a:t>
                </a:r>
                <a:r>
                  <a:rPr lang="en-US" dirty="0"/>
                  <a:t>− 1) messages. </a:t>
                </a:r>
                <a:endParaRPr lang="en-US" dirty="0" smtClean="0"/>
              </a:p>
              <a:p>
                <a:r>
                  <a:rPr lang="en-US" dirty="0" smtClean="0"/>
                  <a:t>Finally</a:t>
                </a:r>
                <a:r>
                  <a:rPr lang="en-US" dirty="0"/>
                  <a:t>, suppose that there is no additional overhead in executing the parallel program. </a:t>
                </a: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05" t="-3221" r="-309"/>
                </a:stretch>
              </a:blipFill>
            </p:spPr>
            <p:txBody>
              <a:bodyPr/>
              <a:lstStyle/>
              <a:p>
                <a:r>
                  <a:rPr lang="en-US">
                    <a:noFill/>
                  </a:rPr>
                  <a:t> </a:t>
                </a:r>
              </a:p>
            </p:txBody>
          </p:sp>
        </mc:Fallback>
      </mc:AlternateContent>
    </p:spTree>
    <p:extLst>
      <p:ext uri="{BB962C8B-B14F-4D97-AF65-F5344CB8AC3E}">
        <p14:creationId xmlns:p14="http://schemas.microsoft.com/office/powerpoint/2010/main" val="14304352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400" dirty="0" smtClean="0"/>
                  <a:t>That is, the program will complete after each processor has executed all of its instructions and sent all of its messages, and there won’t be any delays due to issues such as waiting for messages. </a:t>
                </a:r>
              </a:p>
              <a:p>
                <a:r>
                  <a:rPr lang="en-US" sz="2400" dirty="0" smtClean="0"/>
                  <a:t>Suppose it takes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b="0" i="1" smtClean="0">
                            <a:latin typeface="Cambria Math" panose="02040503050406030204" pitchFamily="18" charset="0"/>
                          </a:rPr>
                          <m:t>−</m:t>
                        </m:r>
                        <m:r>
                          <a:rPr lang="en-US" sz="2400" i="1">
                            <a:latin typeface="Cambria Math" panose="02040503050406030204" pitchFamily="18" charset="0"/>
                          </a:rPr>
                          <m:t>9</m:t>
                        </m:r>
                      </m:sup>
                    </m:sSup>
                  </m:oMath>
                </a14:m>
                <a:r>
                  <a:rPr lang="en-US" sz="2400" dirty="0" smtClean="0"/>
                  <a:t> seconds to send a message. </a:t>
                </a:r>
                <a:r>
                  <a:rPr lang="en-US" sz="2400" dirty="0" smtClean="0">
                    <a:solidFill>
                      <a:srgbClr val="FF0000"/>
                    </a:solidFill>
                  </a:rPr>
                  <a:t>How long </a:t>
                </a:r>
                <a:r>
                  <a:rPr lang="en-US" sz="2400" dirty="0" smtClean="0"/>
                  <a:t>will it take the program to run with 1000 processors if each processor is as fast as the single processor on which the serial program was run?</a:t>
                </a:r>
              </a:p>
              <a:p>
                <a:r>
                  <a:rPr lang="en-US" sz="2400" dirty="0" smtClean="0"/>
                  <a:t>Suppose </a:t>
                </a:r>
                <a:r>
                  <a:rPr lang="en-US" sz="2400" dirty="0"/>
                  <a:t>it takes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m:t>
                        </m:r>
                        <m:r>
                          <a:rPr lang="en-US" sz="2400" b="0" i="1" smtClean="0">
                            <a:latin typeface="Cambria Math" panose="02040503050406030204" pitchFamily="18" charset="0"/>
                          </a:rPr>
                          <m:t>3</m:t>
                        </m:r>
                      </m:sup>
                    </m:sSup>
                  </m:oMath>
                </a14:m>
                <a:r>
                  <a:rPr lang="en-US" sz="2400" dirty="0"/>
                  <a:t> seconds to send a message. </a:t>
                </a:r>
                <a:r>
                  <a:rPr lang="en-US" sz="2400" dirty="0">
                    <a:solidFill>
                      <a:srgbClr val="FF0000"/>
                    </a:solidFill>
                  </a:rPr>
                  <a:t>How long </a:t>
                </a:r>
                <a:r>
                  <a:rPr lang="en-US" sz="2400" dirty="0"/>
                  <a:t>will it take the program to run with 1000 processors?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05" t="-1961" r="-1623"/>
                </a:stretch>
              </a:blipFill>
            </p:spPr>
            <p:txBody>
              <a:bodyPr/>
              <a:lstStyle/>
              <a:p>
                <a:r>
                  <a:rPr lang="en-US">
                    <a:noFill/>
                  </a:rPr>
                  <a:t> </a:t>
                </a:r>
              </a:p>
            </p:txBody>
          </p:sp>
        </mc:Fallback>
      </mc:AlternateContent>
    </p:spTree>
    <p:extLst>
      <p:ext uri="{BB962C8B-B14F-4D97-AF65-F5344CB8AC3E}">
        <p14:creationId xmlns:p14="http://schemas.microsoft.com/office/powerpoint/2010/main" val="24471576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386</TotalTime>
  <Words>1833</Words>
  <Application>Microsoft Office PowerPoint</Application>
  <PresentationFormat>On-screen Show (4:3)</PresentationFormat>
  <Paragraphs>141</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Calibri Light</vt:lpstr>
      <vt:lpstr>Cambria Math</vt:lpstr>
      <vt:lpstr>Times New Roman</vt:lpstr>
      <vt:lpstr>Office Theme</vt:lpstr>
      <vt:lpstr>Lecture 10</vt:lpstr>
      <vt:lpstr>Introduction</vt:lpstr>
      <vt:lpstr>A. Classifications of parallel computers</vt:lpstr>
      <vt:lpstr>Cont.,</vt:lpstr>
      <vt:lpstr>1. Flynn’s Classification</vt:lpstr>
      <vt:lpstr>SIMD</vt:lpstr>
      <vt:lpstr>PowerPoint Presentation</vt:lpstr>
      <vt:lpstr>MISD</vt:lpstr>
      <vt:lpstr>PowerPoint Presentation</vt:lpstr>
      <vt:lpstr>MIMD</vt:lpstr>
      <vt:lpstr>PowerPoint Presentation</vt:lpstr>
      <vt:lpstr>2. Shared Memory &amp; Distributed Memory</vt:lpstr>
      <vt:lpstr>PowerPoint Presentation</vt:lpstr>
      <vt:lpstr>Shared memory Systems</vt:lpstr>
      <vt:lpstr>PowerPoint Presentation</vt:lpstr>
      <vt:lpstr>Note:</vt:lpstr>
      <vt:lpstr>Distributed Memory Systems</vt:lpstr>
      <vt:lpstr>PowerPoint Presentation</vt:lpstr>
      <vt:lpstr>1- Cluster computing</vt:lpstr>
      <vt:lpstr>Cont.,</vt:lpstr>
      <vt:lpstr>Cluster Structure</vt:lpstr>
      <vt:lpstr>PowerPoint Presentation</vt:lpstr>
      <vt:lpstr>2- Grid computing</vt:lpstr>
      <vt:lpstr>Grid Computing Network</vt:lpstr>
      <vt:lpstr>PowerPoint Presentation</vt:lpstr>
      <vt:lpstr>B. Interconnection Networks</vt:lpstr>
      <vt:lpstr>Network Topologies</vt:lpstr>
      <vt:lpstr>Network Properties &amp; Routing</vt:lpstr>
      <vt:lpstr>Static Interconnection Networks</vt:lpstr>
      <vt:lpstr>PowerPoint Presentation</vt:lpstr>
      <vt:lpstr>Dynamic Interconnection Networks </vt:lpstr>
      <vt:lpstr>Cont.,</vt:lpstr>
      <vt:lpstr>Example 1: Crossbar network </vt:lpstr>
      <vt:lpstr>PowerPoint Presentation</vt:lpstr>
      <vt:lpstr>Example 2: Omega Network</vt:lpstr>
      <vt:lpstr>Cont., </vt:lpstr>
      <vt:lpstr>PowerPoint Presentation</vt:lpstr>
      <vt:lpstr>Data Routing in Omega Network</vt:lpstr>
      <vt:lpstr>Example</vt:lpstr>
      <vt:lpstr>Assignment</vt:lpstr>
      <vt:lpstr>Cont.,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dc:title>
  <dc:creator>Infinity</dc:creator>
  <cp:lastModifiedBy>Infinity</cp:lastModifiedBy>
  <cp:revision>69</cp:revision>
  <dcterms:created xsi:type="dcterms:W3CDTF">2024-10-20T17:16:20Z</dcterms:created>
  <dcterms:modified xsi:type="dcterms:W3CDTF">2025-12-05T18:12:32Z</dcterms:modified>
</cp:coreProperties>
</file>