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7" r:id="rId3"/>
    <p:sldId id="288" r:id="rId4"/>
    <p:sldId id="258" r:id="rId5"/>
    <p:sldId id="259" r:id="rId6"/>
    <p:sldId id="261" r:id="rId7"/>
    <p:sldId id="262" r:id="rId8"/>
    <p:sldId id="263" r:id="rId9"/>
    <p:sldId id="265" r:id="rId10"/>
    <p:sldId id="289" r:id="rId11"/>
    <p:sldId id="290" r:id="rId12"/>
    <p:sldId id="266" r:id="rId13"/>
    <p:sldId id="291" r:id="rId14"/>
    <p:sldId id="267" r:id="rId15"/>
    <p:sldId id="268" r:id="rId16"/>
    <p:sldId id="269" r:id="rId17"/>
    <p:sldId id="295" r:id="rId18"/>
    <p:sldId id="277" r:id="rId19"/>
    <p:sldId id="271" r:id="rId20"/>
    <p:sldId id="270" r:id="rId21"/>
    <p:sldId id="293" r:id="rId22"/>
    <p:sldId id="260" r:id="rId23"/>
    <p:sldId id="272" r:id="rId24"/>
    <p:sldId id="273" r:id="rId25"/>
    <p:sldId id="275" r:id="rId26"/>
    <p:sldId id="276" r:id="rId27"/>
    <p:sldId id="274" r:id="rId28"/>
    <p:sldId id="281" r:id="rId29"/>
    <p:sldId id="292" r:id="rId30"/>
    <p:sldId id="279" r:id="rId31"/>
    <p:sldId id="280" r:id="rId32"/>
    <p:sldId id="282" r:id="rId33"/>
    <p:sldId id="294" r:id="rId34"/>
    <p:sldId id="283" r:id="rId35"/>
    <p:sldId id="278" r:id="rId36"/>
    <p:sldId id="285" r:id="rId37"/>
    <p:sldId id="284" r:id="rId38"/>
    <p:sldId id="286"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1230" y="60"/>
      </p:cViewPr>
      <p:guideLst/>
    </p:cSldViewPr>
  </p:slideViewPr>
  <p:notesTextViewPr>
    <p:cViewPr>
      <p:scale>
        <a:sx n="1" d="1"/>
        <a:sy n="1" d="1"/>
      </p:scale>
      <p:origin x="0" y="0"/>
    </p:cViewPr>
  </p:notesTextViewPr>
  <p:sorterViewPr>
    <p:cViewPr>
      <p:scale>
        <a:sx n="100" d="100"/>
        <a:sy n="100" d="100"/>
      </p:scale>
      <p:origin x="0" y="-560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28F0D66-C9D8-44E2-B9C7-AC79393EB4BD}"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DD44EA-4D7E-4219-80C1-2E878F9B1A74}" type="slidenum">
              <a:rPr lang="en-US" smtClean="0"/>
              <a:t>‹#›</a:t>
            </a:fld>
            <a:endParaRPr lang="en-US"/>
          </a:p>
        </p:txBody>
      </p:sp>
    </p:spTree>
    <p:extLst>
      <p:ext uri="{BB962C8B-B14F-4D97-AF65-F5344CB8AC3E}">
        <p14:creationId xmlns:p14="http://schemas.microsoft.com/office/powerpoint/2010/main" val="3145543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8F0D66-C9D8-44E2-B9C7-AC79393EB4BD}"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DD44EA-4D7E-4219-80C1-2E878F9B1A74}" type="slidenum">
              <a:rPr lang="en-US" smtClean="0"/>
              <a:t>‹#›</a:t>
            </a:fld>
            <a:endParaRPr lang="en-US"/>
          </a:p>
        </p:txBody>
      </p:sp>
    </p:spTree>
    <p:extLst>
      <p:ext uri="{BB962C8B-B14F-4D97-AF65-F5344CB8AC3E}">
        <p14:creationId xmlns:p14="http://schemas.microsoft.com/office/powerpoint/2010/main" val="2256185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8F0D66-C9D8-44E2-B9C7-AC79393EB4BD}"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DD44EA-4D7E-4219-80C1-2E878F9B1A74}" type="slidenum">
              <a:rPr lang="en-US" smtClean="0"/>
              <a:t>‹#›</a:t>
            </a:fld>
            <a:endParaRPr lang="en-US"/>
          </a:p>
        </p:txBody>
      </p:sp>
    </p:spTree>
    <p:extLst>
      <p:ext uri="{BB962C8B-B14F-4D97-AF65-F5344CB8AC3E}">
        <p14:creationId xmlns:p14="http://schemas.microsoft.com/office/powerpoint/2010/main" val="3855072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8F0D66-C9D8-44E2-B9C7-AC79393EB4BD}"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DD44EA-4D7E-4219-80C1-2E878F9B1A74}" type="slidenum">
              <a:rPr lang="en-US" smtClean="0"/>
              <a:t>‹#›</a:t>
            </a:fld>
            <a:endParaRPr lang="en-US"/>
          </a:p>
        </p:txBody>
      </p:sp>
    </p:spTree>
    <p:extLst>
      <p:ext uri="{BB962C8B-B14F-4D97-AF65-F5344CB8AC3E}">
        <p14:creationId xmlns:p14="http://schemas.microsoft.com/office/powerpoint/2010/main" val="496497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8F0D66-C9D8-44E2-B9C7-AC79393EB4BD}" type="datetimeFigureOut">
              <a:rPr lang="en-US" smtClean="0"/>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1DD44EA-4D7E-4219-80C1-2E878F9B1A74}" type="slidenum">
              <a:rPr lang="en-US" smtClean="0"/>
              <a:t>‹#›</a:t>
            </a:fld>
            <a:endParaRPr lang="en-US"/>
          </a:p>
        </p:txBody>
      </p:sp>
    </p:spTree>
    <p:extLst>
      <p:ext uri="{BB962C8B-B14F-4D97-AF65-F5344CB8AC3E}">
        <p14:creationId xmlns:p14="http://schemas.microsoft.com/office/powerpoint/2010/main" val="2383108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8F0D66-C9D8-44E2-B9C7-AC79393EB4BD}" type="datetimeFigureOut">
              <a:rPr lang="en-US" smtClean="0"/>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DD44EA-4D7E-4219-80C1-2E878F9B1A74}" type="slidenum">
              <a:rPr lang="en-US" smtClean="0"/>
              <a:t>‹#›</a:t>
            </a:fld>
            <a:endParaRPr lang="en-US"/>
          </a:p>
        </p:txBody>
      </p:sp>
    </p:spTree>
    <p:extLst>
      <p:ext uri="{BB962C8B-B14F-4D97-AF65-F5344CB8AC3E}">
        <p14:creationId xmlns:p14="http://schemas.microsoft.com/office/powerpoint/2010/main" val="2612598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8F0D66-C9D8-44E2-B9C7-AC79393EB4BD}" type="datetimeFigureOut">
              <a:rPr lang="en-US" smtClean="0"/>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1DD44EA-4D7E-4219-80C1-2E878F9B1A74}" type="slidenum">
              <a:rPr lang="en-US" smtClean="0"/>
              <a:t>‹#›</a:t>
            </a:fld>
            <a:endParaRPr lang="en-US"/>
          </a:p>
        </p:txBody>
      </p:sp>
    </p:spTree>
    <p:extLst>
      <p:ext uri="{BB962C8B-B14F-4D97-AF65-F5344CB8AC3E}">
        <p14:creationId xmlns:p14="http://schemas.microsoft.com/office/powerpoint/2010/main" val="2147124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8F0D66-C9D8-44E2-B9C7-AC79393EB4BD}"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DD44EA-4D7E-4219-80C1-2E878F9B1A74}" type="slidenum">
              <a:rPr lang="en-US" smtClean="0"/>
              <a:t>‹#›</a:t>
            </a:fld>
            <a:endParaRPr lang="en-US"/>
          </a:p>
        </p:txBody>
      </p:sp>
    </p:spTree>
    <p:extLst>
      <p:ext uri="{BB962C8B-B14F-4D97-AF65-F5344CB8AC3E}">
        <p14:creationId xmlns:p14="http://schemas.microsoft.com/office/powerpoint/2010/main" val="486449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8F0D66-C9D8-44E2-B9C7-AC79393EB4BD}"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DD44EA-4D7E-4219-80C1-2E878F9B1A74}" type="slidenum">
              <a:rPr lang="en-US" smtClean="0"/>
              <a:t>‹#›</a:t>
            </a:fld>
            <a:endParaRPr lang="en-US"/>
          </a:p>
        </p:txBody>
      </p:sp>
    </p:spTree>
    <p:extLst>
      <p:ext uri="{BB962C8B-B14F-4D97-AF65-F5344CB8AC3E}">
        <p14:creationId xmlns:p14="http://schemas.microsoft.com/office/powerpoint/2010/main" val="2203415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8F0D66-C9D8-44E2-B9C7-AC79393EB4BD}"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DD44EA-4D7E-4219-80C1-2E878F9B1A74}" type="slidenum">
              <a:rPr lang="en-US" smtClean="0"/>
              <a:t>‹#›</a:t>
            </a:fld>
            <a:endParaRPr lang="en-US"/>
          </a:p>
        </p:txBody>
      </p:sp>
    </p:spTree>
    <p:extLst>
      <p:ext uri="{BB962C8B-B14F-4D97-AF65-F5344CB8AC3E}">
        <p14:creationId xmlns:p14="http://schemas.microsoft.com/office/powerpoint/2010/main" val="3814842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8F0D66-C9D8-44E2-B9C7-AC79393EB4BD}"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DD44EA-4D7E-4219-80C1-2E878F9B1A74}" type="slidenum">
              <a:rPr lang="en-US" smtClean="0"/>
              <a:t>‹#›</a:t>
            </a:fld>
            <a:endParaRPr lang="en-US"/>
          </a:p>
        </p:txBody>
      </p:sp>
    </p:spTree>
    <p:extLst>
      <p:ext uri="{BB962C8B-B14F-4D97-AF65-F5344CB8AC3E}">
        <p14:creationId xmlns:p14="http://schemas.microsoft.com/office/powerpoint/2010/main" val="808857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8F0D66-C9D8-44E2-B9C7-AC79393EB4BD}" type="datetimeFigureOut">
              <a:rPr lang="en-US" smtClean="0"/>
              <a:t>11/22/2025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DD44EA-4D7E-4219-80C1-2E878F9B1A74}" type="slidenum">
              <a:rPr lang="en-US" smtClean="0"/>
              <a:t>‹#›</a:t>
            </a:fld>
            <a:endParaRPr lang="en-US"/>
          </a:p>
        </p:txBody>
      </p:sp>
    </p:spTree>
    <p:extLst>
      <p:ext uri="{BB962C8B-B14F-4D97-AF65-F5344CB8AC3E}">
        <p14:creationId xmlns:p14="http://schemas.microsoft.com/office/powerpoint/2010/main" val="2198705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D8B9E6-042E-4CE9-A4FC-FFF90610AB5A}"/>
              </a:ext>
            </a:extLst>
          </p:cNvPr>
          <p:cNvSpPr>
            <a:spLocks noGrp="1"/>
          </p:cNvSpPr>
          <p:nvPr>
            <p:ph type="ctrTitle"/>
          </p:nvPr>
        </p:nvSpPr>
        <p:spPr/>
        <p:txBody>
          <a:bodyPr/>
          <a:lstStyle/>
          <a:p>
            <a:r>
              <a:rPr lang="en-US" dirty="0"/>
              <a:t>Lecture 8</a:t>
            </a:r>
          </a:p>
        </p:txBody>
      </p:sp>
      <p:sp>
        <p:nvSpPr>
          <p:cNvPr id="3" name="Subtitle 2">
            <a:extLst>
              <a:ext uri="{FF2B5EF4-FFF2-40B4-BE49-F238E27FC236}">
                <a16:creationId xmlns:a16="http://schemas.microsoft.com/office/drawing/2014/main" xmlns="" id="{9D07EC0C-48C7-4DC1-9ED6-1C2F996DCC8C}"/>
              </a:ext>
            </a:extLst>
          </p:cNvPr>
          <p:cNvSpPr>
            <a:spLocks noGrp="1"/>
          </p:cNvSpPr>
          <p:nvPr>
            <p:ph type="subTitle" idx="1"/>
          </p:nvPr>
        </p:nvSpPr>
        <p:spPr/>
        <p:txBody>
          <a:bodyPr>
            <a:normAutofit/>
          </a:bodyPr>
          <a:lstStyle/>
          <a:p>
            <a:r>
              <a:rPr lang="en-US" sz="3200" b="1" dirty="0">
                <a:solidFill>
                  <a:srgbClr val="FF0000"/>
                </a:solidFill>
              </a:rPr>
              <a:t>Control </a:t>
            </a:r>
            <a:r>
              <a:rPr lang="en-US" sz="3200" b="1" dirty="0" smtClean="0">
                <a:solidFill>
                  <a:srgbClr val="FF0000"/>
                </a:solidFill>
              </a:rPr>
              <a:t>Unit</a:t>
            </a:r>
            <a:endParaRPr lang="en-US" sz="3200" b="1" dirty="0">
              <a:solidFill>
                <a:srgbClr val="FF0000"/>
              </a:solidFill>
            </a:endParaRPr>
          </a:p>
        </p:txBody>
      </p:sp>
    </p:spTree>
    <p:extLst>
      <p:ext uri="{BB962C8B-B14F-4D97-AF65-F5344CB8AC3E}">
        <p14:creationId xmlns:p14="http://schemas.microsoft.com/office/powerpoint/2010/main" val="3882247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98560F2-67F3-481E-BB20-54D68F50DA1C}"/>
              </a:ext>
            </a:extLst>
          </p:cNvPr>
          <p:cNvSpPr>
            <a:spLocks noGrp="1"/>
          </p:cNvSpPr>
          <p:nvPr>
            <p:ph type="title"/>
          </p:nvPr>
        </p:nvSpPr>
        <p:spPr/>
        <p:txBody>
          <a:bodyPr/>
          <a:lstStyle/>
          <a:p>
            <a:r>
              <a:rPr lang="en-US" b="1" dirty="0"/>
              <a:t>Introduction</a:t>
            </a:r>
          </a:p>
        </p:txBody>
      </p:sp>
      <p:sp>
        <p:nvSpPr>
          <p:cNvPr id="3" name="Content Placeholder 2">
            <a:extLst>
              <a:ext uri="{FF2B5EF4-FFF2-40B4-BE49-F238E27FC236}">
                <a16:creationId xmlns:a16="http://schemas.microsoft.com/office/drawing/2014/main" xmlns="" id="{7DDD24A9-BBAD-40BF-848A-A4367E81CB7E}"/>
              </a:ext>
            </a:extLst>
          </p:cNvPr>
          <p:cNvSpPr>
            <a:spLocks noGrp="1"/>
          </p:cNvSpPr>
          <p:nvPr>
            <p:ph idx="1"/>
          </p:nvPr>
        </p:nvSpPr>
        <p:spPr/>
        <p:txBody>
          <a:bodyPr>
            <a:normAutofit/>
          </a:bodyPr>
          <a:lstStyle/>
          <a:p>
            <a:r>
              <a:rPr lang="en-US" sz="2400" dirty="0"/>
              <a:t>In the last lecture, we introduced datapaths for processing data under the supervision of a Control Unit.</a:t>
            </a:r>
          </a:p>
          <a:p>
            <a:r>
              <a:rPr lang="en-US" sz="2400" dirty="0"/>
              <a:t>In this lecture, our focus will be on the design of the control unit.</a:t>
            </a:r>
          </a:p>
          <a:p>
            <a:r>
              <a:rPr lang="en-US" sz="2400" dirty="0"/>
              <a:t>Digital systems can be classified as programmable and nonprogrammable systems depending on the type of control unit.</a:t>
            </a:r>
          </a:p>
          <a:p>
            <a:r>
              <a:rPr lang="en-US" sz="2400" dirty="0"/>
              <a:t>Nonprogrammable systems have inputs, but do not have any mechanism for executing a programs (e.g., fixed Multiplier system).</a:t>
            </a:r>
          </a:p>
          <a:p>
            <a:r>
              <a:rPr lang="en-US" sz="2400" dirty="0"/>
              <a:t>Programmable systems are capable of executing programs.</a:t>
            </a:r>
          </a:p>
          <a:p>
            <a:pPr marL="0" indent="0">
              <a:buNone/>
            </a:pPr>
            <a:endParaRPr lang="en-US" sz="2400" dirty="0"/>
          </a:p>
        </p:txBody>
      </p:sp>
    </p:spTree>
    <p:extLst>
      <p:ext uri="{BB962C8B-B14F-4D97-AF65-F5344CB8AC3E}">
        <p14:creationId xmlns:p14="http://schemas.microsoft.com/office/powerpoint/2010/main" val="3602270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C1787C-268B-40BA-8C61-45712FBA43B6}"/>
              </a:ext>
            </a:extLst>
          </p:cNvPr>
          <p:cNvSpPr>
            <a:spLocks noGrp="1"/>
          </p:cNvSpPr>
          <p:nvPr>
            <p:ph type="title"/>
          </p:nvPr>
        </p:nvSpPr>
        <p:spPr/>
        <p:txBody>
          <a:bodyPr/>
          <a:lstStyle/>
          <a:p>
            <a:r>
              <a:rPr lang="en-US" b="1" dirty="0"/>
              <a:t>C.U in a Programmable System</a:t>
            </a:r>
          </a:p>
        </p:txBody>
      </p:sp>
      <p:sp>
        <p:nvSpPr>
          <p:cNvPr id="3" name="Content Placeholder 2">
            <a:extLst>
              <a:ext uri="{FF2B5EF4-FFF2-40B4-BE49-F238E27FC236}">
                <a16:creationId xmlns:a16="http://schemas.microsoft.com/office/drawing/2014/main" xmlns="" id="{5E27A98A-A250-4910-B993-7E5DC535EBBE}"/>
              </a:ext>
            </a:extLst>
          </p:cNvPr>
          <p:cNvSpPr>
            <a:spLocks noGrp="1"/>
          </p:cNvSpPr>
          <p:nvPr>
            <p:ph idx="1"/>
          </p:nvPr>
        </p:nvSpPr>
        <p:spPr/>
        <p:txBody>
          <a:bodyPr>
            <a:normAutofit fontScale="92500"/>
          </a:bodyPr>
          <a:lstStyle/>
          <a:p>
            <a:r>
              <a:rPr lang="en-US" sz="2400" dirty="0"/>
              <a:t>The control unit is </a:t>
            </a:r>
            <a:r>
              <a:rPr lang="en-US" sz="2400" dirty="0" smtClean="0"/>
              <a:t>responsible </a:t>
            </a:r>
            <a:r>
              <a:rPr lang="en-US" sz="2400" dirty="0"/>
              <a:t>for obtaining </a:t>
            </a:r>
            <a:r>
              <a:rPr lang="en-US" sz="2400" dirty="0" smtClean="0"/>
              <a:t>:</a:t>
            </a:r>
            <a:endParaRPr lang="en-US" sz="2400" dirty="0"/>
          </a:p>
          <a:p>
            <a:pPr marL="0" indent="0">
              <a:buNone/>
            </a:pPr>
            <a:r>
              <a:rPr lang="en-US" sz="2400" dirty="0"/>
              <a:t>	- </a:t>
            </a:r>
            <a:r>
              <a:rPr lang="en-US" sz="2400" dirty="0" smtClean="0"/>
              <a:t>The Sequence </a:t>
            </a:r>
            <a:r>
              <a:rPr lang="en-US" sz="2400" dirty="0"/>
              <a:t>in which the instructions are performed.</a:t>
            </a:r>
          </a:p>
          <a:p>
            <a:pPr marL="0" indent="0">
              <a:buNone/>
            </a:pPr>
            <a:r>
              <a:rPr lang="en-US" sz="2400" dirty="0"/>
              <a:t>	- </a:t>
            </a:r>
            <a:r>
              <a:rPr lang="en-US" sz="2400" dirty="0" smtClean="0"/>
              <a:t>The Control </a:t>
            </a:r>
            <a:r>
              <a:rPr lang="en-US" sz="2400" dirty="0"/>
              <a:t>word that activate the various instructions</a:t>
            </a:r>
          </a:p>
          <a:p>
            <a:r>
              <a:rPr lang="en-US" sz="2400" dirty="0"/>
              <a:t>In a programmable system</a:t>
            </a:r>
            <a:r>
              <a:rPr lang="en-US" sz="2400" i="1" dirty="0"/>
              <a:t>, </a:t>
            </a:r>
            <a:r>
              <a:rPr lang="en-US" sz="2400" dirty="0"/>
              <a:t>a portion of the input to the processor consists of a sequence of </a:t>
            </a:r>
            <a:r>
              <a:rPr lang="en-US" sz="2400" i="1" dirty="0"/>
              <a:t>instructions</a:t>
            </a:r>
            <a:r>
              <a:rPr lang="en-US" sz="2400" dirty="0"/>
              <a:t>.</a:t>
            </a:r>
          </a:p>
          <a:p>
            <a:pPr algn="just"/>
            <a:r>
              <a:rPr lang="en-US" sz="2400" dirty="0">
                <a:solidFill>
                  <a:srgbClr val="FF0000"/>
                </a:solidFill>
              </a:rPr>
              <a:t>Each instruction specifies:</a:t>
            </a:r>
          </a:p>
          <a:p>
            <a:pPr marL="0" indent="0" algn="just">
              <a:buNone/>
            </a:pPr>
            <a:r>
              <a:rPr lang="en-US" sz="2400" dirty="0"/>
              <a:t>	-  An operation the system is to perform, </a:t>
            </a:r>
          </a:p>
          <a:p>
            <a:pPr marL="0" indent="0" algn="just">
              <a:buNone/>
            </a:pPr>
            <a:r>
              <a:rPr lang="en-US" sz="2400" dirty="0"/>
              <a:t>	- Which operands to use for the operation,</a:t>
            </a:r>
          </a:p>
          <a:p>
            <a:pPr marL="0" indent="0" algn="just">
              <a:buNone/>
            </a:pPr>
            <a:r>
              <a:rPr lang="en-US" sz="2400" dirty="0"/>
              <a:t>	- Where to place the results of the operation,</a:t>
            </a:r>
          </a:p>
          <a:p>
            <a:pPr marL="0" indent="0" algn="just">
              <a:buNone/>
            </a:pPr>
            <a:r>
              <a:rPr lang="en-US" sz="2400" dirty="0"/>
              <a:t>	- And/or, in some cases, which instruction to </a:t>
            </a:r>
            <a:r>
              <a:rPr lang="en-US" sz="2400" dirty="0" smtClean="0"/>
              <a:t>execute </a:t>
            </a:r>
            <a:r>
              <a:rPr lang="en-US" sz="2400" dirty="0"/>
              <a:t>next.</a:t>
            </a:r>
          </a:p>
          <a:p>
            <a:endParaRPr lang="en-US" sz="2400" dirty="0"/>
          </a:p>
          <a:p>
            <a:pPr marL="0" indent="0">
              <a:buNone/>
            </a:pPr>
            <a:endParaRPr lang="en-US" sz="2400" dirty="0"/>
          </a:p>
          <a:p>
            <a:endParaRPr lang="en-US" sz="2400" dirty="0"/>
          </a:p>
        </p:txBody>
      </p:sp>
    </p:spTree>
    <p:extLst>
      <p:ext uri="{BB962C8B-B14F-4D97-AF65-F5344CB8AC3E}">
        <p14:creationId xmlns:p14="http://schemas.microsoft.com/office/powerpoint/2010/main" val="943979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E816FA-BA2A-4A1A-A475-87873C529DF3}"/>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xmlns="" id="{ED0BABE5-C607-4397-94D1-1118987B0C0B}"/>
              </a:ext>
            </a:extLst>
          </p:cNvPr>
          <p:cNvSpPr>
            <a:spLocks noGrp="1"/>
          </p:cNvSpPr>
          <p:nvPr>
            <p:ph idx="1"/>
          </p:nvPr>
        </p:nvSpPr>
        <p:spPr/>
        <p:txBody>
          <a:bodyPr>
            <a:normAutofit/>
          </a:bodyPr>
          <a:lstStyle/>
          <a:p>
            <a:r>
              <a:rPr lang="en-US" sz="2400" dirty="0"/>
              <a:t>To execute the instructions in sequence, it is necessary to provide the address in memory of the instruction to be executed.</a:t>
            </a:r>
          </a:p>
          <a:p>
            <a:r>
              <a:rPr lang="en-US" sz="2400" dirty="0"/>
              <a:t> In a computer, this address comes from a register called the </a:t>
            </a:r>
            <a:r>
              <a:rPr lang="en-US" sz="2400" i="1" dirty="0">
                <a:solidFill>
                  <a:srgbClr val="FF0000"/>
                </a:solidFill>
              </a:rPr>
              <a:t>program counter </a:t>
            </a:r>
            <a:r>
              <a:rPr lang="en-US" sz="2400" dirty="0"/>
              <a:t>(</a:t>
            </a:r>
            <a:r>
              <a:rPr lang="en-US" sz="2400" i="1" dirty="0"/>
              <a:t>PC</a:t>
            </a:r>
            <a:r>
              <a:rPr lang="en-US" sz="2400" dirty="0"/>
              <a:t>).</a:t>
            </a:r>
          </a:p>
          <a:p>
            <a:r>
              <a:rPr lang="en-US" sz="2400" dirty="0"/>
              <a:t>So, in the case of a programmable system, the control unit contains a </a:t>
            </a:r>
            <a:r>
              <a:rPr lang="en-US" sz="2400" i="1" dirty="0"/>
              <a:t>PC </a:t>
            </a:r>
            <a:r>
              <a:rPr lang="en-US" sz="2400" dirty="0"/>
              <a:t>and associated decision logic, as well as the necessary logic to interpret the instruction in order to execute it.</a:t>
            </a:r>
          </a:p>
          <a:p>
            <a:endParaRPr lang="en-US" sz="2400" dirty="0"/>
          </a:p>
        </p:txBody>
      </p:sp>
    </p:spTree>
    <p:extLst>
      <p:ext uri="{BB962C8B-B14F-4D97-AF65-F5344CB8AC3E}">
        <p14:creationId xmlns:p14="http://schemas.microsoft.com/office/powerpoint/2010/main" val="2252958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C4AB41-DC55-4459-BB6B-292F44AFBDB4}"/>
              </a:ext>
            </a:extLst>
          </p:cNvPr>
          <p:cNvSpPr>
            <a:spLocks noGrp="1"/>
          </p:cNvSpPr>
          <p:nvPr>
            <p:ph type="title"/>
          </p:nvPr>
        </p:nvSpPr>
        <p:spPr/>
        <p:txBody>
          <a:bodyPr>
            <a:normAutofit/>
          </a:bodyPr>
          <a:lstStyle/>
          <a:p>
            <a:r>
              <a:rPr lang="en-US" sz="4200" b="1" dirty="0"/>
              <a:t>C.U In a Nonprogrammable System</a:t>
            </a:r>
          </a:p>
        </p:txBody>
      </p:sp>
      <p:sp>
        <p:nvSpPr>
          <p:cNvPr id="3" name="Content Placeholder 2">
            <a:extLst>
              <a:ext uri="{FF2B5EF4-FFF2-40B4-BE49-F238E27FC236}">
                <a16:creationId xmlns:a16="http://schemas.microsoft.com/office/drawing/2014/main" xmlns="" id="{BF82C5D5-61E1-4DE6-8490-38B305B9E5C5}"/>
              </a:ext>
            </a:extLst>
          </p:cNvPr>
          <p:cNvSpPr>
            <a:spLocks noGrp="1"/>
          </p:cNvSpPr>
          <p:nvPr>
            <p:ph idx="1"/>
          </p:nvPr>
        </p:nvSpPr>
        <p:spPr/>
        <p:txBody>
          <a:bodyPr>
            <a:normAutofit/>
          </a:bodyPr>
          <a:lstStyle/>
          <a:p>
            <a:r>
              <a:rPr lang="en-US" sz="2400" dirty="0"/>
              <a:t>In contrast to the preceding, note that for a  nonprogrammable system, the control unit is not responsible for obtaining instructions from memory, nor is it responsible for sequencing the execution of those instructions. </a:t>
            </a:r>
          </a:p>
          <a:p>
            <a:r>
              <a:rPr lang="en-US" sz="2400" dirty="0"/>
              <a:t>There is no </a:t>
            </a:r>
            <a:r>
              <a:rPr lang="en-US" sz="2400" i="1" dirty="0"/>
              <a:t>PC </a:t>
            </a:r>
            <a:r>
              <a:rPr lang="en-US" sz="2400" dirty="0"/>
              <a:t>or similar register in such a system.</a:t>
            </a:r>
          </a:p>
          <a:p>
            <a:r>
              <a:rPr lang="en-US" sz="2400" dirty="0"/>
              <a:t> Instead, the control unit determines the operations to be performed and the sequence of those operations, based on only its inputs and the status bits.</a:t>
            </a:r>
          </a:p>
        </p:txBody>
      </p:sp>
    </p:spTree>
    <p:extLst>
      <p:ext uri="{BB962C8B-B14F-4D97-AF65-F5344CB8AC3E}">
        <p14:creationId xmlns:p14="http://schemas.microsoft.com/office/powerpoint/2010/main" val="2591105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94DFA1-0D41-4B5F-96FF-E56721551F0E}"/>
              </a:ext>
            </a:extLst>
          </p:cNvPr>
          <p:cNvSpPr>
            <a:spLocks noGrp="1"/>
          </p:cNvSpPr>
          <p:nvPr>
            <p:ph type="title"/>
          </p:nvPr>
        </p:nvSpPr>
        <p:spPr/>
        <p:txBody>
          <a:bodyPr>
            <a:normAutofit/>
          </a:bodyPr>
          <a:lstStyle/>
          <a:p>
            <a:r>
              <a:rPr lang="en-US" sz="3600" b="1" dirty="0" smtClean="0"/>
              <a:t>CU for a Simple Computer Architecture</a:t>
            </a:r>
            <a:endParaRPr lang="en-US" sz="3600" dirty="0"/>
          </a:p>
        </p:txBody>
      </p:sp>
      <p:sp>
        <p:nvSpPr>
          <p:cNvPr id="3" name="Content Placeholder 2">
            <a:extLst>
              <a:ext uri="{FF2B5EF4-FFF2-40B4-BE49-F238E27FC236}">
                <a16:creationId xmlns:a16="http://schemas.microsoft.com/office/drawing/2014/main" xmlns="" id="{73A20782-F5C9-4F7E-9872-B994F92012B6}"/>
              </a:ext>
            </a:extLst>
          </p:cNvPr>
          <p:cNvSpPr>
            <a:spLocks noGrp="1"/>
          </p:cNvSpPr>
          <p:nvPr>
            <p:ph idx="1"/>
          </p:nvPr>
        </p:nvSpPr>
        <p:spPr/>
        <p:txBody>
          <a:bodyPr>
            <a:normAutofit/>
          </a:bodyPr>
          <a:lstStyle/>
          <a:p>
            <a:r>
              <a:rPr lang="en-US" sz="2400" dirty="0"/>
              <a:t>The control unit reads an instruction from memory , decodes, and executes the instruction by issuing a sequence of one or more microoperations.</a:t>
            </a:r>
          </a:p>
          <a:p>
            <a:r>
              <a:rPr lang="en-US" sz="2400" dirty="0"/>
              <a:t>Simple instruction set architectures have three major components:</a:t>
            </a:r>
          </a:p>
          <a:p>
            <a:pPr marL="0" indent="0">
              <a:buNone/>
            </a:pPr>
            <a:r>
              <a:rPr lang="en-US" sz="2400" dirty="0">
                <a:solidFill>
                  <a:schemeClr val="accent1"/>
                </a:solidFill>
              </a:rPr>
              <a:t>	- </a:t>
            </a:r>
            <a:r>
              <a:rPr lang="en-US" sz="2400" dirty="0" smtClean="0">
                <a:solidFill>
                  <a:schemeClr val="accent1"/>
                </a:solidFill>
              </a:rPr>
              <a:t>Storage </a:t>
            </a:r>
            <a:r>
              <a:rPr lang="en-US" sz="2400" dirty="0">
                <a:solidFill>
                  <a:schemeClr val="accent1"/>
                </a:solidFill>
              </a:rPr>
              <a:t>resources, </a:t>
            </a:r>
          </a:p>
          <a:p>
            <a:pPr marL="0" indent="0">
              <a:buNone/>
            </a:pPr>
            <a:r>
              <a:rPr lang="en-US" sz="2400" dirty="0">
                <a:solidFill>
                  <a:schemeClr val="accent1"/>
                </a:solidFill>
              </a:rPr>
              <a:t>	- </a:t>
            </a:r>
            <a:r>
              <a:rPr lang="en-US" sz="2400" dirty="0" smtClean="0">
                <a:solidFill>
                  <a:schemeClr val="accent1"/>
                </a:solidFill>
              </a:rPr>
              <a:t>Instruction </a:t>
            </a:r>
            <a:r>
              <a:rPr lang="en-US" sz="2400" dirty="0">
                <a:solidFill>
                  <a:schemeClr val="accent1"/>
                </a:solidFill>
              </a:rPr>
              <a:t>formats, </a:t>
            </a:r>
          </a:p>
          <a:p>
            <a:pPr marL="0" indent="0">
              <a:buNone/>
            </a:pPr>
            <a:r>
              <a:rPr lang="en-US" sz="2400" dirty="0">
                <a:solidFill>
                  <a:schemeClr val="accent1"/>
                </a:solidFill>
              </a:rPr>
              <a:t>	- and </a:t>
            </a:r>
            <a:r>
              <a:rPr lang="en-US" sz="2400" dirty="0" smtClean="0">
                <a:solidFill>
                  <a:schemeClr val="accent1"/>
                </a:solidFill>
              </a:rPr>
              <a:t>instruction </a:t>
            </a:r>
            <a:r>
              <a:rPr lang="en-US" sz="2400" dirty="0">
                <a:solidFill>
                  <a:schemeClr val="accent1"/>
                </a:solidFill>
              </a:rPr>
              <a:t>specifications.</a:t>
            </a:r>
          </a:p>
          <a:p>
            <a:endParaRPr lang="en-US" sz="2400" dirty="0"/>
          </a:p>
        </p:txBody>
      </p:sp>
    </p:spTree>
    <p:extLst>
      <p:ext uri="{BB962C8B-B14F-4D97-AF65-F5344CB8AC3E}">
        <p14:creationId xmlns:p14="http://schemas.microsoft.com/office/powerpoint/2010/main" val="2107918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AF366B-1E75-4C8B-B150-CAD82D52EE08}"/>
              </a:ext>
            </a:extLst>
          </p:cNvPr>
          <p:cNvSpPr>
            <a:spLocks noGrp="1"/>
          </p:cNvSpPr>
          <p:nvPr>
            <p:ph type="title"/>
          </p:nvPr>
        </p:nvSpPr>
        <p:spPr/>
        <p:txBody>
          <a:bodyPr>
            <a:normAutofit/>
          </a:bodyPr>
          <a:lstStyle/>
          <a:p>
            <a:r>
              <a:rPr lang="en-US" sz="3600" b="1" dirty="0">
                <a:solidFill>
                  <a:schemeClr val="accent1"/>
                </a:solidFill>
              </a:rPr>
              <a:t>Storage Resources for a simple computer</a:t>
            </a:r>
            <a:endParaRPr lang="en-US" sz="3600" dirty="0">
              <a:solidFill>
                <a:schemeClr val="accent1"/>
              </a:solidFill>
            </a:endParaRPr>
          </a:p>
        </p:txBody>
      </p:sp>
      <p:pic>
        <p:nvPicPr>
          <p:cNvPr id="4" name="Content Placeholder 3">
            <a:extLst>
              <a:ext uri="{FF2B5EF4-FFF2-40B4-BE49-F238E27FC236}">
                <a16:creationId xmlns:a16="http://schemas.microsoft.com/office/drawing/2014/main" xmlns="" id="{C7B6EEED-DCB6-4859-9A5C-FEDD682F0D1A}"/>
              </a:ext>
            </a:extLst>
          </p:cNvPr>
          <p:cNvPicPr>
            <a:picLocks noGrp="1" noChangeAspect="1"/>
          </p:cNvPicPr>
          <p:nvPr>
            <p:ph idx="1"/>
          </p:nvPr>
        </p:nvPicPr>
        <p:blipFill>
          <a:blip r:embed="rId2"/>
          <a:stretch>
            <a:fillRect/>
          </a:stretch>
        </p:blipFill>
        <p:spPr>
          <a:xfrm>
            <a:off x="628650" y="1690689"/>
            <a:ext cx="7886700" cy="4802185"/>
          </a:xfrm>
          <a:prstGeom prst="rect">
            <a:avLst/>
          </a:prstGeom>
        </p:spPr>
      </p:pic>
    </p:spTree>
    <p:extLst>
      <p:ext uri="{BB962C8B-B14F-4D97-AF65-F5344CB8AC3E}">
        <p14:creationId xmlns:p14="http://schemas.microsoft.com/office/powerpoint/2010/main" val="763730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69AD62-32A3-461E-98E9-716AA42BCCF7}"/>
              </a:ext>
            </a:extLst>
          </p:cNvPr>
          <p:cNvSpPr>
            <a:spLocks noGrp="1"/>
          </p:cNvSpPr>
          <p:nvPr>
            <p:ph type="title"/>
          </p:nvPr>
        </p:nvSpPr>
        <p:spPr/>
        <p:txBody>
          <a:bodyPr/>
          <a:lstStyle/>
          <a:p>
            <a:r>
              <a:rPr lang="en-US" b="1" dirty="0">
                <a:solidFill>
                  <a:schemeClr val="accent1"/>
                </a:solidFill>
              </a:rPr>
              <a:t>Instruction Formats</a:t>
            </a:r>
            <a:endParaRPr lang="en-US" dirty="0">
              <a:solidFill>
                <a:schemeClr val="accent1"/>
              </a:solidFill>
            </a:endParaRPr>
          </a:p>
        </p:txBody>
      </p:sp>
      <p:sp>
        <p:nvSpPr>
          <p:cNvPr id="3" name="Content Placeholder 2">
            <a:extLst>
              <a:ext uri="{FF2B5EF4-FFF2-40B4-BE49-F238E27FC236}">
                <a16:creationId xmlns:a16="http://schemas.microsoft.com/office/drawing/2014/main" xmlns="" id="{1E2D157A-C8C8-4B59-8D21-D134E1DD10E3}"/>
              </a:ext>
            </a:extLst>
          </p:cNvPr>
          <p:cNvSpPr>
            <a:spLocks noGrp="1"/>
          </p:cNvSpPr>
          <p:nvPr>
            <p:ph idx="1"/>
          </p:nvPr>
        </p:nvSpPr>
        <p:spPr/>
        <p:txBody>
          <a:bodyPr>
            <a:normAutofit/>
          </a:bodyPr>
          <a:lstStyle/>
          <a:p>
            <a:r>
              <a:rPr lang="en-US" sz="2400" dirty="0"/>
              <a:t>The opcode of an instruction specifies the operation to be performed. </a:t>
            </a:r>
          </a:p>
          <a:p>
            <a:r>
              <a:rPr lang="en-US" sz="2400" dirty="0"/>
              <a:t>The operation must be performed using data stored in computer registers or in memory.</a:t>
            </a:r>
          </a:p>
          <a:p>
            <a:r>
              <a:rPr lang="en-US" sz="2400" dirty="0"/>
              <a:t>An instruction, therefore, must specify not only the operation, but also the registers or memory words in which the operands are to be found and the result is to be placed.</a:t>
            </a:r>
          </a:p>
        </p:txBody>
      </p:sp>
    </p:spTree>
    <p:extLst>
      <p:ext uri="{BB962C8B-B14F-4D97-AF65-F5344CB8AC3E}">
        <p14:creationId xmlns:p14="http://schemas.microsoft.com/office/powerpoint/2010/main" val="2435288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31697D-D2E0-433E-AF7D-20D2E61F8A8A}"/>
              </a:ext>
            </a:extLst>
          </p:cNvPr>
          <p:cNvSpPr>
            <a:spLocks noGrp="1"/>
          </p:cNvSpPr>
          <p:nvPr>
            <p:ph type="title"/>
          </p:nvPr>
        </p:nvSpPr>
        <p:spPr>
          <a:xfrm>
            <a:off x="628650" y="365126"/>
            <a:ext cx="7886700" cy="1105865"/>
          </a:xfrm>
        </p:spPr>
        <p:txBody>
          <a:bodyPr>
            <a:normAutofit/>
          </a:bodyPr>
          <a:lstStyle/>
          <a:p>
            <a:r>
              <a:rPr lang="en-US" sz="2800" b="1" dirty="0">
                <a:solidFill>
                  <a:schemeClr val="accent1"/>
                </a:solidFill>
              </a:rPr>
              <a:t>Instruction formats for the simple </a:t>
            </a:r>
            <a:r>
              <a:rPr lang="en-US" sz="2800" b="1" dirty="0" smtClean="0">
                <a:solidFill>
                  <a:schemeClr val="accent1"/>
                </a:solidFill>
              </a:rPr>
              <a:t>computer (RISC)</a:t>
            </a:r>
            <a:endParaRPr lang="en-US" sz="2800" b="1" dirty="0">
              <a:solidFill>
                <a:schemeClr val="accent1"/>
              </a:solidFill>
            </a:endParaRPr>
          </a:p>
        </p:txBody>
      </p:sp>
      <p:sp>
        <p:nvSpPr>
          <p:cNvPr id="3" name="Content Placeholder 2">
            <a:extLst>
              <a:ext uri="{FF2B5EF4-FFF2-40B4-BE49-F238E27FC236}">
                <a16:creationId xmlns:a16="http://schemas.microsoft.com/office/drawing/2014/main" xmlns="" id="{9683FB5C-A72E-4A5B-874D-C71DDD2E29B9}"/>
              </a:ext>
            </a:extLst>
          </p:cNvPr>
          <p:cNvSpPr>
            <a:spLocks noGrp="1"/>
          </p:cNvSpPr>
          <p:nvPr>
            <p:ph idx="1"/>
          </p:nvPr>
        </p:nvSpPr>
        <p:spPr>
          <a:xfrm>
            <a:off x="628650" y="1590261"/>
            <a:ext cx="7886700" cy="4586702"/>
          </a:xfrm>
        </p:spPr>
        <p:txBody>
          <a:bodyPr/>
          <a:lstStyle/>
          <a:p>
            <a:r>
              <a:rPr lang="en-US" sz="2400" dirty="0"/>
              <a:t>Consider that we have three instruction formats:</a:t>
            </a:r>
          </a:p>
          <a:p>
            <a:pPr marL="0" indent="0">
              <a:buNone/>
            </a:pPr>
            <a:endParaRPr lang="en-US" dirty="0"/>
          </a:p>
        </p:txBody>
      </p:sp>
      <p:pic>
        <p:nvPicPr>
          <p:cNvPr id="4" name="Picture 3">
            <a:extLst>
              <a:ext uri="{FF2B5EF4-FFF2-40B4-BE49-F238E27FC236}">
                <a16:creationId xmlns:a16="http://schemas.microsoft.com/office/drawing/2014/main" xmlns="" id="{C20D2531-44D3-4C17-8BC3-2E848CBBD7AA}"/>
              </a:ext>
            </a:extLst>
          </p:cNvPr>
          <p:cNvPicPr>
            <a:picLocks noChangeAspect="1"/>
          </p:cNvPicPr>
          <p:nvPr/>
        </p:nvPicPr>
        <p:blipFill>
          <a:blip r:embed="rId2"/>
          <a:stretch>
            <a:fillRect/>
          </a:stretch>
        </p:blipFill>
        <p:spPr>
          <a:xfrm>
            <a:off x="628650" y="2107096"/>
            <a:ext cx="7886700" cy="4385778"/>
          </a:xfrm>
          <a:prstGeom prst="rect">
            <a:avLst/>
          </a:prstGeom>
        </p:spPr>
      </p:pic>
    </p:spTree>
    <p:extLst>
      <p:ext uri="{BB962C8B-B14F-4D97-AF65-F5344CB8AC3E}">
        <p14:creationId xmlns:p14="http://schemas.microsoft.com/office/powerpoint/2010/main" val="1987641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6C4D05-5ECF-41BC-B7EB-56104F8B8B9F}"/>
              </a:ext>
            </a:extLst>
          </p:cNvPr>
          <p:cNvSpPr>
            <a:spLocks noGrp="1"/>
          </p:cNvSpPr>
          <p:nvPr>
            <p:ph type="title"/>
          </p:nvPr>
        </p:nvSpPr>
        <p:spPr/>
        <p:txBody>
          <a:bodyPr/>
          <a:lstStyle/>
          <a:p>
            <a:r>
              <a:rPr lang="en-US" b="1" dirty="0" smtClean="0"/>
              <a:t>1-Register </a:t>
            </a:r>
            <a:r>
              <a:rPr lang="en-US" b="1" dirty="0"/>
              <a:t>Addressing Mode</a:t>
            </a:r>
          </a:p>
        </p:txBody>
      </p:sp>
      <p:sp>
        <p:nvSpPr>
          <p:cNvPr id="3" name="Content Placeholder 2">
            <a:extLst>
              <a:ext uri="{FF2B5EF4-FFF2-40B4-BE49-F238E27FC236}">
                <a16:creationId xmlns:a16="http://schemas.microsoft.com/office/drawing/2014/main" xmlns="" id="{9BE45F60-813B-46DD-A6EB-5BA58747F301}"/>
              </a:ext>
            </a:extLst>
          </p:cNvPr>
          <p:cNvSpPr>
            <a:spLocks noGrp="1"/>
          </p:cNvSpPr>
          <p:nvPr>
            <p:ph idx="1"/>
          </p:nvPr>
        </p:nvSpPr>
        <p:spPr/>
        <p:txBody>
          <a:bodyPr>
            <a:normAutofit/>
          </a:bodyPr>
          <a:lstStyle/>
          <a:p>
            <a:pPr algn="l"/>
            <a:r>
              <a:rPr lang="en-US" sz="2400" b="0" i="0" u="none" strike="noStrike" baseline="0" dirty="0"/>
              <a:t>Suppose that the computer has a register file consisting of eight registers, </a:t>
            </a:r>
            <a:r>
              <a:rPr lang="en-US" sz="2400" b="0" i="1" u="none" strike="noStrike" baseline="0" dirty="0"/>
              <a:t>R</a:t>
            </a:r>
            <a:r>
              <a:rPr lang="en-US" sz="2400" b="0" i="0" u="none" strike="noStrike" baseline="0" dirty="0"/>
              <a:t>0 through </a:t>
            </a:r>
            <a:r>
              <a:rPr lang="en-US" sz="2400" b="0" i="1" u="none" strike="noStrike" baseline="0" dirty="0"/>
              <a:t>R</a:t>
            </a:r>
            <a:r>
              <a:rPr lang="en-US" sz="2400" b="0" i="0" u="none" strike="noStrike" baseline="0" dirty="0"/>
              <a:t>7. </a:t>
            </a:r>
          </a:p>
          <a:p>
            <a:pPr algn="l"/>
            <a:r>
              <a:rPr lang="en-US" sz="2400" b="0" i="0" u="none" strike="noStrike" baseline="0" dirty="0"/>
              <a:t>The instruction format in Figure (a) consists of an opcode that specifies the use of three or fewer registers, as needed.</a:t>
            </a:r>
          </a:p>
          <a:p>
            <a:pPr algn="l"/>
            <a:r>
              <a:rPr lang="en-US" sz="2400" b="0" i="0" u="none" strike="noStrike" baseline="0" dirty="0"/>
              <a:t>For example, for a subtraction operation, suppose that the three bits in SA are 010, specifying </a:t>
            </a:r>
            <a:r>
              <a:rPr lang="en-US" sz="2400" b="0" i="1" u="none" strike="noStrike" baseline="0" dirty="0"/>
              <a:t>R</a:t>
            </a:r>
            <a:r>
              <a:rPr lang="en-US" sz="2400" b="0" i="0" u="none" strike="noStrike" baseline="0" dirty="0"/>
              <a:t>2, the three bits in SB are 011, specifying </a:t>
            </a:r>
            <a:r>
              <a:rPr lang="en-US" sz="2400" b="0" i="1" u="none" strike="noStrike" baseline="0" dirty="0"/>
              <a:t>R</a:t>
            </a:r>
            <a:r>
              <a:rPr lang="en-US" sz="2400" b="0" i="0" u="none" strike="noStrike" baseline="0" dirty="0"/>
              <a:t>3, and the three bits in DR are 001, specifying </a:t>
            </a:r>
            <a:r>
              <a:rPr lang="en-US" sz="2400" b="0" i="1" u="none" strike="noStrike" baseline="0" dirty="0"/>
              <a:t>R</a:t>
            </a:r>
            <a:r>
              <a:rPr lang="en-US" sz="2400" b="0" i="0" u="none" strike="noStrike" baseline="0" dirty="0"/>
              <a:t>1. </a:t>
            </a:r>
          </a:p>
          <a:p>
            <a:pPr algn="l"/>
            <a:r>
              <a:rPr lang="en-US" sz="2400" b="0" i="0" u="none" strike="noStrike" baseline="0" dirty="0"/>
              <a:t>Then the contents of </a:t>
            </a:r>
            <a:r>
              <a:rPr lang="en-US" sz="2400" b="0" i="1" u="none" strike="noStrike" baseline="0" dirty="0"/>
              <a:t>R</a:t>
            </a:r>
            <a:r>
              <a:rPr lang="en-US" sz="2400" b="0" i="0" u="none" strike="noStrike" baseline="0" dirty="0"/>
              <a:t>3 will be subtracted from the contents of </a:t>
            </a:r>
            <a:r>
              <a:rPr lang="en-US" sz="2400" b="0" i="1" u="none" strike="noStrike" baseline="0" dirty="0"/>
              <a:t>R</a:t>
            </a:r>
            <a:r>
              <a:rPr lang="en-US" sz="2400" b="0" i="0" u="none" strike="noStrike" baseline="0" dirty="0"/>
              <a:t>2, and the result will be placed in </a:t>
            </a:r>
            <a:r>
              <a:rPr lang="en-US" sz="2400" b="0" i="1" u="none" strike="noStrike" baseline="0" dirty="0"/>
              <a:t>R</a:t>
            </a:r>
            <a:r>
              <a:rPr lang="en-US" sz="2400" b="0" i="0" u="none" strike="noStrike" baseline="0" dirty="0"/>
              <a:t>1.</a:t>
            </a:r>
            <a:endParaRPr lang="en-US" sz="2400" dirty="0"/>
          </a:p>
        </p:txBody>
      </p:sp>
    </p:spTree>
    <p:extLst>
      <p:ext uri="{BB962C8B-B14F-4D97-AF65-F5344CB8AC3E}">
        <p14:creationId xmlns:p14="http://schemas.microsoft.com/office/powerpoint/2010/main" val="1309219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547A84-B30B-4A50-9258-F344D128791F}"/>
              </a:ext>
            </a:extLst>
          </p:cNvPr>
          <p:cNvSpPr>
            <a:spLocks noGrp="1"/>
          </p:cNvSpPr>
          <p:nvPr>
            <p:ph type="title"/>
          </p:nvPr>
        </p:nvSpPr>
        <p:spPr/>
        <p:txBody>
          <a:bodyPr/>
          <a:lstStyle/>
          <a:p>
            <a:r>
              <a:rPr lang="en-US" b="1" dirty="0" smtClean="0"/>
              <a:t>2-Immediate </a:t>
            </a:r>
            <a:r>
              <a:rPr lang="en-US" b="1" dirty="0"/>
              <a:t>Addressing Mode</a:t>
            </a:r>
          </a:p>
        </p:txBody>
      </p:sp>
      <p:sp>
        <p:nvSpPr>
          <p:cNvPr id="3" name="Content Placeholder 2">
            <a:extLst>
              <a:ext uri="{FF2B5EF4-FFF2-40B4-BE49-F238E27FC236}">
                <a16:creationId xmlns:a16="http://schemas.microsoft.com/office/drawing/2014/main" xmlns="" id="{01306F32-4C18-4DFA-A0F0-394B53E7A6A9}"/>
              </a:ext>
            </a:extLst>
          </p:cNvPr>
          <p:cNvSpPr>
            <a:spLocks noGrp="1"/>
          </p:cNvSpPr>
          <p:nvPr>
            <p:ph idx="1"/>
          </p:nvPr>
        </p:nvSpPr>
        <p:spPr/>
        <p:txBody>
          <a:bodyPr>
            <a:normAutofit/>
          </a:bodyPr>
          <a:lstStyle/>
          <a:p>
            <a:pPr algn="l"/>
            <a:r>
              <a:rPr lang="en-US" sz="2400" b="0" i="0" u="none" strike="noStrike" baseline="0" dirty="0"/>
              <a:t>The instruction format in Figure (b) has an opcode, two register fields, and an operand.</a:t>
            </a:r>
          </a:p>
          <a:p>
            <a:pPr algn="l"/>
            <a:r>
              <a:rPr lang="en-US" sz="2400" b="0" i="0" u="none" strike="noStrike" baseline="0" dirty="0"/>
              <a:t>The operand is a constant called an </a:t>
            </a:r>
            <a:r>
              <a:rPr lang="en-US" sz="2400" b="0" i="1" u="none" strike="noStrike" baseline="0" dirty="0"/>
              <a:t>immediate operand</a:t>
            </a:r>
            <a:r>
              <a:rPr lang="en-US" sz="2400" b="0" i="0" u="none" strike="noStrike" baseline="0" dirty="0"/>
              <a:t>, since it is immediately available in the instruction. </a:t>
            </a:r>
          </a:p>
          <a:p>
            <a:pPr algn="l"/>
            <a:r>
              <a:rPr lang="en-US" sz="2400" b="0" i="0" u="none" strike="noStrike" baseline="0" dirty="0"/>
              <a:t>For example, for an add immediate operation with SA specified as </a:t>
            </a:r>
            <a:r>
              <a:rPr lang="en-US" sz="2400" b="0" i="1" u="none" strike="noStrike" baseline="0" dirty="0"/>
              <a:t>R</a:t>
            </a:r>
            <a:r>
              <a:rPr lang="en-US" sz="2400" b="0" i="0" u="none" strike="noStrike" baseline="0" dirty="0"/>
              <a:t>7, DR specified as </a:t>
            </a:r>
            <a:r>
              <a:rPr lang="en-US" sz="2400" b="0" i="1" u="none" strike="noStrike" baseline="0" dirty="0"/>
              <a:t>R</a:t>
            </a:r>
            <a:r>
              <a:rPr lang="en-US" sz="2400" b="0" i="0" u="none" strike="noStrike" baseline="0" dirty="0"/>
              <a:t>2, and operand OP equal to 011, the value 3 is added to the contents of </a:t>
            </a:r>
            <a:r>
              <a:rPr lang="en-US" sz="2400" b="0" i="1" u="none" strike="noStrike" baseline="0" dirty="0"/>
              <a:t>R</a:t>
            </a:r>
            <a:r>
              <a:rPr lang="en-US" sz="2400" b="0" i="0" u="none" strike="noStrike" baseline="0" dirty="0"/>
              <a:t>7, and the result of the addition is placed in </a:t>
            </a:r>
            <a:r>
              <a:rPr lang="en-US" sz="2400" b="0" i="1" u="none" strike="noStrike" baseline="0" dirty="0"/>
              <a:t>R</a:t>
            </a:r>
            <a:r>
              <a:rPr lang="en-US" sz="2400" b="0" i="0" u="none" strike="noStrike" baseline="0" dirty="0"/>
              <a:t>2.</a:t>
            </a:r>
            <a:endParaRPr lang="en-US" sz="2400" dirty="0"/>
          </a:p>
        </p:txBody>
      </p:sp>
    </p:spTree>
    <p:extLst>
      <p:ext uri="{BB962C8B-B14F-4D97-AF65-F5344CB8AC3E}">
        <p14:creationId xmlns:p14="http://schemas.microsoft.com/office/powerpoint/2010/main" val="125516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2FA49F2-81A6-4232-BC0E-2091D3CE8A6E}"/>
              </a:ext>
            </a:extLst>
          </p:cNvPr>
          <p:cNvSpPr>
            <a:spLocks noGrp="1"/>
          </p:cNvSpPr>
          <p:nvPr>
            <p:ph type="title"/>
          </p:nvPr>
        </p:nvSpPr>
        <p:spPr/>
        <p:txBody>
          <a:bodyPr/>
          <a:lstStyle/>
          <a:p>
            <a:r>
              <a:rPr lang="en-US" b="1" dirty="0" smtClean="0"/>
              <a:t>3- Jump </a:t>
            </a:r>
            <a:r>
              <a:rPr lang="en-US" b="1" dirty="0"/>
              <a:t>&amp; Branch Mode</a:t>
            </a:r>
          </a:p>
        </p:txBody>
      </p:sp>
      <p:sp>
        <p:nvSpPr>
          <p:cNvPr id="3" name="Content Placeholder 2">
            <a:extLst>
              <a:ext uri="{FF2B5EF4-FFF2-40B4-BE49-F238E27FC236}">
                <a16:creationId xmlns:a16="http://schemas.microsoft.com/office/drawing/2014/main" xmlns="" id="{DED896D2-756B-4DE2-AA4F-2DBAC729F08C}"/>
              </a:ext>
            </a:extLst>
          </p:cNvPr>
          <p:cNvSpPr>
            <a:spLocks noGrp="1"/>
          </p:cNvSpPr>
          <p:nvPr>
            <p:ph idx="1"/>
          </p:nvPr>
        </p:nvSpPr>
        <p:spPr/>
        <p:txBody>
          <a:bodyPr>
            <a:normAutofit/>
          </a:bodyPr>
          <a:lstStyle/>
          <a:p>
            <a:pPr algn="l"/>
            <a:r>
              <a:rPr lang="en-US" sz="2400" b="0" i="0" u="none" strike="noStrike" baseline="0" dirty="0"/>
              <a:t>The instruction format in Figure (c), in contrast to the other two formats, does not change any register file or memory contents.</a:t>
            </a:r>
          </a:p>
          <a:p>
            <a:pPr algn="l"/>
            <a:r>
              <a:rPr lang="en-US" sz="2400" b="0" i="0" u="none" strike="noStrike" baseline="0" dirty="0"/>
              <a:t> Instead, it affects the order in which the instructions are fetched from memory.</a:t>
            </a:r>
            <a:endParaRPr lang="en-US" sz="2400" dirty="0"/>
          </a:p>
          <a:p>
            <a:r>
              <a:rPr lang="en-US" sz="2400" dirty="0"/>
              <a:t>The example format given in Figure (c) for jump and branch instructions has an operation code, one register field SA, and a split address field AD.</a:t>
            </a:r>
          </a:p>
          <a:p>
            <a:r>
              <a:rPr lang="en-US" sz="2400" dirty="0"/>
              <a:t> If a branch is to occur, the new address is formed by adding the current PC contents and the contents of the 6-bit address field.</a:t>
            </a:r>
          </a:p>
          <a:p>
            <a:endParaRPr lang="en-US" sz="2400" dirty="0"/>
          </a:p>
        </p:txBody>
      </p:sp>
    </p:spTree>
    <p:extLst>
      <p:ext uri="{BB962C8B-B14F-4D97-AF65-F5344CB8AC3E}">
        <p14:creationId xmlns:p14="http://schemas.microsoft.com/office/powerpoint/2010/main" val="4064270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F40447-13D0-4A9A-838F-AFBC3B41D5A2}"/>
              </a:ext>
            </a:extLst>
          </p:cNvPr>
          <p:cNvSpPr>
            <a:spLocks noGrp="1"/>
          </p:cNvSpPr>
          <p:nvPr>
            <p:ph type="title"/>
          </p:nvPr>
        </p:nvSpPr>
        <p:spPr>
          <a:xfrm>
            <a:off x="628650" y="365126"/>
            <a:ext cx="7886700" cy="761309"/>
          </a:xfrm>
        </p:spPr>
        <p:txBody>
          <a:bodyPr/>
          <a:lstStyle/>
          <a:p>
            <a:r>
              <a:rPr lang="en-US" dirty="0"/>
              <a:t>Cont.,</a:t>
            </a:r>
          </a:p>
        </p:txBody>
      </p:sp>
      <p:sp>
        <p:nvSpPr>
          <p:cNvPr id="3" name="Content Placeholder 2">
            <a:extLst>
              <a:ext uri="{FF2B5EF4-FFF2-40B4-BE49-F238E27FC236}">
                <a16:creationId xmlns:a16="http://schemas.microsoft.com/office/drawing/2014/main" xmlns="" id="{37D2AB26-86F9-42A3-B92B-3B8C4DD59883}"/>
              </a:ext>
            </a:extLst>
          </p:cNvPr>
          <p:cNvSpPr>
            <a:spLocks noGrp="1"/>
          </p:cNvSpPr>
          <p:nvPr>
            <p:ph idx="1"/>
          </p:nvPr>
        </p:nvSpPr>
        <p:spPr>
          <a:xfrm>
            <a:off x="628650" y="1232452"/>
            <a:ext cx="7886700" cy="5486400"/>
          </a:xfrm>
        </p:spPr>
        <p:txBody>
          <a:bodyPr>
            <a:noAutofit/>
          </a:bodyPr>
          <a:lstStyle/>
          <a:p>
            <a:pPr algn="l"/>
            <a:r>
              <a:rPr lang="en-US" sz="2400" b="0" i="0" u="none" strike="noStrike" baseline="0" dirty="0"/>
              <a:t>This addressing method is called PC relative and the 6-bit address field, referred to as an </a:t>
            </a:r>
            <a:r>
              <a:rPr lang="en-US" sz="2400" b="0" i="1" u="none" strike="noStrike" baseline="0" dirty="0"/>
              <a:t>address offset</a:t>
            </a:r>
            <a:r>
              <a:rPr lang="en-US" sz="2400" b="0" i="0" u="none" strike="noStrike" baseline="0" dirty="0"/>
              <a:t>, is treated as a signed 2s complement number. </a:t>
            </a:r>
          </a:p>
          <a:p>
            <a:pPr algn="l"/>
            <a:r>
              <a:rPr lang="en-US" sz="2400" b="0" i="0" u="none" strike="noStrike" baseline="0" dirty="0"/>
              <a:t>To preserve the 2s complement representation, </a:t>
            </a:r>
            <a:r>
              <a:rPr lang="en-US" sz="2400" b="0" i="1" u="none" strike="noStrike" baseline="0" dirty="0"/>
              <a:t>sign extension </a:t>
            </a:r>
            <a:r>
              <a:rPr lang="en-US" sz="2400" b="0" i="0" u="none" strike="noStrike" baseline="0" dirty="0"/>
              <a:t>is applied to the 6-bit address to form a 16-bit offset before the addition.</a:t>
            </a:r>
          </a:p>
          <a:p>
            <a:pPr algn="l"/>
            <a:r>
              <a:rPr lang="en-US" sz="2400" b="0" i="0" u="none" strike="noStrike" baseline="0" dirty="0"/>
              <a:t>If the leftmost bit of the address field AD after converting it to its 2’s complement form  is 1, then the 10 bits to its left are filled with 1s to give a negative 2s complement offset. </a:t>
            </a:r>
          </a:p>
          <a:p>
            <a:pPr algn="l"/>
            <a:r>
              <a:rPr lang="en-US" sz="2400" b="0" i="0" u="none" strike="noStrike" baseline="0" dirty="0"/>
              <a:t>If the leftmost bit of the address field after 2’s complement is 0, </a:t>
            </a:r>
            <a:r>
              <a:rPr lang="en-US" sz="2400" b="0" i="0" u="none" strike="noStrike" baseline="0" dirty="0" smtClean="0"/>
              <a:t>means that </a:t>
            </a:r>
            <a:r>
              <a:rPr lang="en-US" sz="2400" b="0" i="0" u="none" strike="noStrike" baseline="0" dirty="0"/>
              <a:t>the 10 bits to its left are filled with 0s to give a positive 2s complement offset (2’s complement of 2’s complement). </a:t>
            </a:r>
          </a:p>
          <a:p>
            <a:pPr algn="l"/>
            <a:r>
              <a:rPr lang="en-US" sz="2400" b="0" i="0" u="none" strike="noStrike" baseline="0" dirty="0"/>
              <a:t>The offset is added to the contents of the </a:t>
            </a:r>
            <a:r>
              <a:rPr lang="en-US" sz="2400" b="0" i="1" u="none" strike="noStrike" baseline="0" dirty="0"/>
              <a:t>PC </a:t>
            </a:r>
            <a:r>
              <a:rPr lang="en-US" sz="2400" b="0" i="0" u="none" strike="noStrike" baseline="0" dirty="0"/>
              <a:t>to form the location from which the next instruction is to be fetched.</a:t>
            </a:r>
            <a:endParaRPr lang="en-US" sz="2400" dirty="0"/>
          </a:p>
        </p:txBody>
      </p:sp>
    </p:spTree>
    <p:extLst>
      <p:ext uri="{BB962C8B-B14F-4D97-AF65-F5344CB8AC3E}">
        <p14:creationId xmlns:p14="http://schemas.microsoft.com/office/powerpoint/2010/main" val="1552777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9D383D3-421A-49D8-A8C9-24BFF3F24B7D}"/>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xmlns="" id="{99EB8B57-EE00-4F6E-9AED-7F68188EB4DE}"/>
              </a:ext>
            </a:extLst>
          </p:cNvPr>
          <p:cNvSpPr>
            <a:spLocks noGrp="1"/>
          </p:cNvSpPr>
          <p:nvPr>
            <p:ph idx="1"/>
          </p:nvPr>
        </p:nvSpPr>
        <p:spPr/>
        <p:txBody>
          <a:bodyPr>
            <a:normAutofit fontScale="85000" lnSpcReduction="10000"/>
          </a:bodyPr>
          <a:lstStyle/>
          <a:p>
            <a:r>
              <a:rPr lang="en-US" dirty="0"/>
              <a:t>With the </a:t>
            </a:r>
            <a:r>
              <a:rPr lang="en-US" i="1" dirty="0"/>
              <a:t>PC </a:t>
            </a:r>
            <a:r>
              <a:rPr lang="en-US" dirty="0"/>
              <a:t>value equal to 55, suppose that a branch is to occur to location 35 if the contents of </a:t>
            </a:r>
            <a:r>
              <a:rPr lang="en-US" i="1" dirty="0"/>
              <a:t>R</a:t>
            </a:r>
            <a:r>
              <a:rPr lang="en-US" dirty="0"/>
              <a:t>6 is equal to zero. </a:t>
            </a:r>
          </a:p>
          <a:p>
            <a:r>
              <a:rPr lang="en-US" dirty="0"/>
              <a:t>The opcode would specify a branch-on-zero instruction (JZ), SA would be specified as </a:t>
            </a:r>
            <a:r>
              <a:rPr lang="en-US" i="1" dirty="0"/>
              <a:t>R</a:t>
            </a:r>
            <a:r>
              <a:rPr lang="en-US" dirty="0"/>
              <a:t>6, and AD would be the 6-bit, 2s complement representation of –20.</a:t>
            </a:r>
          </a:p>
          <a:p>
            <a:r>
              <a:rPr lang="en-US" dirty="0"/>
              <a:t>+20D = 000000000  010 100 </a:t>
            </a:r>
          </a:p>
          <a:p>
            <a:r>
              <a:rPr lang="en-US" dirty="0"/>
              <a:t>2’s complement of 20D =  1111111111  101 100</a:t>
            </a:r>
          </a:p>
          <a:p>
            <a:r>
              <a:rPr lang="en-US" dirty="0"/>
              <a:t>If </a:t>
            </a:r>
            <a:r>
              <a:rPr lang="en-US" i="1" dirty="0"/>
              <a:t>R</a:t>
            </a:r>
            <a:r>
              <a:rPr lang="en-US" dirty="0"/>
              <a:t>6 is zero, then </a:t>
            </a:r>
            <a:r>
              <a:rPr lang="en-US" i="1" dirty="0"/>
              <a:t>PC </a:t>
            </a:r>
            <a:r>
              <a:rPr lang="en-US" dirty="0"/>
              <a:t>contents becomes 55 + (– 20) = 35, and the next instruction will be fetched from address 35.</a:t>
            </a:r>
          </a:p>
          <a:p>
            <a:r>
              <a:rPr lang="en-US" dirty="0"/>
              <a:t>Otherwise, if </a:t>
            </a:r>
            <a:r>
              <a:rPr lang="en-US" i="1" dirty="0"/>
              <a:t>R</a:t>
            </a:r>
            <a:r>
              <a:rPr lang="en-US" dirty="0"/>
              <a:t>6 is nonzero, the </a:t>
            </a:r>
            <a:r>
              <a:rPr lang="en-US" i="1" dirty="0"/>
              <a:t>PC </a:t>
            </a:r>
            <a:r>
              <a:rPr lang="en-US" dirty="0"/>
              <a:t>will count up to 56, and the next instruction will be fetched from address 56.</a:t>
            </a:r>
          </a:p>
        </p:txBody>
      </p:sp>
    </p:spTree>
    <p:extLst>
      <p:ext uri="{BB962C8B-B14F-4D97-AF65-F5344CB8AC3E}">
        <p14:creationId xmlns:p14="http://schemas.microsoft.com/office/powerpoint/2010/main" val="495413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60E8F15-81ED-41B1-A9EC-E589CB136CFB}"/>
              </a:ext>
            </a:extLst>
          </p:cNvPr>
          <p:cNvSpPr>
            <a:spLocks noGrp="1"/>
          </p:cNvSpPr>
          <p:nvPr>
            <p:ph type="title"/>
          </p:nvPr>
        </p:nvSpPr>
        <p:spPr/>
        <p:txBody>
          <a:bodyPr/>
          <a:lstStyle/>
          <a:p>
            <a:r>
              <a:rPr lang="en-US" b="1" dirty="0">
                <a:solidFill>
                  <a:schemeClr val="accent1"/>
                </a:solidFill>
              </a:rPr>
              <a:t>Instruction Specifications</a:t>
            </a:r>
            <a:endParaRPr lang="en-US" dirty="0">
              <a:solidFill>
                <a:schemeClr val="accent1"/>
              </a:solidFill>
            </a:endParaRPr>
          </a:p>
        </p:txBody>
      </p:sp>
      <p:sp>
        <p:nvSpPr>
          <p:cNvPr id="3" name="Content Placeholder 2">
            <a:extLst>
              <a:ext uri="{FF2B5EF4-FFF2-40B4-BE49-F238E27FC236}">
                <a16:creationId xmlns:a16="http://schemas.microsoft.com/office/drawing/2014/main" xmlns="" id="{7921A78C-3C4D-446C-AB9C-D2F458DA2D80}"/>
              </a:ext>
            </a:extLst>
          </p:cNvPr>
          <p:cNvSpPr>
            <a:spLocks noGrp="1"/>
          </p:cNvSpPr>
          <p:nvPr>
            <p:ph idx="1"/>
          </p:nvPr>
        </p:nvSpPr>
        <p:spPr/>
        <p:txBody>
          <a:bodyPr>
            <a:normAutofit lnSpcReduction="10000"/>
          </a:bodyPr>
          <a:lstStyle/>
          <a:p>
            <a:r>
              <a:rPr lang="en-US" sz="2400" dirty="0"/>
              <a:t>Instruction specifications describe each of the distinct instructions that can be executed by the system.</a:t>
            </a:r>
          </a:p>
          <a:p>
            <a:pPr algn="l"/>
            <a:r>
              <a:rPr lang="en-US" sz="2400" dirty="0"/>
              <a:t>For each instruction, the opcode is given along with a shorthand name called a mnemonic, which can be used as a symbolic representation for the opcode.</a:t>
            </a:r>
          </a:p>
          <a:p>
            <a:pPr algn="l"/>
            <a:r>
              <a:rPr lang="en-US" sz="2400" dirty="0"/>
              <a:t>This symbolic representation is then converted to the binary representation of the instruction by a program called an assembler.</a:t>
            </a:r>
          </a:p>
          <a:p>
            <a:r>
              <a:rPr lang="en-US" sz="2400" dirty="0"/>
              <a:t>The instruction specifications for the simple computer are given in Table 8</a:t>
            </a:r>
            <a:r>
              <a:rPr lang="en-US" sz="2400" dirty="0" smtClean="0"/>
              <a:t>.</a:t>
            </a:r>
          </a:p>
          <a:p>
            <a:r>
              <a:rPr lang="en-US" sz="2400" dirty="0"/>
              <a:t>Suppose that we have a memory with 16 bits per word and that the opcode contains 7 </a:t>
            </a:r>
            <a:r>
              <a:rPr lang="en-US" sz="2400" dirty="0" smtClean="0"/>
              <a:t>bits (from bit 9 to bit 15).</a:t>
            </a:r>
            <a:endParaRPr lang="en-US" sz="2400" dirty="0"/>
          </a:p>
          <a:p>
            <a:endParaRPr lang="en-US" sz="2400" dirty="0"/>
          </a:p>
        </p:txBody>
      </p:sp>
    </p:spTree>
    <p:extLst>
      <p:ext uri="{BB962C8B-B14F-4D97-AF65-F5344CB8AC3E}">
        <p14:creationId xmlns:p14="http://schemas.microsoft.com/office/powerpoint/2010/main" val="384861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26F4C3B1-D9CD-49E8-8DAC-D00C4B472953}"/>
              </a:ext>
            </a:extLst>
          </p:cNvPr>
          <p:cNvPicPr>
            <a:picLocks noChangeAspect="1"/>
          </p:cNvPicPr>
          <p:nvPr/>
        </p:nvPicPr>
        <p:blipFill>
          <a:blip r:embed="rId2"/>
          <a:stretch>
            <a:fillRect/>
          </a:stretch>
        </p:blipFill>
        <p:spPr>
          <a:xfrm>
            <a:off x="331304" y="371061"/>
            <a:ext cx="8494644" cy="6241774"/>
          </a:xfrm>
          <a:prstGeom prst="rect">
            <a:avLst/>
          </a:prstGeom>
        </p:spPr>
      </p:pic>
    </p:spTree>
    <p:extLst>
      <p:ext uri="{BB962C8B-B14F-4D97-AF65-F5344CB8AC3E}">
        <p14:creationId xmlns:p14="http://schemas.microsoft.com/office/powerpoint/2010/main" val="538841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26092" y="914400"/>
            <a:ext cx="7791189" cy="5273458"/>
          </a:xfrm>
          <a:prstGeom prst="rect">
            <a:avLst/>
          </a:prstGeom>
        </p:spPr>
      </p:pic>
    </p:spTree>
    <p:extLst>
      <p:ext uri="{BB962C8B-B14F-4D97-AF65-F5344CB8AC3E}">
        <p14:creationId xmlns:p14="http://schemas.microsoft.com/office/powerpoint/2010/main" val="4160036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F77E61-6D26-44C1-9B60-4DBDF264472A}"/>
              </a:ext>
            </a:extLst>
          </p:cNvPr>
          <p:cNvSpPr>
            <a:spLocks noGrp="1"/>
          </p:cNvSpPr>
          <p:nvPr>
            <p:ph type="title"/>
          </p:nvPr>
        </p:nvSpPr>
        <p:spPr>
          <a:xfrm>
            <a:off x="628650" y="365126"/>
            <a:ext cx="7886700" cy="611904"/>
          </a:xfrm>
        </p:spPr>
        <p:txBody>
          <a:bodyPr>
            <a:normAutofit fontScale="90000"/>
          </a:bodyPr>
          <a:lstStyle/>
          <a:p>
            <a:r>
              <a:rPr lang="en-US" b="1" dirty="0" smtClean="0"/>
              <a:t>Note</a:t>
            </a:r>
            <a:r>
              <a:rPr lang="en-US" dirty="0" smtClean="0"/>
              <a:t>:</a:t>
            </a:r>
            <a:endParaRPr lang="en-US" dirty="0"/>
          </a:p>
        </p:txBody>
      </p:sp>
      <p:sp>
        <p:nvSpPr>
          <p:cNvPr id="3" name="Content Placeholder 2">
            <a:extLst>
              <a:ext uri="{FF2B5EF4-FFF2-40B4-BE49-F238E27FC236}">
                <a16:creationId xmlns:a16="http://schemas.microsoft.com/office/drawing/2014/main" xmlns="" id="{033BBF5F-C1CA-4DF3-92DB-5C0FFD5A451D}"/>
              </a:ext>
            </a:extLst>
          </p:cNvPr>
          <p:cNvSpPr>
            <a:spLocks noGrp="1"/>
          </p:cNvSpPr>
          <p:nvPr>
            <p:ph idx="1"/>
          </p:nvPr>
        </p:nvSpPr>
        <p:spPr>
          <a:xfrm>
            <a:off x="628650" y="1189973"/>
            <a:ext cx="7886700" cy="4986990"/>
          </a:xfrm>
        </p:spPr>
        <p:txBody>
          <a:bodyPr>
            <a:normAutofit/>
          </a:bodyPr>
          <a:lstStyle/>
          <a:p>
            <a:r>
              <a:rPr lang="en-US" sz="2200" dirty="0"/>
              <a:t>If a branch is taken, then the new </a:t>
            </a:r>
            <a:r>
              <a:rPr lang="en-US" sz="2200" i="1" dirty="0"/>
              <a:t>PC </a:t>
            </a:r>
            <a:r>
              <a:rPr lang="en-US" sz="2200" dirty="0"/>
              <a:t>value is the sum of the previous </a:t>
            </a:r>
            <a:r>
              <a:rPr lang="en-US" sz="2200" i="1" dirty="0"/>
              <a:t>PC </a:t>
            </a:r>
            <a:r>
              <a:rPr lang="en-US" sz="2200" dirty="0"/>
              <a:t>value and the sign-extended address offset, Otherwise, the </a:t>
            </a:r>
            <a:r>
              <a:rPr lang="en-US" sz="2200" i="1" dirty="0"/>
              <a:t>PC </a:t>
            </a:r>
            <a:r>
              <a:rPr lang="en-US" sz="2200" dirty="0"/>
              <a:t>is incremented by 1</a:t>
            </a:r>
            <a:r>
              <a:rPr lang="en-US" sz="2200" dirty="0" smtClean="0"/>
              <a:t>.</a:t>
            </a:r>
          </a:p>
          <a:p>
            <a:r>
              <a:rPr lang="en-US" sz="2200" dirty="0" smtClean="0"/>
              <a:t>Given that Bits 14 &amp; 15 are equal ‘11’:</a:t>
            </a:r>
            <a:endParaRPr lang="en-US" sz="2200" dirty="0"/>
          </a:p>
          <a:p>
            <a:pPr marL="0" indent="0">
              <a:buNone/>
            </a:pPr>
            <a:r>
              <a:rPr lang="en-US" sz="2200" dirty="0" smtClean="0"/>
              <a:t>	- A </a:t>
            </a:r>
            <a:r>
              <a:rPr lang="en-US" sz="2200" dirty="0"/>
              <a:t>jump occurs if bit 13 in the instruction equal to 1.</a:t>
            </a:r>
          </a:p>
          <a:p>
            <a:pPr marL="0" indent="0">
              <a:buNone/>
            </a:pPr>
            <a:r>
              <a:rPr lang="en-US" sz="2200" dirty="0" smtClean="0"/>
              <a:t>	- </a:t>
            </a:r>
            <a:r>
              <a:rPr lang="en-US" sz="2200" dirty="0"/>
              <a:t>For bit 13 equal to 0, a conditional branch occurs.</a:t>
            </a:r>
          </a:p>
          <a:p>
            <a:pPr marL="0" indent="0">
              <a:buNone/>
            </a:pPr>
            <a:r>
              <a:rPr lang="en-US" sz="2200" dirty="0" smtClean="0"/>
              <a:t>	-The </a:t>
            </a:r>
            <a:r>
              <a:rPr lang="en-US" sz="2200" dirty="0"/>
              <a:t>status bit that is the condition for the branch is </a:t>
            </a:r>
            <a:r>
              <a:rPr lang="en-US" sz="2200" dirty="0" smtClean="0"/>
              <a:t>	selected </a:t>
            </a:r>
            <a:r>
              <a:rPr lang="en-US" sz="2200" dirty="0"/>
              <a:t>by bit 9 of the instruction.</a:t>
            </a:r>
          </a:p>
          <a:p>
            <a:pPr marL="0" indent="0">
              <a:buNone/>
            </a:pPr>
            <a:r>
              <a:rPr lang="en-US" sz="2200" dirty="0" smtClean="0"/>
              <a:t>	- For </a:t>
            </a:r>
            <a:r>
              <a:rPr lang="en-US" sz="2200" dirty="0"/>
              <a:t>bit 9 equal to 1, </a:t>
            </a:r>
            <a:r>
              <a:rPr lang="en-US" sz="2200" i="1" dirty="0"/>
              <a:t>N </a:t>
            </a:r>
            <a:r>
              <a:rPr lang="en-US" sz="2200" dirty="0"/>
              <a:t>is selected and, for bit 9 equal to 0, </a:t>
            </a:r>
            <a:r>
              <a:rPr lang="en-US" sz="2200" dirty="0" smtClean="0"/>
              <a:t>	</a:t>
            </a:r>
            <a:r>
              <a:rPr lang="en-US" sz="2200" i="1" dirty="0" smtClean="0"/>
              <a:t>Z </a:t>
            </a:r>
            <a:r>
              <a:rPr lang="en-US" sz="2200" dirty="0"/>
              <a:t>is selected.</a:t>
            </a:r>
          </a:p>
        </p:txBody>
      </p:sp>
      <p:pic>
        <p:nvPicPr>
          <p:cNvPr id="5" name="Picture 4">
            <a:extLst>
              <a:ext uri="{FF2B5EF4-FFF2-40B4-BE49-F238E27FC236}">
                <a16:creationId xmlns:a16="http://schemas.microsoft.com/office/drawing/2014/main" xmlns="" id="{035C210F-F7C4-4E6E-B847-4079ECC2737A}"/>
              </a:ext>
            </a:extLst>
          </p:cNvPr>
          <p:cNvPicPr>
            <a:picLocks noChangeAspect="1"/>
          </p:cNvPicPr>
          <p:nvPr/>
        </p:nvPicPr>
        <p:blipFill>
          <a:blip r:embed="rId2"/>
          <a:stretch>
            <a:fillRect/>
          </a:stretch>
        </p:blipFill>
        <p:spPr>
          <a:xfrm>
            <a:off x="3564835" y="4977642"/>
            <a:ext cx="3207025" cy="1199321"/>
          </a:xfrm>
          <a:prstGeom prst="rect">
            <a:avLst/>
          </a:prstGeom>
        </p:spPr>
      </p:pic>
    </p:spTree>
    <p:extLst>
      <p:ext uri="{BB962C8B-B14F-4D97-AF65-F5344CB8AC3E}">
        <p14:creationId xmlns:p14="http://schemas.microsoft.com/office/powerpoint/2010/main" val="4260559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FBCAAB2-3D9A-451B-AD25-B5BBB3A65480}"/>
              </a:ext>
            </a:extLst>
          </p:cNvPr>
          <p:cNvSpPr>
            <a:spLocks noGrp="1"/>
          </p:cNvSpPr>
          <p:nvPr>
            <p:ph type="title"/>
          </p:nvPr>
        </p:nvSpPr>
        <p:spPr>
          <a:xfrm>
            <a:off x="628650" y="365126"/>
            <a:ext cx="7886700" cy="933587"/>
          </a:xfrm>
        </p:spPr>
        <p:txBody>
          <a:bodyPr/>
          <a:lstStyle/>
          <a:p>
            <a:r>
              <a:rPr lang="en-US" dirty="0"/>
              <a:t>Example</a:t>
            </a:r>
          </a:p>
        </p:txBody>
      </p:sp>
      <p:sp>
        <p:nvSpPr>
          <p:cNvPr id="3" name="Content Placeholder 2">
            <a:extLst>
              <a:ext uri="{FF2B5EF4-FFF2-40B4-BE49-F238E27FC236}">
                <a16:creationId xmlns:a16="http://schemas.microsoft.com/office/drawing/2014/main" xmlns="" id="{C0A9FF11-6DCB-472B-B5F5-7AA359F70836}"/>
              </a:ext>
            </a:extLst>
          </p:cNvPr>
          <p:cNvSpPr>
            <a:spLocks noGrp="1"/>
          </p:cNvSpPr>
          <p:nvPr>
            <p:ph idx="1"/>
          </p:nvPr>
        </p:nvSpPr>
        <p:spPr>
          <a:xfrm>
            <a:off x="628650" y="1404730"/>
            <a:ext cx="7886700" cy="5088144"/>
          </a:xfrm>
        </p:spPr>
        <p:txBody>
          <a:bodyPr>
            <a:noAutofit/>
          </a:bodyPr>
          <a:lstStyle/>
          <a:p>
            <a:r>
              <a:rPr lang="en-US" sz="2400" dirty="0" smtClean="0"/>
              <a:t>Instructions </a:t>
            </a:r>
            <a:r>
              <a:rPr lang="en-US" sz="2400" dirty="0"/>
              <a:t>and data, in binary, are placed in memory, as shown in Table 9. </a:t>
            </a:r>
          </a:p>
          <a:p>
            <a:r>
              <a:rPr lang="en-US" sz="2400" dirty="0"/>
              <a:t>This stored information represents the four instructions illustrating the distinct formats.</a:t>
            </a:r>
          </a:p>
          <a:p>
            <a:r>
              <a:rPr lang="en-US" sz="2400" dirty="0"/>
              <a:t>In memory location 35 is a register format instruction to store the contents of </a:t>
            </a:r>
            <a:r>
              <a:rPr lang="en-US" sz="2400" i="1" dirty="0"/>
              <a:t>R</a:t>
            </a:r>
            <a:r>
              <a:rPr lang="en-US" sz="2400" dirty="0"/>
              <a:t>5 in the memory location specified by </a:t>
            </a:r>
            <a:r>
              <a:rPr lang="en-US" sz="2400" i="1" dirty="0"/>
              <a:t>R</a:t>
            </a:r>
            <a:r>
              <a:rPr lang="en-US" sz="2400" dirty="0"/>
              <a:t>4.</a:t>
            </a:r>
          </a:p>
          <a:p>
            <a:pPr algn="l"/>
            <a:r>
              <a:rPr lang="en-US" sz="2400" b="0" i="0" u="none" strike="noStrike" baseline="0" dirty="0"/>
              <a:t>In location 55, the branch instruction previously described appears.</a:t>
            </a:r>
          </a:p>
          <a:p>
            <a:pPr algn="l"/>
            <a:r>
              <a:rPr lang="en-US" sz="2400" b="0" i="0" u="none" strike="noStrike" baseline="0" dirty="0"/>
              <a:t> The opcode for this instruction is 96, and source register </a:t>
            </a:r>
            <a:r>
              <a:rPr lang="en-US" sz="2400" b="0" i="1" u="none" strike="noStrike" baseline="0" dirty="0"/>
              <a:t>A </a:t>
            </a:r>
            <a:r>
              <a:rPr lang="en-US" sz="2400" b="0" i="0" u="none" strike="noStrike" baseline="0" dirty="0"/>
              <a:t>is specified as </a:t>
            </a:r>
            <a:r>
              <a:rPr lang="en-US" sz="2400" b="0" i="1" u="none" strike="noStrike" baseline="0" dirty="0"/>
              <a:t>R</a:t>
            </a:r>
            <a:r>
              <a:rPr lang="en-US" sz="2400" b="0" i="0" u="none" strike="noStrike" baseline="0" dirty="0"/>
              <a:t>6.</a:t>
            </a:r>
          </a:p>
          <a:p>
            <a:endParaRPr lang="en-US" sz="2400" dirty="0"/>
          </a:p>
          <a:p>
            <a:endParaRPr lang="en-US" sz="2400" dirty="0"/>
          </a:p>
        </p:txBody>
      </p:sp>
    </p:spTree>
    <p:extLst>
      <p:ext uri="{BB962C8B-B14F-4D97-AF65-F5344CB8AC3E}">
        <p14:creationId xmlns:p14="http://schemas.microsoft.com/office/powerpoint/2010/main" val="2494319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CAE52077-793C-4782-8425-03ECC2FFE3E4}"/>
              </a:ext>
            </a:extLst>
          </p:cNvPr>
          <p:cNvPicPr>
            <a:picLocks noChangeAspect="1"/>
          </p:cNvPicPr>
          <p:nvPr/>
        </p:nvPicPr>
        <p:blipFill>
          <a:blip r:embed="rId2"/>
          <a:stretch>
            <a:fillRect/>
          </a:stretch>
        </p:blipFill>
        <p:spPr>
          <a:xfrm>
            <a:off x="384313" y="357809"/>
            <a:ext cx="8534400" cy="6321287"/>
          </a:xfrm>
          <a:prstGeom prst="rect">
            <a:avLst/>
          </a:prstGeom>
        </p:spPr>
      </p:pic>
    </p:spTree>
    <p:extLst>
      <p:ext uri="{BB962C8B-B14F-4D97-AF65-F5344CB8AC3E}">
        <p14:creationId xmlns:p14="http://schemas.microsoft.com/office/powerpoint/2010/main" val="3747899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2D9FDB-A2E6-4720-BADD-786275863F15}"/>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xmlns="" id="{36520EA4-D753-4CFC-BFC2-6F67BD100C79}"/>
              </a:ext>
            </a:extLst>
          </p:cNvPr>
          <p:cNvSpPr>
            <a:spLocks noGrp="1"/>
          </p:cNvSpPr>
          <p:nvPr>
            <p:ph idx="1"/>
          </p:nvPr>
        </p:nvSpPr>
        <p:spPr/>
        <p:txBody>
          <a:bodyPr>
            <a:noAutofit/>
          </a:bodyPr>
          <a:lstStyle/>
          <a:p>
            <a:pPr algn="l"/>
            <a:r>
              <a:rPr lang="en-US" sz="2400" b="0" i="0" u="none" strike="noStrike" baseline="0" dirty="0"/>
              <a:t>Note that AD (Left) contains 101 and AD (Right) contains 100. Putting these two together and applying sign extension, we obtain 1111111111101100, which represents -20 in 2s complement.</a:t>
            </a:r>
          </a:p>
          <a:p>
            <a:pPr algn="l"/>
            <a:r>
              <a:rPr lang="en-US" sz="2400" b="0" i="0" u="none" strike="noStrike" baseline="0" dirty="0"/>
              <a:t>Notice our assumption that the addition to the </a:t>
            </a:r>
            <a:r>
              <a:rPr lang="en-US" sz="2400" b="0" i="1" u="none" strike="noStrike" baseline="0" dirty="0"/>
              <a:t>PC </a:t>
            </a:r>
            <a:r>
              <a:rPr lang="en-US" sz="2400" b="0" i="0" u="none" strike="noStrike" baseline="0" dirty="0"/>
              <a:t>content occurs before the </a:t>
            </a:r>
            <a:r>
              <a:rPr lang="en-US" sz="2400" b="0" i="1" u="none" strike="noStrike" baseline="0" dirty="0"/>
              <a:t>PC </a:t>
            </a:r>
            <a:r>
              <a:rPr lang="en-US" sz="2400" b="0" i="0" u="none" strike="noStrike" baseline="0" dirty="0"/>
              <a:t>has been incremented, which would be the case in the simple computer. </a:t>
            </a:r>
          </a:p>
          <a:p>
            <a:pPr algn="l"/>
            <a:r>
              <a:rPr lang="en-US" sz="2400" b="0" i="0" u="none" strike="noStrike" baseline="0" dirty="0"/>
              <a:t>In real systems, however, the </a:t>
            </a:r>
            <a:r>
              <a:rPr lang="en-US" sz="2400" b="0" i="1" u="none" strike="noStrike" baseline="0" dirty="0"/>
              <a:t>PC </a:t>
            </a:r>
            <a:r>
              <a:rPr lang="en-US" sz="2400" b="0" i="0" u="none" strike="noStrike" baseline="0" dirty="0"/>
              <a:t>has sometimes been incremented to point to the next instruction in memory. </a:t>
            </a:r>
          </a:p>
          <a:p>
            <a:pPr algn="l"/>
            <a:r>
              <a:rPr lang="en-US" sz="2400" b="0" i="0" u="none" strike="noStrike" baseline="0" dirty="0"/>
              <a:t>In such a case, the value stored in AD needs to be adjusted accordingly to obtain the right branch </a:t>
            </a:r>
            <a:r>
              <a:rPr lang="en-US" sz="2400" b="0" i="0" u="none" strike="noStrike" baseline="0" dirty="0" smtClean="0"/>
              <a:t>address.</a:t>
            </a:r>
            <a:endParaRPr lang="en-US" sz="2400" dirty="0"/>
          </a:p>
        </p:txBody>
      </p:sp>
    </p:spTree>
    <p:extLst>
      <p:ext uri="{BB962C8B-B14F-4D97-AF65-F5344CB8AC3E}">
        <p14:creationId xmlns:p14="http://schemas.microsoft.com/office/powerpoint/2010/main" val="32840403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EA5BEE-DDAB-409E-9F51-A6DB574BA3F8}"/>
              </a:ext>
            </a:extLst>
          </p:cNvPr>
          <p:cNvSpPr>
            <a:spLocks noGrp="1"/>
          </p:cNvSpPr>
          <p:nvPr>
            <p:ph type="title"/>
          </p:nvPr>
        </p:nvSpPr>
        <p:spPr/>
        <p:txBody>
          <a:bodyPr/>
          <a:lstStyle/>
          <a:p>
            <a:r>
              <a:rPr lang="en-US" dirty="0"/>
              <a:t>C.U Design Approaches</a:t>
            </a:r>
          </a:p>
        </p:txBody>
      </p:sp>
      <p:sp>
        <p:nvSpPr>
          <p:cNvPr id="3" name="Content Placeholder 2">
            <a:extLst>
              <a:ext uri="{FF2B5EF4-FFF2-40B4-BE49-F238E27FC236}">
                <a16:creationId xmlns:a16="http://schemas.microsoft.com/office/drawing/2014/main" xmlns="" id="{9CC01884-EDCA-48A1-88B7-44078E1B2856}"/>
              </a:ext>
            </a:extLst>
          </p:cNvPr>
          <p:cNvSpPr>
            <a:spLocks noGrp="1"/>
          </p:cNvSpPr>
          <p:nvPr>
            <p:ph idx="1"/>
          </p:nvPr>
        </p:nvSpPr>
        <p:spPr/>
        <p:txBody>
          <a:bodyPr>
            <a:normAutofit/>
          </a:bodyPr>
          <a:lstStyle/>
          <a:p>
            <a:r>
              <a:rPr lang="en-US" sz="2400" dirty="0"/>
              <a:t>There are two different approaches to design a control unit: </a:t>
            </a:r>
          </a:p>
          <a:p>
            <a:pPr marL="0" indent="0">
              <a:buNone/>
            </a:pPr>
            <a:r>
              <a:rPr lang="en-US" sz="2400" dirty="0"/>
              <a:t>	</a:t>
            </a:r>
          </a:p>
          <a:p>
            <a:pPr>
              <a:buFont typeface="Wingdings" panose="05000000000000000000" pitchFamily="2" charset="2"/>
              <a:buChar char="Ø"/>
            </a:pPr>
            <a:r>
              <a:rPr lang="en-US" sz="2400" dirty="0"/>
              <a:t>	</a:t>
            </a:r>
            <a:r>
              <a:rPr lang="en-US" sz="2400" dirty="0">
                <a:solidFill>
                  <a:srgbClr val="FF0000"/>
                </a:solidFill>
              </a:rPr>
              <a:t> A Hardwired Control Unit</a:t>
            </a:r>
          </a:p>
          <a:p>
            <a:pPr>
              <a:buFont typeface="Wingdings" panose="05000000000000000000" pitchFamily="2" charset="2"/>
              <a:buChar char="Ø"/>
            </a:pPr>
            <a:r>
              <a:rPr lang="en-US" sz="2400" dirty="0">
                <a:solidFill>
                  <a:srgbClr val="FF0000"/>
                </a:solidFill>
              </a:rPr>
              <a:t>	 Microprogrammed Control Unit</a:t>
            </a:r>
          </a:p>
          <a:p>
            <a:pPr marL="0" indent="0">
              <a:buNone/>
            </a:pPr>
            <a:endParaRPr lang="en-US" sz="2400" dirty="0"/>
          </a:p>
        </p:txBody>
      </p:sp>
    </p:spTree>
    <p:extLst>
      <p:ext uri="{BB962C8B-B14F-4D97-AF65-F5344CB8AC3E}">
        <p14:creationId xmlns:p14="http://schemas.microsoft.com/office/powerpoint/2010/main" val="4142257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5DFED0-A7B4-4A1A-827E-52DE8339BAA9}"/>
              </a:ext>
            </a:extLst>
          </p:cNvPr>
          <p:cNvSpPr>
            <a:spLocks noGrp="1"/>
          </p:cNvSpPr>
          <p:nvPr>
            <p:ph type="title"/>
          </p:nvPr>
        </p:nvSpPr>
        <p:spPr/>
        <p:txBody>
          <a:bodyPr>
            <a:normAutofit/>
          </a:bodyPr>
          <a:lstStyle/>
          <a:p>
            <a:r>
              <a:rPr lang="en-US" sz="4000" b="1" dirty="0"/>
              <a:t>SINGLE-CYCLE HARDWIRED CONTROL</a:t>
            </a:r>
            <a:endParaRPr lang="en-US" sz="4000" dirty="0"/>
          </a:p>
        </p:txBody>
      </p:sp>
      <p:sp>
        <p:nvSpPr>
          <p:cNvPr id="3" name="Content Placeholder 2">
            <a:extLst>
              <a:ext uri="{FF2B5EF4-FFF2-40B4-BE49-F238E27FC236}">
                <a16:creationId xmlns:a16="http://schemas.microsoft.com/office/drawing/2014/main" xmlns="" id="{2DB97655-0E6A-4138-A0E9-5F59DE5BD014}"/>
              </a:ext>
            </a:extLst>
          </p:cNvPr>
          <p:cNvSpPr>
            <a:spLocks noGrp="1"/>
          </p:cNvSpPr>
          <p:nvPr>
            <p:ph idx="1"/>
          </p:nvPr>
        </p:nvSpPr>
        <p:spPr/>
        <p:txBody>
          <a:bodyPr>
            <a:normAutofit/>
          </a:bodyPr>
          <a:lstStyle/>
          <a:p>
            <a:r>
              <a:rPr lang="en-US" sz="2400" dirty="0"/>
              <a:t>The single-cycle computer is a computer that has a hardwired control unit that fetches and executes an instruction in a single clock cycle.</a:t>
            </a:r>
          </a:p>
          <a:p>
            <a:pPr algn="l"/>
            <a:r>
              <a:rPr lang="en-US" sz="2400" b="0" i="0" u="none" strike="noStrike" baseline="0" dirty="0"/>
              <a:t>The Datapath has </a:t>
            </a:r>
            <a:r>
              <a:rPr lang="en-US" sz="2400" b="0" i="1" u="none" strike="noStrike" baseline="0" dirty="0"/>
              <a:t>m </a:t>
            </a:r>
            <a:r>
              <a:rPr lang="en-US" sz="2400" b="0" i="0" u="none" strike="noStrike" baseline="0" dirty="0"/>
              <a:t>= 3 (register file is 8 registers) and </a:t>
            </a:r>
            <a:r>
              <a:rPr lang="en-US" sz="2400" b="0" i="1" u="none" strike="noStrike" baseline="0" dirty="0"/>
              <a:t>n </a:t>
            </a:r>
            <a:r>
              <a:rPr lang="en-US" sz="2400" b="0" i="0" u="none" strike="noStrike" baseline="0" dirty="0"/>
              <a:t>= 16.</a:t>
            </a:r>
          </a:p>
          <a:p>
            <a:pPr algn="l"/>
            <a:r>
              <a:rPr lang="en-US" sz="2400" b="0" i="0" u="none" strike="noStrike" baseline="0" dirty="0"/>
              <a:t>The data memory </a:t>
            </a:r>
            <a:r>
              <a:rPr lang="en-US" sz="2400" b="0" i="1" u="none" strike="noStrike" baseline="0" dirty="0"/>
              <a:t>M </a:t>
            </a:r>
            <a:r>
              <a:rPr lang="en-US" sz="2400" b="0" i="0" u="none" strike="noStrike" baseline="0" dirty="0"/>
              <a:t>is attached to the Address out, Data out, and Data in by </a:t>
            </a:r>
            <a:r>
              <a:rPr lang="en-US" sz="2400" dirty="0"/>
              <a:t>connections to the datapath.</a:t>
            </a:r>
          </a:p>
          <a:p>
            <a:pPr algn="l"/>
            <a:r>
              <a:rPr lang="en-US" sz="2400" dirty="0"/>
              <a:t> It has a single control signal MW, which is 1 to write the memory, and 0 otherwise.</a:t>
            </a:r>
          </a:p>
          <a:p>
            <a:pPr marL="0" indent="0">
              <a:buNone/>
            </a:pPr>
            <a:endParaRPr lang="en-US" sz="2400" dirty="0"/>
          </a:p>
        </p:txBody>
      </p:sp>
    </p:spTree>
    <p:extLst>
      <p:ext uri="{BB962C8B-B14F-4D97-AF65-F5344CB8AC3E}">
        <p14:creationId xmlns:p14="http://schemas.microsoft.com/office/powerpoint/2010/main" val="3902360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2446091C-5ADA-4608-810D-885D22E97B6A}"/>
              </a:ext>
            </a:extLst>
          </p:cNvPr>
          <p:cNvPicPr>
            <a:picLocks noChangeAspect="1"/>
          </p:cNvPicPr>
          <p:nvPr/>
        </p:nvPicPr>
        <p:blipFill>
          <a:blip r:embed="rId2"/>
          <a:stretch>
            <a:fillRect/>
          </a:stretch>
        </p:blipFill>
        <p:spPr>
          <a:xfrm>
            <a:off x="384313" y="225288"/>
            <a:ext cx="8295861" cy="6480312"/>
          </a:xfrm>
          <a:prstGeom prst="rect">
            <a:avLst/>
          </a:prstGeom>
        </p:spPr>
      </p:pic>
    </p:spTree>
    <p:extLst>
      <p:ext uri="{BB962C8B-B14F-4D97-AF65-F5344CB8AC3E}">
        <p14:creationId xmlns:p14="http://schemas.microsoft.com/office/powerpoint/2010/main" val="38895934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E7F46C-9282-42EF-9DA4-8D4BCF41B6E9}"/>
              </a:ext>
            </a:extLst>
          </p:cNvPr>
          <p:cNvSpPr>
            <a:spLocks noGrp="1"/>
          </p:cNvSpPr>
          <p:nvPr>
            <p:ph type="title"/>
          </p:nvPr>
        </p:nvSpPr>
        <p:spPr>
          <a:xfrm>
            <a:off x="628650" y="440282"/>
            <a:ext cx="7886700" cy="799795"/>
          </a:xfrm>
        </p:spPr>
        <p:txBody>
          <a:bodyPr/>
          <a:lstStyle/>
          <a:p>
            <a:r>
              <a:rPr lang="en-US" b="1" dirty="0"/>
              <a:t>Cont</a:t>
            </a:r>
            <a:r>
              <a:rPr lang="en-US" dirty="0"/>
              <a:t>.</a:t>
            </a:r>
          </a:p>
        </p:txBody>
      </p:sp>
      <p:sp>
        <p:nvSpPr>
          <p:cNvPr id="3" name="Content Placeholder 2">
            <a:extLst>
              <a:ext uri="{FF2B5EF4-FFF2-40B4-BE49-F238E27FC236}">
                <a16:creationId xmlns:a16="http://schemas.microsoft.com/office/drawing/2014/main" xmlns="" id="{23702BED-D456-4F8A-BEDA-1AD6A0BB74BA}"/>
              </a:ext>
            </a:extLst>
          </p:cNvPr>
          <p:cNvSpPr>
            <a:spLocks noGrp="1"/>
          </p:cNvSpPr>
          <p:nvPr>
            <p:ph idx="1"/>
          </p:nvPr>
        </p:nvSpPr>
        <p:spPr>
          <a:xfrm>
            <a:off x="628650" y="1562578"/>
            <a:ext cx="7886700" cy="4863274"/>
          </a:xfrm>
        </p:spPr>
        <p:txBody>
          <a:bodyPr>
            <a:noAutofit/>
          </a:bodyPr>
          <a:lstStyle/>
          <a:p>
            <a:r>
              <a:rPr lang="en-US" sz="2400" dirty="0"/>
              <a:t>The Control unit appears on the left.</a:t>
            </a:r>
          </a:p>
          <a:p>
            <a:r>
              <a:rPr lang="en-US" sz="2400" dirty="0" smtClean="0"/>
              <a:t>The </a:t>
            </a:r>
            <a:r>
              <a:rPr lang="en-US" sz="2400" dirty="0"/>
              <a:t>instruction memory, together with its address inputs and instruction outputs, is shown for convenience within the control unit.</a:t>
            </a:r>
          </a:p>
          <a:p>
            <a:r>
              <a:rPr lang="en-US" sz="2400" dirty="0"/>
              <a:t>We do not write to the instruction memory during the execution of a program.</a:t>
            </a:r>
          </a:p>
          <a:p>
            <a:r>
              <a:rPr lang="en-US" sz="2400" dirty="0"/>
              <a:t>The </a:t>
            </a:r>
            <a:r>
              <a:rPr lang="en-US" sz="2400" i="1" dirty="0"/>
              <a:t>PC </a:t>
            </a:r>
            <a:r>
              <a:rPr lang="en-US" sz="2400" dirty="0"/>
              <a:t>provides the instruction address to the instruction memory, and the instruction output from the instruction memory goes to the control logic, which in this case is the </a:t>
            </a:r>
            <a:r>
              <a:rPr lang="en-US" sz="2400" b="1" dirty="0">
                <a:solidFill>
                  <a:srgbClr val="FF0000"/>
                </a:solidFill>
              </a:rPr>
              <a:t>instruction decoder</a:t>
            </a:r>
            <a:r>
              <a:rPr lang="en-US" sz="2400" dirty="0"/>
              <a:t>.</a:t>
            </a:r>
          </a:p>
          <a:p>
            <a:pPr marL="0" indent="0">
              <a:buNone/>
            </a:pPr>
            <a:endParaRPr lang="en-US" sz="2400" dirty="0"/>
          </a:p>
        </p:txBody>
      </p:sp>
    </p:spTree>
    <p:extLst>
      <p:ext uri="{BB962C8B-B14F-4D97-AF65-F5344CB8AC3E}">
        <p14:creationId xmlns:p14="http://schemas.microsoft.com/office/powerpoint/2010/main" val="27579406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4DD122-B8D2-48A9-A190-CB9BF907C697}"/>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xmlns="" id="{BF900E86-CD01-442A-9AA1-F2655F443323}"/>
              </a:ext>
            </a:extLst>
          </p:cNvPr>
          <p:cNvSpPr>
            <a:spLocks noGrp="1"/>
          </p:cNvSpPr>
          <p:nvPr>
            <p:ph idx="1"/>
          </p:nvPr>
        </p:nvSpPr>
        <p:spPr/>
        <p:txBody>
          <a:bodyPr>
            <a:normAutofit lnSpcReduction="10000"/>
          </a:bodyPr>
          <a:lstStyle/>
          <a:p>
            <a:r>
              <a:rPr lang="en-US" sz="2400" dirty="0"/>
              <a:t> If a jump occurs, the new PC value becomes the value on Bus A ( PC </a:t>
            </a:r>
            <a:r>
              <a:rPr lang="en-US" sz="2400" dirty="0">
                <a:sym typeface="Wingdings" panose="05000000000000000000" pitchFamily="2" charset="2"/>
              </a:rPr>
              <a:t> R[SA]</a:t>
            </a:r>
            <a:r>
              <a:rPr lang="en-US" sz="2400" dirty="0"/>
              <a:t>. </a:t>
            </a:r>
          </a:p>
          <a:p>
            <a:r>
              <a:rPr lang="en-US" sz="2400" dirty="0"/>
              <a:t>If a branch is taken, then the new PC value is the sum of the previous PC value and the sign-extended address offset</a:t>
            </a:r>
            <a:r>
              <a:rPr lang="en-US" sz="2400" dirty="0" smtClean="0"/>
              <a:t>.</a:t>
            </a:r>
            <a:endParaRPr lang="en-US" sz="2400" dirty="0" smtClean="0"/>
          </a:p>
          <a:p>
            <a:r>
              <a:rPr lang="en-US" sz="2400" dirty="0" smtClean="0"/>
              <a:t>The </a:t>
            </a:r>
            <a:r>
              <a:rPr lang="en-US" sz="2400" dirty="0"/>
              <a:t>output from the instruction memory also goes to </a:t>
            </a:r>
            <a:r>
              <a:rPr lang="en-US" sz="2400" dirty="0">
                <a:solidFill>
                  <a:srgbClr val="FF0000"/>
                </a:solidFill>
              </a:rPr>
              <a:t>Extend</a:t>
            </a:r>
            <a:r>
              <a:rPr lang="en-US" sz="2400" dirty="0"/>
              <a:t> and </a:t>
            </a:r>
            <a:r>
              <a:rPr lang="en-US" sz="2400" dirty="0">
                <a:solidFill>
                  <a:srgbClr val="FF0000"/>
                </a:solidFill>
              </a:rPr>
              <a:t>Zero fill</a:t>
            </a:r>
            <a:r>
              <a:rPr lang="en-US" sz="2400" dirty="0"/>
              <a:t>, which provide the address offset to the </a:t>
            </a:r>
            <a:r>
              <a:rPr lang="en-US" sz="2400" i="1" dirty="0"/>
              <a:t>PC </a:t>
            </a:r>
            <a:r>
              <a:rPr lang="en-US" sz="2400" dirty="0"/>
              <a:t>and the constant input.</a:t>
            </a:r>
          </a:p>
          <a:p>
            <a:r>
              <a:rPr lang="en-US" sz="2400" dirty="0"/>
              <a:t>The </a:t>
            </a:r>
            <a:r>
              <a:rPr lang="en-US" sz="2400" i="1" dirty="0"/>
              <a:t>PC </a:t>
            </a:r>
            <a:r>
              <a:rPr lang="en-US" sz="2400" dirty="0"/>
              <a:t>is updated in each clock cycle.</a:t>
            </a:r>
          </a:p>
          <a:p>
            <a:r>
              <a:rPr lang="en-US" sz="2400" dirty="0"/>
              <a:t>The behavior of the </a:t>
            </a:r>
            <a:r>
              <a:rPr lang="en-US" sz="2400" i="1" dirty="0"/>
              <a:t>PC</a:t>
            </a:r>
            <a:r>
              <a:rPr lang="en-US" sz="2400" dirty="0"/>
              <a:t> is determined by the opcode</a:t>
            </a:r>
            <a:r>
              <a:rPr lang="en-US" sz="2400" dirty="0">
                <a:solidFill>
                  <a:srgbClr val="FF0000"/>
                </a:solidFill>
              </a:rPr>
              <a:t>, </a:t>
            </a:r>
            <a:r>
              <a:rPr lang="en-US" sz="2400" i="1" dirty="0">
                <a:solidFill>
                  <a:srgbClr val="FF0000"/>
                </a:solidFill>
              </a:rPr>
              <a:t>N</a:t>
            </a:r>
            <a:r>
              <a:rPr lang="en-US" sz="2400" dirty="0"/>
              <a:t>, and </a:t>
            </a:r>
            <a:r>
              <a:rPr lang="en-US" sz="2400" i="1" dirty="0">
                <a:solidFill>
                  <a:srgbClr val="FF0000"/>
                </a:solidFill>
              </a:rPr>
              <a:t>Z</a:t>
            </a:r>
            <a:r>
              <a:rPr lang="en-US" sz="2400" dirty="0"/>
              <a:t>, since </a:t>
            </a:r>
            <a:r>
              <a:rPr lang="en-US" sz="2400" i="1" dirty="0"/>
              <a:t>C </a:t>
            </a:r>
            <a:r>
              <a:rPr lang="en-US" sz="2400" dirty="0"/>
              <a:t>and </a:t>
            </a:r>
            <a:r>
              <a:rPr lang="en-US" sz="2400" i="1" dirty="0"/>
              <a:t>V </a:t>
            </a:r>
            <a:r>
              <a:rPr lang="en-US" sz="2400" dirty="0"/>
              <a:t>are not used in this control-unit design. </a:t>
            </a:r>
          </a:p>
          <a:p>
            <a:r>
              <a:rPr lang="en-US" sz="2400" dirty="0"/>
              <a:t>T</a:t>
            </a:r>
            <a:r>
              <a:rPr lang="en-US" sz="2400" dirty="0" smtClean="0"/>
              <a:t>here </a:t>
            </a:r>
            <a:r>
              <a:rPr lang="en-US" sz="2400" dirty="0"/>
              <a:t>is no sequential logic in the control part other than the </a:t>
            </a:r>
            <a:r>
              <a:rPr lang="en-US" sz="2400" i="1" dirty="0"/>
              <a:t>PC</a:t>
            </a:r>
            <a:r>
              <a:rPr lang="en-US" sz="2400" dirty="0"/>
              <a:t>.</a:t>
            </a:r>
          </a:p>
        </p:txBody>
      </p:sp>
    </p:spTree>
    <p:extLst>
      <p:ext uri="{BB962C8B-B14F-4D97-AF65-F5344CB8AC3E}">
        <p14:creationId xmlns:p14="http://schemas.microsoft.com/office/powerpoint/2010/main" val="3582643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291968-5B0F-4276-B467-2BD635FAF755}"/>
              </a:ext>
            </a:extLst>
          </p:cNvPr>
          <p:cNvSpPr>
            <a:spLocks noGrp="1"/>
          </p:cNvSpPr>
          <p:nvPr>
            <p:ph type="title"/>
          </p:nvPr>
        </p:nvSpPr>
        <p:spPr/>
        <p:txBody>
          <a:bodyPr/>
          <a:lstStyle/>
          <a:p>
            <a:r>
              <a:rPr lang="en-US" b="1" dirty="0"/>
              <a:t>Instruction Decoder </a:t>
            </a:r>
            <a:endParaRPr lang="en-US" dirty="0"/>
          </a:p>
        </p:txBody>
      </p:sp>
      <p:sp>
        <p:nvSpPr>
          <p:cNvPr id="3" name="Content Placeholder 2">
            <a:extLst>
              <a:ext uri="{FF2B5EF4-FFF2-40B4-BE49-F238E27FC236}">
                <a16:creationId xmlns:a16="http://schemas.microsoft.com/office/drawing/2014/main" xmlns="" id="{A47F3A84-6B73-4EFA-A516-6F8F681F3A1E}"/>
              </a:ext>
            </a:extLst>
          </p:cNvPr>
          <p:cNvSpPr>
            <a:spLocks noGrp="1"/>
          </p:cNvSpPr>
          <p:nvPr>
            <p:ph idx="1"/>
          </p:nvPr>
        </p:nvSpPr>
        <p:spPr/>
        <p:txBody>
          <a:bodyPr/>
          <a:lstStyle/>
          <a:p>
            <a:r>
              <a:rPr lang="en-US" dirty="0"/>
              <a:t>The instruction decoder is a combinational circuit that provides all of the control words for the datapath, based on the contents of the fields of the instruction.</a:t>
            </a:r>
          </a:p>
          <a:p>
            <a:r>
              <a:rPr lang="en-US" dirty="0"/>
              <a:t>The following figure shows the Truth table for Instruction Decoder.</a:t>
            </a:r>
          </a:p>
          <a:p>
            <a:pPr marL="0" indent="0">
              <a:buNone/>
            </a:pPr>
            <a:endParaRPr lang="en-US" dirty="0"/>
          </a:p>
        </p:txBody>
      </p:sp>
    </p:spTree>
    <p:extLst>
      <p:ext uri="{BB962C8B-B14F-4D97-AF65-F5344CB8AC3E}">
        <p14:creationId xmlns:p14="http://schemas.microsoft.com/office/powerpoint/2010/main" val="10742897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7BA892D0-DBC3-46FC-8E4B-907770941A1F}"/>
              </a:ext>
            </a:extLst>
          </p:cNvPr>
          <p:cNvPicPr>
            <a:picLocks noChangeAspect="1"/>
          </p:cNvPicPr>
          <p:nvPr/>
        </p:nvPicPr>
        <p:blipFill>
          <a:blip r:embed="rId2"/>
          <a:stretch>
            <a:fillRect/>
          </a:stretch>
        </p:blipFill>
        <p:spPr>
          <a:xfrm>
            <a:off x="304800" y="410817"/>
            <a:ext cx="8415130" cy="6122505"/>
          </a:xfrm>
          <a:prstGeom prst="rect">
            <a:avLst/>
          </a:prstGeom>
        </p:spPr>
      </p:pic>
    </p:spTree>
    <p:extLst>
      <p:ext uri="{BB962C8B-B14F-4D97-AF65-F5344CB8AC3E}">
        <p14:creationId xmlns:p14="http://schemas.microsoft.com/office/powerpoint/2010/main" val="331790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58EE9559-2DDA-4311-9BBF-3E5F8EC7C6BE}"/>
              </a:ext>
            </a:extLst>
          </p:cNvPr>
          <p:cNvPicPr>
            <a:picLocks noChangeAspect="1"/>
          </p:cNvPicPr>
          <p:nvPr/>
        </p:nvPicPr>
        <p:blipFill>
          <a:blip r:embed="rId2"/>
          <a:stretch>
            <a:fillRect/>
          </a:stretch>
        </p:blipFill>
        <p:spPr>
          <a:xfrm>
            <a:off x="331304" y="371061"/>
            <a:ext cx="8494644" cy="6241774"/>
          </a:xfrm>
          <a:prstGeom prst="rect">
            <a:avLst/>
          </a:prstGeom>
        </p:spPr>
      </p:pic>
    </p:spTree>
    <p:extLst>
      <p:ext uri="{BB962C8B-B14F-4D97-AF65-F5344CB8AC3E}">
        <p14:creationId xmlns:p14="http://schemas.microsoft.com/office/powerpoint/2010/main" val="1723529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E855EB-BEB0-42D0-8682-8BA04D028733}"/>
              </a:ext>
            </a:extLst>
          </p:cNvPr>
          <p:cNvSpPr>
            <a:spLocks noGrp="1"/>
          </p:cNvSpPr>
          <p:nvPr>
            <p:ph type="title"/>
          </p:nvPr>
        </p:nvSpPr>
        <p:spPr/>
        <p:txBody>
          <a:bodyPr/>
          <a:lstStyle/>
          <a:p>
            <a:r>
              <a:rPr lang="en-US" b="1" dirty="0" smtClean="0"/>
              <a:t>Note</a:t>
            </a:r>
            <a:endParaRPr lang="en-US" b="1" dirty="0"/>
          </a:p>
        </p:txBody>
      </p:sp>
      <p:sp>
        <p:nvSpPr>
          <p:cNvPr id="3" name="Content Placeholder 2">
            <a:extLst>
              <a:ext uri="{FF2B5EF4-FFF2-40B4-BE49-F238E27FC236}">
                <a16:creationId xmlns:a16="http://schemas.microsoft.com/office/drawing/2014/main" xmlns="" id="{72046BD9-BDEA-43F4-892F-A5D81CDEE85B}"/>
              </a:ext>
            </a:extLst>
          </p:cNvPr>
          <p:cNvSpPr>
            <a:spLocks noGrp="1"/>
          </p:cNvSpPr>
          <p:nvPr>
            <p:ph idx="1"/>
          </p:nvPr>
        </p:nvSpPr>
        <p:spPr/>
        <p:txBody>
          <a:bodyPr>
            <a:normAutofit/>
          </a:bodyPr>
          <a:lstStyle/>
          <a:p>
            <a:r>
              <a:rPr lang="en-US" dirty="0"/>
              <a:t>T</a:t>
            </a:r>
            <a:r>
              <a:rPr lang="en-US" dirty="0" smtClean="0"/>
              <a:t>he </a:t>
            </a:r>
            <a:r>
              <a:rPr lang="en-US" dirty="0"/>
              <a:t>control-word fields DA, AA, and BA are equal to the instruction fields DR, SA, and SB, respectively.</a:t>
            </a:r>
          </a:p>
          <a:p>
            <a:r>
              <a:rPr lang="en-US" dirty="0"/>
              <a:t>Since , this design uses only two status flags, N, and Z, therefore, BC is taken from bit #9 only.</a:t>
            </a:r>
          </a:p>
          <a:p>
            <a:r>
              <a:rPr lang="en-US" dirty="0"/>
              <a:t>The bits 15:13 , are used for Instruction Function type. </a:t>
            </a:r>
          </a:p>
          <a:p>
            <a:r>
              <a:rPr lang="en-US" dirty="0"/>
              <a:t>The remaining control-word fields include datapath and data memory control bits MB, MD, RW, and MW.</a:t>
            </a:r>
          </a:p>
          <a:p>
            <a:endParaRPr lang="en-US" dirty="0"/>
          </a:p>
        </p:txBody>
      </p:sp>
    </p:spTree>
    <p:extLst>
      <p:ext uri="{BB962C8B-B14F-4D97-AF65-F5344CB8AC3E}">
        <p14:creationId xmlns:p14="http://schemas.microsoft.com/office/powerpoint/2010/main" val="26810439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76FEF8-1214-406F-9C14-24CD99A8EBC7}"/>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xmlns="" id="{03D1917D-1F61-47B5-9C95-AB3B18709ACF}"/>
              </a:ext>
            </a:extLst>
          </p:cNvPr>
          <p:cNvSpPr>
            <a:spLocks noGrp="1"/>
          </p:cNvSpPr>
          <p:nvPr>
            <p:ph idx="1"/>
          </p:nvPr>
        </p:nvSpPr>
        <p:spPr/>
        <p:txBody>
          <a:bodyPr>
            <a:noAutofit/>
          </a:bodyPr>
          <a:lstStyle/>
          <a:p>
            <a:pPr algn="l"/>
            <a:r>
              <a:rPr lang="en-US" sz="2400" b="0" i="0" u="none" strike="noStrike" baseline="0" dirty="0"/>
              <a:t>Also, control field BC for selection of the branch condition status bits is taken directly </a:t>
            </a:r>
            <a:r>
              <a:rPr lang="en-US" sz="2400" b="0" i="0" u="none" strike="noStrike" baseline="0" dirty="0" smtClean="0"/>
              <a:t>from </a:t>
            </a:r>
            <a:r>
              <a:rPr lang="en-US" sz="2400" b="0" i="0" u="none" strike="noStrike" baseline="0" dirty="0"/>
              <a:t>bit </a:t>
            </a:r>
            <a:r>
              <a:rPr lang="en-US" sz="2400" b="0" i="0" u="none" strike="noStrike" baseline="0" dirty="0" smtClean="0"/>
              <a:t>‘9’ of </a:t>
            </a:r>
            <a:r>
              <a:rPr lang="en-US" sz="2400" b="0" i="0" u="none" strike="noStrike" baseline="0" dirty="0"/>
              <a:t>Opcode. </a:t>
            </a:r>
          </a:p>
          <a:p>
            <a:r>
              <a:rPr lang="en-US" sz="2400" dirty="0"/>
              <a:t>There are two added bits for the control of the </a:t>
            </a:r>
            <a:r>
              <a:rPr lang="en-US" sz="2400" i="1" dirty="0"/>
              <a:t>PC</a:t>
            </a:r>
            <a:r>
              <a:rPr lang="en-US" sz="2400" dirty="0"/>
              <a:t>: PL and JB.</a:t>
            </a:r>
          </a:p>
          <a:p>
            <a:r>
              <a:rPr lang="en-US" sz="2400" dirty="0"/>
              <a:t>If there is to be a jump or branch, PL = 1, loading the </a:t>
            </a:r>
            <a:r>
              <a:rPr lang="en-US" sz="2400" i="1" dirty="0"/>
              <a:t>PC</a:t>
            </a:r>
            <a:r>
              <a:rPr lang="en-US" sz="2400" dirty="0"/>
              <a:t>. </a:t>
            </a:r>
          </a:p>
          <a:p>
            <a:r>
              <a:rPr lang="en-US" sz="2400" dirty="0"/>
              <a:t>For PL = 0, the </a:t>
            </a:r>
            <a:r>
              <a:rPr lang="en-US" sz="2400" i="1" dirty="0"/>
              <a:t>PC </a:t>
            </a:r>
            <a:r>
              <a:rPr lang="en-US" sz="2400" dirty="0"/>
              <a:t>is incremented.</a:t>
            </a:r>
          </a:p>
          <a:p>
            <a:r>
              <a:rPr lang="en-US" sz="2400" dirty="0"/>
              <a:t> With PL = 1, JB = 1 calls for a jump, and JB = 0 calls for a conditional branch.</a:t>
            </a:r>
          </a:p>
        </p:txBody>
      </p:sp>
    </p:spTree>
    <p:extLst>
      <p:ext uri="{BB962C8B-B14F-4D97-AF65-F5344CB8AC3E}">
        <p14:creationId xmlns:p14="http://schemas.microsoft.com/office/powerpoint/2010/main" val="121102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15D5EB-2897-4F24-A50F-5ED074637096}"/>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xmlns="" id="{C874BC40-FD2A-414E-BD49-B19AFC530722}"/>
              </a:ext>
            </a:extLst>
          </p:cNvPr>
          <p:cNvSpPr>
            <a:spLocks noGrp="1"/>
          </p:cNvSpPr>
          <p:nvPr>
            <p:ph idx="1"/>
          </p:nvPr>
        </p:nvSpPr>
        <p:spPr/>
        <p:txBody>
          <a:bodyPr/>
          <a:lstStyle/>
          <a:p>
            <a:r>
              <a:rPr lang="en-US" dirty="0"/>
              <a:t>From the Truth table, and by minimization:</a:t>
            </a:r>
          </a:p>
          <a:p>
            <a:pPr marL="0" indent="0">
              <a:buNone/>
            </a:pPr>
            <a:r>
              <a:rPr lang="en-US" dirty="0"/>
              <a:t>	- PL = Bit #15 AND Bit #14</a:t>
            </a:r>
          </a:p>
          <a:p>
            <a:pPr marL="0" indent="0">
              <a:buNone/>
            </a:pPr>
            <a:r>
              <a:rPr lang="en-US" dirty="0"/>
              <a:t>	- JB = Bit # 13</a:t>
            </a:r>
          </a:p>
          <a:p>
            <a:pPr marL="0" indent="0">
              <a:buNone/>
            </a:pPr>
            <a:r>
              <a:rPr lang="en-US" dirty="0"/>
              <a:t>	- MB = Bit # 15</a:t>
            </a:r>
          </a:p>
          <a:p>
            <a:pPr marL="0" indent="0">
              <a:buNone/>
            </a:pPr>
            <a:r>
              <a:rPr lang="en-US" dirty="0"/>
              <a:t>	- MD = Bit </a:t>
            </a:r>
            <a:r>
              <a:rPr lang="en-US"/>
              <a:t># 13</a:t>
            </a:r>
            <a:endParaRPr lang="en-US" dirty="0"/>
          </a:p>
          <a:p>
            <a:pPr marL="0" indent="0">
              <a:buNone/>
            </a:pPr>
            <a:r>
              <a:rPr lang="en-US" dirty="0"/>
              <a:t>	- MW =  Bit # 14 AND NOT( Bit # 15)</a:t>
            </a:r>
          </a:p>
          <a:p>
            <a:pPr marL="0" indent="0">
              <a:buNone/>
            </a:pPr>
            <a:r>
              <a:rPr lang="en-US" dirty="0"/>
              <a:t>	- RW = NOT ( Bit # 14)</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8719050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7BA892D0-DBC3-46FC-8E4B-907770941A1F}"/>
              </a:ext>
            </a:extLst>
          </p:cNvPr>
          <p:cNvPicPr>
            <a:picLocks noChangeAspect="1"/>
          </p:cNvPicPr>
          <p:nvPr/>
        </p:nvPicPr>
        <p:blipFill>
          <a:blip r:embed="rId2"/>
          <a:stretch>
            <a:fillRect/>
          </a:stretch>
        </p:blipFill>
        <p:spPr>
          <a:xfrm>
            <a:off x="304800" y="410817"/>
            <a:ext cx="8415130" cy="6122505"/>
          </a:xfrm>
          <a:prstGeom prst="rect">
            <a:avLst/>
          </a:prstGeom>
        </p:spPr>
      </p:pic>
    </p:spTree>
    <p:extLst>
      <p:ext uri="{BB962C8B-B14F-4D97-AF65-F5344CB8AC3E}">
        <p14:creationId xmlns:p14="http://schemas.microsoft.com/office/powerpoint/2010/main" val="39711270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484DA48-B434-4080-9CEA-A479598A7B98}"/>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xmlns="" id="{FACC4530-DD2B-42BB-B551-77BF082CC3EF}"/>
              </a:ext>
            </a:extLst>
          </p:cNvPr>
          <p:cNvSpPr>
            <a:spLocks noGrp="1"/>
          </p:cNvSpPr>
          <p:nvPr>
            <p:ph idx="1"/>
          </p:nvPr>
        </p:nvSpPr>
        <p:spPr/>
        <p:txBody>
          <a:bodyPr>
            <a:normAutofit/>
          </a:bodyPr>
          <a:lstStyle/>
          <a:p>
            <a:r>
              <a:rPr lang="en-US" dirty="0"/>
              <a:t>The remaining logic in the decoder deals with the FS field. </a:t>
            </a:r>
          </a:p>
          <a:p>
            <a:r>
              <a:rPr lang="en-US" dirty="0"/>
              <a:t>For all but the conditional branch and unconditional jump instructions, bits 9 through 12 are fed directly through to form the FS field.</a:t>
            </a:r>
          </a:p>
          <a:p>
            <a:r>
              <a:rPr lang="en-US" dirty="0"/>
              <a:t> During conditional branch operations, such as Branch on Zero, the value in source register </a:t>
            </a:r>
            <a:r>
              <a:rPr lang="en-US" i="1" dirty="0"/>
              <a:t>A </a:t>
            </a:r>
            <a:r>
              <a:rPr lang="en-US" dirty="0"/>
              <a:t>must be passed through the ALU so that the status bits </a:t>
            </a:r>
            <a:r>
              <a:rPr lang="en-US" i="1" dirty="0"/>
              <a:t>N </a:t>
            </a:r>
            <a:r>
              <a:rPr lang="en-US" dirty="0"/>
              <a:t>and </a:t>
            </a:r>
            <a:r>
              <a:rPr lang="en-US" i="1" dirty="0"/>
              <a:t>Z </a:t>
            </a:r>
            <a:r>
              <a:rPr lang="en-US" dirty="0"/>
              <a:t>can be evaluated. This requires FS = 0000.</a:t>
            </a:r>
          </a:p>
        </p:txBody>
      </p:sp>
    </p:spTree>
    <p:extLst>
      <p:ext uri="{BB962C8B-B14F-4D97-AF65-F5344CB8AC3E}">
        <p14:creationId xmlns:p14="http://schemas.microsoft.com/office/powerpoint/2010/main" val="31443224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E6297750-3F47-4047-94E6-F42E870DD59B}"/>
              </a:ext>
            </a:extLst>
          </p:cNvPr>
          <p:cNvPicPr>
            <a:picLocks noChangeAspect="1"/>
          </p:cNvPicPr>
          <p:nvPr/>
        </p:nvPicPr>
        <p:blipFill>
          <a:blip r:embed="rId2"/>
          <a:stretch>
            <a:fillRect/>
          </a:stretch>
        </p:blipFill>
        <p:spPr>
          <a:xfrm>
            <a:off x="397564" y="304800"/>
            <a:ext cx="8428383" cy="6255026"/>
          </a:xfrm>
          <a:prstGeom prst="rect">
            <a:avLst/>
          </a:prstGeom>
        </p:spPr>
      </p:pic>
    </p:spTree>
    <p:extLst>
      <p:ext uri="{BB962C8B-B14F-4D97-AF65-F5344CB8AC3E}">
        <p14:creationId xmlns:p14="http://schemas.microsoft.com/office/powerpoint/2010/main" val="8117880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757883-D421-4C6C-9A93-DC12DD0FEFD2}"/>
              </a:ext>
            </a:extLst>
          </p:cNvPr>
          <p:cNvSpPr>
            <a:spLocks noGrp="1"/>
          </p:cNvSpPr>
          <p:nvPr>
            <p:ph type="title"/>
          </p:nvPr>
        </p:nvSpPr>
        <p:spPr>
          <a:xfrm>
            <a:off x="628650" y="365126"/>
            <a:ext cx="7886700" cy="774561"/>
          </a:xfrm>
        </p:spPr>
        <p:txBody>
          <a:bodyPr/>
          <a:lstStyle/>
          <a:p>
            <a:r>
              <a:rPr lang="en-US" b="1" dirty="0"/>
              <a:t>Sample Instructions and Program</a:t>
            </a:r>
            <a:endParaRPr lang="en-US" dirty="0"/>
          </a:p>
        </p:txBody>
      </p:sp>
      <p:sp>
        <p:nvSpPr>
          <p:cNvPr id="6" name="Content Placeholder 5">
            <a:extLst>
              <a:ext uri="{FF2B5EF4-FFF2-40B4-BE49-F238E27FC236}">
                <a16:creationId xmlns:a16="http://schemas.microsoft.com/office/drawing/2014/main" xmlns="" id="{070A4357-F269-478B-9092-CB5FEDEE0C01}"/>
              </a:ext>
            </a:extLst>
          </p:cNvPr>
          <p:cNvSpPr>
            <a:spLocks noGrp="1"/>
          </p:cNvSpPr>
          <p:nvPr>
            <p:ph idx="1"/>
          </p:nvPr>
        </p:nvSpPr>
        <p:spPr/>
        <p:txBody>
          <a:bodyPr/>
          <a:lstStyle/>
          <a:p>
            <a:r>
              <a:rPr lang="en-US" dirty="0"/>
              <a:t>Set of instructions for the single-cycle computer are listed in the following Table.</a:t>
            </a:r>
          </a:p>
          <a:p>
            <a:r>
              <a:rPr lang="en-US" dirty="0"/>
              <a:t>The rightmost six columns of the table show critical control-signal values for each instruction.</a:t>
            </a:r>
          </a:p>
        </p:txBody>
      </p:sp>
    </p:spTree>
    <p:extLst>
      <p:ext uri="{BB962C8B-B14F-4D97-AF65-F5344CB8AC3E}">
        <p14:creationId xmlns:p14="http://schemas.microsoft.com/office/powerpoint/2010/main" val="23303663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xmlns="" id="{56C3EADE-FB70-4CF8-9773-B9B29A3A55CB}"/>
              </a:ext>
            </a:extLst>
          </p:cNvPr>
          <p:cNvPicPr>
            <a:picLocks noChangeAspect="1"/>
          </p:cNvPicPr>
          <p:nvPr/>
        </p:nvPicPr>
        <p:blipFill>
          <a:blip r:embed="rId2"/>
          <a:stretch>
            <a:fillRect/>
          </a:stretch>
        </p:blipFill>
        <p:spPr>
          <a:xfrm>
            <a:off x="132523" y="331304"/>
            <a:ext cx="8905460" cy="6321287"/>
          </a:xfrm>
          <a:prstGeom prst="rect">
            <a:avLst/>
          </a:prstGeom>
        </p:spPr>
      </p:pic>
    </p:spTree>
    <p:extLst>
      <p:ext uri="{BB962C8B-B14F-4D97-AF65-F5344CB8AC3E}">
        <p14:creationId xmlns:p14="http://schemas.microsoft.com/office/powerpoint/2010/main" val="20455038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73F53A-8D7D-466F-A366-65CD7C0A5225}"/>
              </a:ext>
            </a:extLst>
          </p:cNvPr>
          <p:cNvSpPr>
            <a:spLocks noGrp="1"/>
          </p:cNvSpPr>
          <p:nvPr>
            <p:ph type="title"/>
          </p:nvPr>
        </p:nvSpPr>
        <p:spPr/>
        <p:txBody>
          <a:bodyPr/>
          <a:lstStyle/>
          <a:p>
            <a:r>
              <a:rPr lang="en-US" dirty="0"/>
              <a:t>Sheet</a:t>
            </a:r>
          </a:p>
        </p:txBody>
      </p:sp>
      <p:sp>
        <p:nvSpPr>
          <p:cNvPr id="3" name="Content Placeholder 2">
            <a:extLst>
              <a:ext uri="{FF2B5EF4-FFF2-40B4-BE49-F238E27FC236}">
                <a16:creationId xmlns:a16="http://schemas.microsoft.com/office/drawing/2014/main" xmlns="" id="{082E7497-2A78-4521-970F-49E5E6F90491}"/>
              </a:ext>
            </a:extLst>
          </p:cNvPr>
          <p:cNvSpPr>
            <a:spLocks noGrp="1"/>
          </p:cNvSpPr>
          <p:nvPr>
            <p:ph idx="1"/>
          </p:nvPr>
        </p:nvSpPr>
        <p:spPr/>
        <p:txBody>
          <a:bodyPr/>
          <a:lstStyle/>
          <a:p>
            <a:r>
              <a:rPr lang="en-US" dirty="0"/>
              <a:t>Text Book</a:t>
            </a:r>
          </a:p>
        </p:txBody>
      </p:sp>
    </p:spTree>
    <p:extLst>
      <p:ext uri="{BB962C8B-B14F-4D97-AF65-F5344CB8AC3E}">
        <p14:creationId xmlns:p14="http://schemas.microsoft.com/office/powerpoint/2010/main" val="2663057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685</TotalTime>
  <Words>1878</Words>
  <Application>Microsoft Office PowerPoint</Application>
  <PresentationFormat>On-screen Show (4:3)</PresentationFormat>
  <Paragraphs>144</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Calibri</vt:lpstr>
      <vt:lpstr>Calibri Light</vt:lpstr>
      <vt:lpstr>Wingdings</vt:lpstr>
      <vt:lpstr>Office Theme</vt:lpstr>
      <vt:lpstr>Lecture 8</vt:lpstr>
      <vt:lpstr>Introduction</vt:lpstr>
      <vt:lpstr>C.U in a Programmable System</vt:lpstr>
      <vt:lpstr>Cont.,</vt:lpstr>
      <vt:lpstr>C.U In a Nonprogrammable System</vt:lpstr>
      <vt:lpstr>CU for a Simple Computer Architecture</vt:lpstr>
      <vt:lpstr>Storage Resources for a simple computer</vt:lpstr>
      <vt:lpstr>Instruction Formats</vt:lpstr>
      <vt:lpstr>Instruction formats for the simple computer (RISC)</vt:lpstr>
      <vt:lpstr>1-Register Addressing Mode</vt:lpstr>
      <vt:lpstr>2-Immediate Addressing Mode</vt:lpstr>
      <vt:lpstr>3- Jump &amp; Branch Mode</vt:lpstr>
      <vt:lpstr>Cont.,</vt:lpstr>
      <vt:lpstr>Example</vt:lpstr>
      <vt:lpstr>Instruction Specifications</vt:lpstr>
      <vt:lpstr>PowerPoint Presentation</vt:lpstr>
      <vt:lpstr>PowerPoint Presentation</vt:lpstr>
      <vt:lpstr>Note:</vt:lpstr>
      <vt:lpstr>Example</vt:lpstr>
      <vt:lpstr>PowerPoint Presentation</vt:lpstr>
      <vt:lpstr>Cont.,</vt:lpstr>
      <vt:lpstr>C.U Design Approaches</vt:lpstr>
      <vt:lpstr>SINGLE-CYCLE HARDWIRED CONTROL</vt:lpstr>
      <vt:lpstr>PowerPoint Presentation</vt:lpstr>
      <vt:lpstr>Cont.</vt:lpstr>
      <vt:lpstr>Cont.,</vt:lpstr>
      <vt:lpstr>Instruction Decoder </vt:lpstr>
      <vt:lpstr>PowerPoint Presentation</vt:lpstr>
      <vt:lpstr>PowerPoint Presentation</vt:lpstr>
      <vt:lpstr>Note</vt:lpstr>
      <vt:lpstr>Cont.,</vt:lpstr>
      <vt:lpstr>Cont.,</vt:lpstr>
      <vt:lpstr>PowerPoint Presentation</vt:lpstr>
      <vt:lpstr>Cont.,</vt:lpstr>
      <vt:lpstr>PowerPoint Presentation</vt:lpstr>
      <vt:lpstr>Sample Instructions and Program</vt:lpstr>
      <vt:lpstr>PowerPoint Presentation</vt:lpstr>
      <vt:lpstr>Sheet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 8</dc:title>
  <dc:creator>007</dc:creator>
  <cp:lastModifiedBy>Infinity</cp:lastModifiedBy>
  <cp:revision>78</cp:revision>
  <dcterms:created xsi:type="dcterms:W3CDTF">2019-11-23T12:20:50Z</dcterms:created>
  <dcterms:modified xsi:type="dcterms:W3CDTF">2025-11-22T11:21:56Z</dcterms:modified>
</cp:coreProperties>
</file>