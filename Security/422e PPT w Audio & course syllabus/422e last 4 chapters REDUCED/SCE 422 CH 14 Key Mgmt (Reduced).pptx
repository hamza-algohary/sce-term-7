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05" r:id="rId2"/>
    <p:sldId id="307" r:id="rId3"/>
    <p:sldId id="291" r:id="rId4"/>
    <p:sldId id="262" r:id="rId5"/>
    <p:sldId id="266" r:id="rId6"/>
    <p:sldId id="267" r:id="rId7"/>
    <p:sldId id="268" r:id="rId8"/>
    <p:sldId id="295" r:id="rId9"/>
    <p:sldId id="303" r:id="rId10"/>
    <p:sldId id="299" r:id="rId11"/>
    <p:sldId id="278" r:id="rId12"/>
    <p:sldId id="279" r:id="rId13"/>
    <p:sldId id="280" r:id="rId14"/>
    <p:sldId id="281" r:id="rId15"/>
    <p:sldId id="304" r:id="rId16"/>
    <p:sldId id="285" r:id="rId17"/>
    <p:sldId id="286" r:id="rId18"/>
    <p:sldId id="287" r:id="rId19"/>
    <p:sldId id="288"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790" autoAdjust="0"/>
  </p:normalViewPr>
  <p:slideViewPr>
    <p:cSldViewPr>
      <p:cViewPr varScale="1">
        <p:scale>
          <a:sx n="73" d="100"/>
          <a:sy n="73" d="100"/>
        </p:scale>
        <p:origin x="173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ed Ashraf" userId="ef4047a82958c61e" providerId="LiveId" clId="{61B04DCC-1FB0-4DDF-88A3-7712FD1118A8}"/>
    <pc:docChg chg="delSld">
      <pc:chgData name="Mohamed Ashraf" userId="ef4047a82958c61e" providerId="LiveId" clId="{61B04DCC-1FB0-4DDF-88A3-7712FD1118A8}" dt="2022-12-25T07:17:39.949" v="3" actId="47"/>
      <pc:docMkLst>
        <pc:docMk/>
      </pc:docMkLst>
      <pc:sldChg chg="del">
        <pc:chgData name="Mohamed Ashraf" userId="ef4047a82958c61e" providerId="LiveId" clId="{61B04DCC-1FB0-4DDF-88A3-7712FD1118A8}" dt="2022-12-25T07:16:57.803" v="0" actId="47"/>
        <pc:sldMkLst>
          <pc:docMk/>
          <pc:sldMk cId="0" sldId="269"/>
        </pc:sldMkLst>
      </pc:sldChg>
      <pc:sldChg chg="del">
        <pc:chgData name="Mohamed Ashraf" userId="ef4047a82958c61e" providerId="LiveId" clId="{61B04DCC-1FB0-4DDF-88A3-7712FD1118A8}" dt="2022-12-25T07:17:38.484" v="2" actId="47"/>
        <pc:sldMkLst>
          <pc:docMk/>
          <pc:sldMk cId="761048074" sldId="297"/>
        </pc:sldMkLst>
      </pc:sldChg>
      <pc:sldChg chg="del">
        <pc:chgData name="Mohamed Ashraf" userId="ef4047a82958c61e" providerId="LiveId" clId="{61B04DCC-1FB0-4DDF-88A3-7712FD1118A8}" dt="2022-12-25T07:17:36.234" v="1" actId="47"/>
        <pc:sldMkLst>
          <pc:docMk/>
          <pc:sldMk cId="0" sldId="300"/>
        </pc:sldMkLst>
      </pc:sldChg>
      <pc:sldChg chg="del">
        <pc:chgData name="Mohamed Ashraf" userId="ef4047a82958c61e" providerId="LiveId" clId="{61B04DCC-1FB0-4DDF-88A3-7712FD1118A8}" dt="2022-12-25T07:17:39.949" v="3" actId="47"/>
        <pc:sldMkLst>
          <pc:docMk/>
          <pc:sldMk cId="0" sldId="30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D8C121-5EA5-2947-9B48-8C529DCE5B83}" type="doc">
      <dgm:prSet loTypeId="urn:microsoft.com/office/officeart/2005/8/layout/hProcess6" loCatId="process" qsTypeId="urn:microsoft.com/office/officeart/2005/8/quickstyle/simple4" qsCatId="simple" csTypeId="urn:microsoft.com/office/officeart/2005/8/colors/accent1_2" csCatId="accent1" phldr="1"/>
      <dgm:spPr/>
      <dgm:t>
        <a:bodyPr/>
        <a:lstStyle/>
        <a:p>
          <a:endParaRPr lang="en-US"/>
        </a:p>
      </dgm:t>
    </dgm:pt>
    <dgm:pt modelId="{DA080EA3-7F44-3745-B471-C21F5CFD06B7}">
      <dgm:prSet/>
      <dgm:spPr/>
      <dgm:t>
        <a:bodyPr/>
        <a:lstStyle/>
        <a:p>
          <a:pPr rtl="0"/>
          <a:r>
            <a:rPr lang="en-US" dirty="0"/>
            <a:t>Given parties A and B, key distribution can be achieved in several ways:</a:t>
          </a:r>
        </a:p>
      </dgm:t>
    </dgm:pt>
    <dgm:pt modelId="{07CD1C66-5C8D-F047-B4BF-27888A3E8C8F}" type="parTrans" cxnId="{41E7DE77-0497-934B-BA26-A21BA69F7E43}">
      <dgm:prSet/>
      <dgm:spPr/>
      <dgm:t>
        <a:bodyPr/>
        <a:lstStyle/>
        <a:p>
          <a:endParaRPr lang="en-US"/>
        </a:p>
      </dgm:t>
    </dgm:pt>
    <dgm:pt modelId="{AB20AEF0-102F-F642-ABB6-0BC363F9BC88}" type="sibTrans" cxnId="{41E7DE77-0497-934B-BA26-A21BA69F7E43}">
      <dgm:prSet/>
      <dgm:spPr/>
      <dgm:t>
        <a:bodyPr/>
        <a:lstStyle/>
        <a:p>
          <a:endParaRPr lang="en-US"/>
        </a:p>
      </dgm:t>
    </dgm:pt>
    <dgm:pt modelId="{183E6968-F78A-8048-BE43-D6100EEF505D}">
      <dgm:prSet/>
      <dgm:spPr>
        <a:solidFill>
          <a:schemeClr val="bg1"/>
        </a:solidFill>
        <a:ln>
          <a:solidFill>
            <a:schemeClr val="accent1"/>
          </a:solidFill>
        </a:ln>
      </dgm:spPr>
      <dgm:t>
        <a:bodyPr/>
        <a:lstStyle/>
        <a:p>
          <a:pPr rtl="0"/>
          <a:r>
            <a:rPr lang="en-US" b="1" dirty="0"/>
            <a:t>A can select a key and physically deliver it to B</a:t>
          </a:r>
        </a:p>
      </dgm:t>
    </dgm:pt>
    <dgm:pt modelId="{A4C25F68-C1BA-D242-975C-B42F607F0CF9}" type="parTrans" cxnId="{9DEB28EB-4C09-104F-AD9C-D4CFB0E8CFF7}">
      <dgm:prSet/>
      <dgm:spPr/>
      <dgm:t>
        <a:bodyPr/>
        <a:lstStyle/>
        <a:p>
          <a:endParaRPr lang="en-US"/>
        </a:p>
      </dgm:t>
    </dgm:pt>
    <dgm:pt modelId="{BAF09317-656B-DA4F-8E9E-383F7A460C6F}" type="sibTrans" cxnId="{9DEB28EB-4C09-104F-AD9C-D4CFB0E8CFF7}">
      <dgm:prSet/>
      <dgm:spPr/>
      <dgm:t>
        <a:bodyPr/>
        <a:lstStyle/>
        <a:p>
          <a:endParaRPr lang="en-US"/>
        </a:p>
      </dgm:t>
    </dgm:pt>
    <dgm:pt modelId="{CD416D60-88E1-6C4E-B62E-6FC1D9257886}">
      <dgm:prSet/>
      <dgm:spPr>
        <a:solidFill>
          <a:schemeClr val="bg1"/>
        </a:solidFill>
        <a:ln>
          <a:solidFill>
            <a:schemeClr val="accent1"/>
          </a:solidFill>
        </a:ln>
      </dgm:spPr>
      <dgm:t>
        <a:bodyPr/>
        <a:lstStyle/>
        <a:p>
          <a:pPr rtl="0"/>
          <a:r>
            <a:rPr lang="en-US" b="1" dirty="0"/>
            <a:t>A third party can select the key and physically deliver it to A and B</a:t>
          </a:r>
        </a:p>
      </dgm:t>
    </dgm:pt>
    <dgm:pt modelId="{423CB651-1BA4-B34C-854A-A2BB3129FC0E}" type="parTrans" cxnId="{26CB8081-BEA8-5542-8807-1453EE24DC4A}">
      <dgm:prSet/>
      <dgm:spPr/>
      <dgm:t>
        <a:bodyPr/>
        <a:lstStyle/>
        <a:p>
          <a:endParaRPr lang="en-US"/>
        </a:p>
      </dgm:t>
    </dgm:pt>
    <dgm:pt modelId="{7CFB2DF7-8AF6-3F4A-9010-9DF8F16E22AC}" type="sibTrans" cxnId="{26CB8081-BEA8-5542-8807-1453EE24DC4A}">
      <dgm:prSet/>
      <dgm:spPr/>
      <dgm:t>
        <a:bodyPr/>
        <a:lstStyle/>
        <a:p>
          <a:endParaRPr lang="en-US"/>
        </a:p>
      </dgm:t>
    </dgm:pt>
    <dgm:pt modelId="{DF1DE19A-5DFD-CF4A-A6FC-24F965B8400E}">
      <dgm:prSet/>
      <dgm:spPr>
        <a:solidFill>
          <a:schemeClr val="bg1"/>
        </a:solidFill>
        <a:ln>
          <a:solidFill>
            <a:schemeClr val="accent1"/>
          </a:solidFill>
        </a:ln>
      </dgm:spPr>
      <dgm:t>
        <a:bodyPr/>
        <a:lstStyle/>
        <a:p>
          <a:pPr rtl="0"/>
          <a:r>
            <a:rPr lang="en-US" b="1" dirty="0"/>
            <a:t>If A and B have previously and recently used a key, one party can transmit the new key to the other, encrypted using the old key</a:t>
          </a:r>
        </a:p>
      </dgm:t>
    </dgm:pt>
    <dgm:pt modelId="{D955F5DB-27F3-024D-8E34-4987D680D5A0}" type="parTrans" cxnId="{17DC272B-A593-1446-B8EC-9E5916EE2EB9}">
      <dgm:prSet/>
      <dgm:spPr/>
      <dgm:t>
        <a:bodyPr/>
        <a:lstStyle/>
        <a:p>
          <a:endParaRPr lang="en-US"/>
        </a:p>
      </dgm:t>
    </dgm:pt>
    <dgm:pt modelId="{B397A2C9-AE12-394F-B1F7-6113FA399BF2}" type="sibTrans" cxnId="{17DC272B-A593-1446-B8EC-9E5916EE2EB9}">
      <dgm:prSet/>
      <dgm:spPr/>
      <dgm:t>
        <a:bodyPr/>
        <a:lstStyle/>
        <a:p>
          <a:endParaRPr lang="en-US"/>
        </a:p>
      </dgm:t>
    </dgm:pt>
    <dgm:pt modelId="{22A9E96D-DFA1-1246-BDCF-619DCD630A01}">
      <dgm:prSet/>
      <dgm:spPr>
        <a:solidFill>
          <a:schemeClr val="bg1"/>
        </a:solidFill>
        <a:ln>
          <a:solidFill>
            <a:schemeClr val="accent1"/>
          </a:solidFill>
        </a:ln>
      </dgm:spPr>
      <dgm:t>
        <a:bodyPr/>
        <a:lstStyle/>
        <a:p>
          <a:pPr rtl="0"/>
          <a:r>
            <a:rPr lang="en-US" b="1" dirty="0"/>
            <a:t>If A and B each has an encrypted connection to a third-party C, C can deliver a key on the encrypted links to A and B</a:t>
          </a:r>
        </a:p>
      </dgm:t>
    </dgm:pt>
    <dgm:pt modelId="{0FA5E1A3-CDCE-0E49-8ED7-5F0BC4563CF6}" type="parTrans" cxnId="{18315D43-C50A-FF44-BF63-BB81D4A65242}">
      <dgm:prSet/>
      <dgm:spPr/>
      <dgm:t>
        <a:bodyPr/>
        <a:lstStyle/>
        <a:p>
          <a:endParaRPr lang="en-US"/>
        </a:p>
      </dgm:t>
    </dgm:pt>
    <dgm:pt modelId="{BE79871A-BFCD-D742-908B-CEBC7A9697CE}" type="sibTrans" cxnId="{18315D43-C50A-FF44-BF63-BB81D4A65242}">
      <dgm:prSet/>
      <dgm:spPr/>
      <dgm:t>
        <a:bodyPr/>
        <a:lstStyle/>
        <a:p>
          <a:endParaRPr lang="en-US"/>
        </a:p>
      </dgm:t>
    </dgm:pt>
    <dgm:pt modelId="{637B700B-43EB-6E4F-8A28-2633B12409A4}" type="pres">
      <dgm:prSet presAssocID="{81D8C121-5EA5-2947-9B48-8C529DCE5B83}" presName="theList" presStyleCnt="0">
        <dgm:presLayoutVars>
          <dgm:dir/>
          <dgm:animLvl val="lvl"/>
          <dgm:resizeHandles val="exact"/>
        </dgm:presLayoutVars>
      </dgm:prSet>
      <dgm:spPr/>
    </dgm:pt>
    <dgm:pt modelId="{AEDFF6C7-7716-D34A-8FE5-56638C06637C}" type="pres">
      <dgm:prSet presAssocID="{DA080EA3-7F44-3745-B471-C21F5CFD06B7}" presName="compNode" presStyleCnt="0"/>
      <dgm:spPr/>
    </dgm:pt>
    <dgm:pt modelId="{7A11A7C8-70D1-3546-81A0-B080AABC828E}" type="pres">
      <dgm:prSet presAssocID="{DA080EA3-7F44-3745-B471-C21F5CFD06B7}" presName="noGeometry" presStyleCnt="0"/>
      <dgm:spPr/>
    </dgm:pt>
    <dgm:pt modelId="{166FD422-CACC-E94C-8EC8-B1AB4ADE95D5}" type="pres">
      <dgm:prSet presAssocID="{DA080EA3-7F44-3745-B471-C21F5CFD06B7}" presName="childTextVisible" presStyleLbl="bgAccFollowNode1" presStyleIdx="0" presStyleCnt="1">
        <dgm:presLayoutVars>
          <dgm:bulletEnabled val="1"/>
        </dgm:presLayoutVars>
      </dgm:prSet>
      <dgm:spPr/>
    </dgm:pt>
    <dgm:pt modelId="{046C7740-62A7-5C4B-8AA7-46B4A1E2ECEA}" type="pres">
      <dgm:prSet presAssocID="{DA080EA3-7F44-3745-B471-C21F5CFD06B7}" presName="childTextHidden" presStyleLbl="bgAccFollowNode1" presStyleIdx="0" presStyleCnt="1"/>
      <dgm:spPr/>
    </dgm:pt>
    <dgm:pt modelId="{1D46FCAE-7D96-CA42-9A2E-9F9C5A569DF8}" type="pres">
      <dgm:prSet presAssocID="{DA080EA3-7F44-3745-B471-C21F5CFD06B7}" presName="parentText" presStyleLbl="node1" presStyleIdx="0" presStyleCnt="1">
        <dgm:presLayoutVars>
          <dgm:chMax val="1"/>
          <dgm:bulletEnabled val="1"/>
        </dgm:presLayoutVars>
      </dgm:prSet>
      <dgm:spPr/>
    </dgm:pt>
  </dgm:ptLst>
  <dgm:cxnLst>
    <dgm:cxn modelId="{E54CA307-8BCC-4FBA-87F1-D7CD93A37930}" type="presOf" srcId="{22A9E96D-DFA1-1246-BDCF-619DCD630A01}" destId="{046C7740-62A7-5C4B-8AA7-46B4A1E2ECEA}" srcOrd="1" destOrd="3" presId="urn:microsoft.com/office/officeart/2005/8/layout/hProcess6"/>
    <dgm:cxn modelId="{AEE8C821-9B29-4D81-86B9-4CF9A511F535}" type="presOf" srcId="{DF1DE19A-5DFD-CF4A-A6FC-24F965B8400E}" destId="{166FD422-CACC-E94C-8EC8-B1AB4ADE95D5}" srcOrd="0" destOrd="2" presId="urn:microsoft.com/office/officeart/2005/8/layout/hProcess6"/>
    <dgm:cxn modelId="{17DC272B-A593-1446-B8EC-9E5916EE2EB9}" srcId="{DA080EA3-7F44-3745-B471-C21F5CFD06B7}" destId="{DF1DE19A-5DFD-CF4A-A6FC-24F965B8400E}" srcOrd="2" destOrd="0" parTransId="{D955F5DB-27F3-024D-8E34-4987D680D5A0}" sibTransId="{B397A2C9-AE12-394F-B1F7-6113FA399BF2}"/>
    <dgm:cxn modelId="{AF8F4139-6201-47DC-9394-313F6D4FDC4E}" type="presOf" srcId="{CD416D60-88E1-6C4E-B62E-6FC1D9257886}" destId="{166FD422-CACC-E94C-8EC8-B1AB4ADE95D5}" srcOrd="0" destOrd="1" presId="urn:microsoft.com/office/officeart/2005/8/layout/hProcess6"/>
    <dgm:cxn modelId="{0DBE563A-144D-4828-BF49-A4ED27AAF601}" type="presOf" srcId="{183E6968-F78A-8048-BE43-D6100EEF505D}" destId="{046C7740-62A7-5C4B-8AA7-46B4A1E2ECEA}" srcOrd="1" destOrd="0" presId="urn:microsoft.com/office/officeart/2005/8/layout/hProcess6"/>
    <dgm:cxn modelId="{18315D43-C50A-FF44-BF63-BB81D4A65242}" srcId="{DA080EA3-7F44-3745-B471-C21F5CFD06B7}" destId="{22A9E96D-DFA1-1246-BDCF-619DCD630A01}" srcOrd="3" destOrd="0" parTransId="{0FA5E1A3-CDCE-0E49-8ED7-5F0BC4563CF6}" sibTransId="{BE79871A-BFCD-D742-908B-CEBC7A9697CE}"/>
    <dgm:cxn modelId="{7943A252-F37A-4E8A-99A0-D6654AC46FFD}" type="presOf" srcId="{DF1DE19A-5DFD-CF4A-A6FC-24F965B8400E}" destId="{046C7740-62A7-5C4B-8AA7-46B4A1E2ECEA}" srcOrd="1" destOrd="2" presId="urn:microsoft.com/office/officeart/2005/8/layout/hProcess6"/>
    <dgm:cxn modelId="{41E7DE77-0497-934B-BA26-A21BA69F7E43}" srcId="{81D8C121-5EA5-2947-9B48-8C529DCE5B83}" destId="{DA080EA3-7F44-3745-B471-C21F5CFD06B7}" srcOrd="0" destOrd="0" parTransId="{07CD1C66-5C8D-F047-B4BF-27888A3E8C8F}" sibTransId="{AB20AEF0-102F-F642-ABB6-0BC363F9BC88}"/>
    <dgm:cxn modelId="{7FC29C7F-EB7B-4915-AD6C-368BAE4F1026}" type="presOf" srcId="{81D8C121-5EA5-2947-9B48-8C529DCE5B83}" destId="{637B700B-43EB-6E4F-8A28-2633B12409A4}" srcOrd="0" destOrd="0" presId="urn:microsoft.com/office/officeart/2005/8/layout/hProcess6"/>
    <dgm:cxn modelId="{26CB8081-BEA8-5542-8807-1453EE24DC4A}" srcId="{DA080EA3-7F44-3745-B471-C21F5CFD06B7}" destId="{CD416D60-88E1-6C4E-B62E-6FC1D9257886}" srcOrd="1" destOrd="0" parTransId="{423CB651-1BA4-B34C-854A-A2BB3129FC0E}" sibTransId="{7CFB2DF7-8AF6-3F4A-9010-9DF8F16E22AC}"/>
    <dgm:cxn modelId="{7D2A8586-0689-4141-B16B-620C9E2E749F}" type="presOf" srcId="{CD416D60-88E1-6C4E-B62E-6FC1D9257886}" destId="{046C7740-62A7-5C4B-8AA7-46B4A1E2ECEA}" srcOrd="1" destOrd="1" presId="urn:microsoft.com/office/officeart/2005/8/layout/hProcess6"/>
    <dgm:cxn modelId="{AD72B48A-21EF-4065-B01C-EF83B7DA6EB2}" type="presOf" srcId="{183E6968-F78A-8048-BE43-D6100EEF505D}" destId="{166FD422-CACC-E94C-8EC8-B1AB4ADE95D5}" srcOrd="0" destOrd="0" presId="urn:microsoft.com/office/officeart/2005/8/layout/hProcess6"/>
    <dgm:cxn modelId="{CFE496DF-22E4-433E-8A40-AF28FEB106E0}" type="presOf" srcId="{22A9E96D-DFA1-1246-BDCF-619DCD630A01}" destId="{166FD422-CACC-E94C-8EC8-B1AB4ADE95D5}" srcOrd="0" destOrd="3" presId="urn:microsoft.com/office/officeart/2005/8/layout/hProcess6"/>
    <dgm:cxn modelId="{9DEB28EB-4C09-104F-AD9C-D4CFB0E8CFF7}" srcId="{DA080EA3-7F44-3745-B471-C21F5CFD06B7}" destId="{183E6968-F78A-8048-BE43-D6100EEF505D}" srcOrd="0" destOrd="0" parTransId="{A4C25F68-C1BA-D242-975C-B42F607F0CF9}" sibTransId="{BAF09317-656B-DA4F-8E9E-383F7A460C6F}"/>
    <dgm:cxn modelId="{901CF1F8-3478-4970-B49A-C5ED8F53C6EE}" type="presOf" srcId="{DA080EA3-7F44-3745-B471-C21F5CFD06B7}" destId="{1D46FCAE-7D96-CA42-9A2E-9F9C5A569DF8}" srcOrd="0" destOrd="0" presId="urn:microsoft.com/office/officeart/2005/8/layout/hProcess6"/>
    <dgm:cxn modelId="{71C7CF79-7529-49C4-89CC-F37DF1D5F1D8}" type="presParOf" srcId="{637B700B-43EB-6E4F-8A28-2633B12409A4}" destId="{AEDFF6C7-7716-D34A-8FE5-56638C06637C}" srcOrd="0" destOrd="0" presId="urn:microsoft.com/office/officeart/2005/8/layout/hProcess6"/>
    <dgm:cxn modelId="{8F814C58-4B15-4D9A-821A-0952405E9847}" type="presParOf" srcId="{AEDFF6C7-7716-D34A-8FE5-56638C06637C}" destId="{7A11A7C8-70D1-3546-81A0-B080AABC828E}" srcOrd="0" destOrd="0" presId="urn:microsoft.com/office/officeart/2005/8/layout/hProcess6"/>
    <dgm:cxn modelId="{788EAE1E-B960-48E0-BF39-C1CFE32D3ADD}" type="presParOf" srcId="{AEDFF6C7-7716-D34A-8FE5-56638C06637C}" destId="{166FD422-CACC-E94C-8EC8-B1AB4ADE95D5}" srcOrd="1" destOrd="0" presId="urn:microsoft.com/office/officeart/2005/8/layout/hProcess6"/>
    <dgm:cxn modelId="{5B9D694C-603F-45E9-BBE4-8038854948D3}" type="presParOf" srcId="{AEDFF6C7-7716-D34A-8FE5-56638C06637C}" destId="{046C7740-62A7-5C4B-8AA7-46B4A1E2ECEA}" srcOrd="2" destOrd="0" presId="urn:microsoft.com/office/officeart/2005/8/layout/hProcess6"/>
    <dgm:cxn modelId="{9978034F-8A85-4A0F-AE61-69A8E26D2D7C}" type="presParOf" srcId="{AEDFF6C7-7716-D34A-8FE5-56638C06637C}" destId="{1D46FCAE-7D96-CA42-9A2E-9F9C5A569DF8}"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21260AB-50CE-B943-8F6E-844B1F975478}" type="doc">
      <dgm:prSet loTypeId="urn:microsoft.com/office/officeart/2005/8/layout/matrix3" loCatId="matrix" qsTypeId="urn:microsoft.com/office/officeart/2005/8/quickstyle/simple4" qsCatId="simple" csTypeId="urn:microsoft.com/office/officeart/2005/8/colors/accent1_2" csCatId="accent1" phldr="1"/>
      <dgm:spPr/>
      <dgm:t>
        <a:bodyPr/>
        <a:lstStyle/>
        <a:p>
          <a:endParaRPr lang="en-US"/>
        </a:p>
      </dgm:t>
    </dgm:pt>
    <dgm:pt modelId="{F5EC93E5-E23A-CD4A-B069-FE9A1A71C554}">
      <dgm:prSet phldrT="[Text]" custT="1"/>
      <dgm:spPr>
        <a:solidFill>
          <a:schemeClr val="bg1"/>
        </a:solidFill>
        <a:ln>
          <a:noFill/>
        </a:ln>
        <a:effectLst>
          <a:glow rad="25400">
            <a:schemeClr val="tx1">
              <a:alpha val="75000"/>
            </a:schemeClr>
          </a:glow>
          <a:softEdge rad="50800"/>
        </a:effectLst>
      </dgm:spPr>
      <dgm:t>
        <a:bodyPr/>
        <a:lstStyle/>
        <a:p>
          <a:r>
            <a:rPr lang="en-AU" sz="1600" b="1" i="0" dirty="0">
              <a:solidFill>
                <a:schemeClr val="tx1"/>
              </a:solidFill>
            </a:rPr>
            <a:t>Public announcement</a:t>
          </a:r>
          <a:endParaRPr lang="en-US" sz="1600" b="1" i="0" dirty="0">
            <a:solidFill>
              <a:schemeClr val="tx1"/>
            </a:solidFill>
          </a:endParaRPr>
        </a:p>
      </dgm:t>
    </dgm:pt>
    <dgm:pt modelId="{CFD3E530-7A40-6949-B131-1297399978E7}" type="parTrans" cxnId="{52714DFB-EB75-5F42-8620-376A801CB609}">
      <dgm:prSet/>
      <dgm:spPr/>
      <dgm:t>
        <a:bodyPr/>
        <a:lstStyle/>
        <a:p>
          <a:endParaRPr lang="en-US"/>
        </a:p>
      </dgm:t>
    </dgm:pt>
    <dgm:pt modelId="{437B1154-62BC-DE40-8CFE-FF4FAC6B4F6A}" type="sibTrans" cxnId="{52714DFB-EB75-5F42-8620-376A801CB609}">
      <dgm:prSet/>
      <dgm:spPr/>
      <dgm:t>
        <a:bodyPr/>
        <a:lstStyle/>
        <a:p>
          <a:endParaRPr lang="en-US"/>
        </a:p>
      </dgm:t>
    </dgm:pt>
    <dgm:pt modelId="{D8242FA0-DBE6-2F41-B1A1-6B04273504D7}">
      <dgm:prSet custT="1"/>
      <dgm:spPr>
        <a:solidFill>
          <a:schemeClr val="bg1"/>
        </a:solidFill>
        <a:ln>
          <a:solidFill>
            <a:schemeClr val="tx1"/>
          </a:solidFill>
        </a:ln>
        <a:effectLst>
          <a:glow rad="25400">
            <a:schemeClr val="tx1">
              <a:alpha val="75000"/>
            </a:schemeClr>
          </a:glow>
          <a:softEdge rad="50800"/>
        </a:effectLst>
      </dgm:spPr>
      <dgm:t>
        <a:bodyPr/>
        <a:lstStyle/>
        <a:p>
          <a:r>
            <a:rPr lang="en-AU" sz="1600" b="1" i="0" dirty="0">
              <a:solidFill>
                <a:schemeClr val="tx1"/>
              </a:solidFill>
            </a:rPr>
            <a:t>Publicly available directory</a:t>
          </a:r>
        </a:p>
      </dgm:t>
    </dgm:pt>
    <dgm:pt modelId="{00455FAC-C462-804F-8473-B3AD673497BB}" type="parTrans" cxnId="{5B59991C-6C4A-3848-977E-2385CAE1870E}">
      <dgm:prSet/>
      <dgm:spPr/>
      <dgm:t>
        <a:bodyPr/>
        <a:lstStyle/>
        <a:p>
          <a:endParaRPr lang="en-US"/>
        </a:p>
      </dgm:t>
    </dgm:pt>
    <dgm:pt modelId="{D9F0E848-05EC-E34F-8B51-74C5AACBDD3D}" type="sibTrans" cxnId="{5B59991C-6C4A-3848-977E-2385CAE1870E}">
      <dgm:prSet/>
      <dgm:spPr/>
      <dgm:t>
        <a:bodyPr/>
        <a:lstStyle/>
        <a:p>
          <a:endParaRPr lang="en-US"/>
        </a:p>
      </dgm:t>
    </dgm:pt>
    <dgm:pt modelId="{9E86BE0F-882F-8A45-9F90-07DB01826ED4}">
      <dgm:prSet custT="1"/>
      <dgm:spPr>
        <a:solidFill>
          <a:schemeClr val="bg1"/>
        </a:solidFill>
        <a:ln>
          <a:solidFill>
            <a:schemeClr val="tx1"/>
          </a:solidFill>
        </a:ln>
        <a:effectLst>
          <a:glow rad="25400">
            <a:schemeClr val="tx1">
              <a:alpha val="75000"/>
            </a:schemeClr>
          </a:glow>
          <a:softEdge rad="50800"/>
        </a:effectLst>
      </dgm:spPr>
      <dgm:t>
        <a:bodyPr/>
        <a:lstStyle/>
        <a:p>
          <a:r>
            <a:rPr lang="en-AU" sz="1600" b="1" i="0" dirty="0">
              <a:solidFill>
                <a:schemeClr val="tx1"/>
              </a:solidFill>
            </a:rPr>
            <a:t>Public-key authority</a:t>
          </a:r>
        </a:p>
      </dgm:t>
    </dgm:pt>
    <dgm:pt modelId="{2621CB87-F711-584C-BF4B-C2A26C12A44E}" type="parTrans" cxnId="{6E381C72-22A6-394A-93F3-A718DFDD40A5}">
      <dgm:prSet/>
      <dgm:spPr/>
      <dgm:t>
        <a:bodyPr/>
        <a:lstStyle/>
        <a:p>
          <a:endParaRPr lang="en-US"/>
        </a:p>
      </dgm:t>
    </dgm:pt>
    <dgm:pt modelId="{ABDBA35A-5860-524C-B486-BBB10626BE07}" type="sibTrans" cxnId="{6E381C72-22A6-394A-93F3-A718DFDD40A5}">
      <dgm:prSet/>
      <dgm:spPr/>
      <dgm:t>
        <a:bodyPr/>
        <a:lstStyle/>
        <a:p>
          <a:endParaRPr lang="en-US"/>
        </a:p>
      </dgm:t>
    </dgm:pt>
    <dgm:pt modelId="{9E781BB7-2595-374A-AF7F-7B9D1A7C305F}">
      <dgm:prSet custT="1"/>
      <dgm:spPr>
        <a:solidFill>
          <a:schemeClr val="bg1"/>
        </a:solidFill>
        <a:ln>
          <a:solidFill>
            <a:schemeClr val="tx1"/>
          </a:solidFill>
        </a:ln>
        <a:effectLst>
          <a:glow rad="25400">
            <a:schemeClr val="tx1">
              <a:alpha val="75000"/>
            </a:schemeClr>
          </a:glow>
          <a:softEdge rad="50800"/>
        </a:effectLst>
      </dgm:spPr>
      <dgm:t>
        <a:bodyPr/>
        <a:lstStyle/>
        <a:p>
          <a:r>
            <a:rPr lang="en-AU" sz="1600" b="1" i="0" dirty="0">
              <a:solidFill>
                <a:schemeClr val="tx1"/>
              </a:solidFill>
            </a:rPr>
            <a:t>Public-key certificates</a:t>
          </a:r>
        </a:p>
      </dgm:t>
    </dgm:pt>
    <dgm:pt modelId="{A2839A54-C84E-7340-B2A6-497D366C7124}" type="parTrans" cxnId="{4CDA13E0-E087-3D4D-9E41-B70EF4DF7406}">
      <dgm:prSet/>
      <dgm:spPr/>
      <dgm:t>
        <a:bodyPr/>
        <a:lstStyle/>
        <a:p>
          <a:endParaRPr lang="en-US"/>
        </a:p>
      </dgm:t>
    </dgm:pt>
    <dgm:pt modelId="{73EA3CCA-33F2-4446-9EEB-C4F4E7E78147}" type="sibTrans" cxnId="{4CDA13E0-E087-3D4D-9E41-B70EF4DF7406}">
      <dgm:prSet/>
      <dgm:spPr/>
      <dgm:t>
        <a:bodyPr/>
        <a:lstStyle/>
        <a:p>
          <a:endParaRPr lang="en-US"/>
        </a:p>
      </dgm:t>
    </dgm:pt>
    <dgm:pt modelId="{11A4F965-7687-6949-A498-549AE6AD740B}" type="pres">
      <dgm:prSet presAssocID="{B21260AB-50CE-B943-8F6E-844B1F975478}" presName="matrix" presStyleCnt="0">
        <dgm:presLayoutVars>
          <dgm:chMax val="1"/>
          <dgm:dir/>
          <dgm:resizeHandles val="exact"/>
        </dgm:presLayoutVars>
      </dgm:prSet>
      <dgm:spPr/>
    </dgm:pt>
    <dgm:pt modelId="{3D0E7E64-D275-2E42-9662-39C3596309EE}" type="pres">
      <dgm:prSet presAssocID="{B21260AB-50CE-B943-8F6E-844B1F975478}" presName="diamond" presStyleLbl="bgShp" presStyleIdx="0" presStyleCnt="1"/>
      <dgm:spPr>
        <a:solidFill>
          <a:schemeClr val="accent1"/>
        </a:solidFill>
        <a:ln>
          <a:solidFill>
            <a:schemeClr val="tx1"/>
          </a:solidFill>
        </a:ln>
      </dgm:spPr>
    </dgm:pt>
    <dgm:pt modelId="{2D6D00B8-271E-D940-81E8-400514989AA7}" type="pres">
      <dgm:prSet presAssocID="{B21260AB-50CE-B943-8F6E-844B1F975478}" presName="quad1" presStyleLbl="node1" presStyleIdx="0" presStyleCnt="4">
        <dgm:presLayoutVars>
          <dgm:chMax val="0"/>
          <dgm:chPref val="0"/>
          <dgm:bulletEnabled val="1"/>
        </dgm:presLayoutVars>
      </dgm:prSet>
      <dgm:spPr/>
    </dgm:pt>
    <dgm:pt modelId="{538ED783-8646-9A4E-928D-11D8F659505E}" type="pres">
      <dgm:prSet presAssocID="{B21260AB-50CE-B943-8F6E-844B1F975478}" presName="quad2" presStyleLbl="node1" presStyleIdx="1" presStyleCnt="4">
        <dgm:presLayoutVars>
          <dgm:chMax val="0"/>
          <dgm:chPref val="0"/>
          <dgm:bulletEnabled val="1"/>
        </dgm:presLayoutVars>
      </dgm:prSet>
      <dgm:spPr/>
    </dgm:pt>
    <dgm:pt modelId="{3312D2CB-51B2-1B41-93F4-1FB5EC23A0A3}" type="pres">
      <dgm:prSet presAssocID="{B21260AB-50CE-B943-8F6E-844B1F975478}" presName="quad3" presStyleLbl="node1" presStyleIdx="2" presStyleCnt="4">
        <dgm:presLayoutVars>
          <dgm:chMax val="0"/>
          <dgm:chPref val="0"/>
          <dgm:bulletEnabled val="1"/>
        </dgm:presLayoutVars>
      </dgm:prSet>
      <dgm:spPr/>
    </dgm:pt>
    <dgm:pt modelId="{88DDC718-A30F-D842-9D3F-15D1CB398EE5}" type="pres">
      <dgm:prSet presAssocID="{B21260AB-50CE-B943-8F6E-844B1F975478}" presName="quad4" presStyleLbl="node1" presStyleIdx="3" presStyleCnt="4">
        <dgm:presLayoutVars>
          <dgm:chMax val="0"/>
          <dgm:chPref val="0"/>
          <dgm:bulletEnabled val="1"/>
        </dgm:presLayoutVars>
      </dgm:prSet>
      <dgm:spPr/>
    </dgm:pt>
  </dgm:ptLst>
  <dgm:cxnLst>
    <dgm:cxn modelId="{5B59991C-6C4A-3848-977E-2385CAE1870E}" srcId="{B21260AB-50CE-B943-8F6E-844B1F975478}" destId="{D8242FA0-DBE6-2F41-B1A1-6B04273504D7}" srcOrd="1" destOrd="0" parTransId="{00455FAC-C462-804F-8473-B3AD673497BB}" sibTransId="{D9F0E848-05EC-E34F-8B51-74C5AACBDD3D}"/>
    <dgm:cxn modelId="{392C343A-CB40-4D63-B860-5929C325E085}" type="presOf" srcId="{D8242FA0-DBE6-2F41-B1A1-6B04273504D7}" destId="{538ED783-8646-9A4E-928D-11D8F659505E}" srcOrd="0" destOrd="0" presId="urn:microsoft.com/office/officeart/2005/8/layout/matrix3"/>
    <dgm:cxn modelId="{458D7C5F-A09A-4AA3-9102-843DA3BD74A3}" type="presOf" srcId="{9E781BB7-2595-374A-AF7F-7B9D1A7C305F}" destId="{88DDC718-A30F-D842-9D3F-15D1CB398EE5}" srcOrd="0" destOrd="0" presId="urn:microsoft.com/office/officeart/2005/8/layout/matrix3"/>
    <dgm:cxn modelId="{6E381C72-22A6-394A-93F3-A718DFDD40A5}" srcId="{B21260AB-50CE-B943-8F6E-844B1F975478}" destId="{9E86BE0F-882F-8A45-9F90-07DB01826ED4}" srcOrd="2" destOrd="0" parTransId="{2621CB87-F711-584C-BF4B-C2A26C12A44E}" sibTransId="{ABDBA35A-5860-524C-B486-BBB10626BE07}"/>
    <dgm:cxn modelId="{EDB91057-8D80-4C0D-867F-08C5530BBE69}" type="presOf" srcId="{F5EC93E5-E23A-CD4A-B069-FE9A1A71C554}" destId="{2D6D00B8-271E-D940-81E8-400514989AA7}" srcOrd="0" destOrd="0" presId="urn:microsoft.com/office/officeart/2005/8/layout/matrix3"/>
    <dgm:cxn modelId="{E4CB90C3-E56E-4CE7-B245-268480270D8C}" type="presOf" srcId="{B21260AB-50CE-B943-8F6E-844B1F975478}" destId="{11A4F965-7687-6949-A498-549AE6AD740B}" srcOrd="0" destOrd="0" presId="urn:microsoft.com/office/officeart/2005/8/layout/matrix3"/>
    <dgm:cxn modelId="{4CDA13E0-E087-3D4D-9E41-B70EF4DF7406}" srcId="{B21260AB-50CE-B943-8F6E-844B1F975478}" destId="{9E781BB7-2595-374A-AF7F-7B9D1A7C305F}" srcOrd="3" destOrd="0" parTransId="{A2839A54-C84E-7340-B2A6-497D366C7124}" sibTransId="{73EA3CCA-33F2-4446-9EEB-C4F4E7E78147}"/>
    <dgm:cxn modelId="{84144EF0-11C9-4727-8231-55C7C7649B53}" type="presOf" srcId="{9E86BE0F-882F-8A45-9F90-07DB01826ED4}" destId="{3312D2CB-51B2-1B41-93F4-1FB5EC23A0A3}" srcOrd="0" destOrd="0" presId="urn:microsoft.com/office/officeart/2005/8/layout/matrix3"/>
    <dgm:cxn modelId="{52714DFB-EB75-5F42-8620-376A801CB609}" srcId="{B21260AB-50CE-B943-8F6E-844B1F975478}" destId="{F5EC93E5-E23A-CD4A-B069-FE9A1A71C554}" srcOrd="0" destOrd="0" parTransId="{CFD3E530-7A40-6949-B131-1297399978E7}" sibTransId="{437B1154-62BC-DE40-8CFE-FF4FAC6B4F6A}"/>
    <dgm:cxn modelId="{7407964A-8B53-42BE-BD4F-4F7BD9A24899}" type="presParOf" srcId="{11A4F965-7687-6949-A498-549AE6AD740B}" destId="{3D0E7E64-D275-2E42-9662-39C3596309EE}" srcOrd="0" destOrd="0" presId="urn:microsoft.com/office/officeart/2005/8/layout/matrix3"/>
    <dgm:cxn modelId="{B8D2C4AA-0174-4C94-B1AD-B782A792AC4F}" type="presParOf" srcId="{11A4F965-7687-6949-A498-549AE6AD740B}" destId="{2D6D00B8-271E-D940-81E8-400514989AA7}" srcOrd="1" destOrd="0" presId="urn:microsoft.com/office/officeart/2005/8/layout/matrix3"/>
    <dgm:cxn modelId="{5604D8B6-230B-45ED-9856-650C7A505D97}" type="presParOf" srcId="{11A4F965-7687-6949-A498-549AE6AD740B}" destId="{538ED783-8646-9A4E-928D-11D8F659505E}" srcOrd="2" destOrd="0" presId="urn:microsoft.com/office/officeart/2005/8/layout/matrix3"/>
    <dgm:cxn modelId="{C13B99EB-4421-40FE-821E-9EF8AB0E62A4}" type="presParOf" srcId="{11A4F965-7687-6949-A498-549AE6AD740B}" destId="{3312D2CB-51B2-1B41-93F4-1FB5EC23A0A3}" srcOrd="3" destOrd="0" presId="urn:microsoft.com/office/officeart/2005/8/layout/matrix3"/>
    <dgm:cxn modelId="{AFD9E696-D369-4655-BCA2-0043A18CE46F}" type="presParOf" srcId="{11A4F965-7687-6949-A498-549AE6AD740B}" destId="{88DDC718-A30F-D842-9D3F-15D1CB398EE5}" srcOrd="4" destOrd="0" presId="urn:microsoft.com/office/officeart/2005/8/layout/matrix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8B755A-517F-AC44-939C-00EBD53CCACB}"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E66338FC-D64A-8C47-BC6F-37A1163DE6A9}">
      <dgm:prSet phldrT="[Text]"/>
      <dgm:spPr>
        <a:ln>
          <a:solidFill>
            <a:schemeClr val="tx1"/>
          </a:solidFill>
        </a:ln>
      </dgm:spPr>
      <dgm:t>
        <a:bodyPr/>
        <a:lstStyle/>
        <a:p>
          <a:r>
            <a:rPr lang="en-AU" dirty="0"/>
            <a:t>User certificates generated by a CA have the following characteristics:</a:t>
          </a:r>
          <a:endParaRPr lang="en-US" dirty="0"/>
        </a:p>
      </dgm:t>
    </dgm:pt>
    <dgm:pt modelId="{342A1B33-3408-154B-B14E-2C03F8E528BD}" type="parTrans" cxnId="{89E279F1-F4C3-E74D-8A9A-42ECFBFAACC8}">
      <dgm:prSet/>
      <dgm:spPr/>
      <dgm:t>
        <a:bodyPr/>
        <a:lstStyle/>
        <a:p>
          <a:endParaRPr lang="en-US"/>
        </a:p>
      </dgm:t>
    </dgm:pt>
    <dgm:pt modelId="{4F26B85C-80A4-0F4A-B020-BA89BB6C80A6}" type="sibTrans" cxnId="{89E279F1-F4C3-E74D-8A9A-42ECFBFAACC8}">
      <dgm:prSet/>
      <dgm:spPr/>
      <dgm:t>
        <a:bodyPr/>
        <a:lstStyle/>
        <a:p>
          <a:endParaRPr lang="en-US"/>
        </a:p>
      </dgm:t>
    </dgm:pt>
    <dgm:pt modelId="{285C4ADE-837F-2047-AEDC-3347D69D9243}">
      <dgm:prSet/>
      <dgm:spPr>
        <a:solidFill>
          <a:schemeClr val="bg1"/>
        </a:solidFill>
        <a:ln>
          <a:solidFill>
            <a:schemeClr val="tx1"/>
          </a:solidFill>
        </a:ln>
      </dgm:spPr>
      <dgm:t>
        <a:bodyPr/>
        <a:lstStyle/>
        <a:p>
          <a:r>
            <a:rPr lang="en-AU" dirty="0"/>
            <a:t>Any user with access to the public key of the CA can verify the user public key that was certified</a:t>
          </a:r>
        </a:p>
      </dgm:t>
    </dgm:pt>
    <dgm:pt modelId="{8DE99CF2-DC1B-954A-8E77-FAAB2B5D10AB}" type="parTrans" cxnId="{85A61E80-841A-784F-A553-AA79F570DA57}">
      <dgm:prSet/>
      <dgm:spPr/>
      <dgm:t>
        <a:bodyPr/>
        <a:lstStyle/>
        <a:p>
          <a:endParaRPr lang="en-US"/>
        </a:p>
      </dgm:t>
    </dgm:pt>
    <dgm:pt modelId="{A607DF25-60C7-974D-A307-38CE6FC732AE}" type="sibTrans" cxnId="{85A61E80-841A-784F-A553-AA79F570DA57}">
      <dgm:prSet/>
      <dgm:spPr/>
      <dgm:t>
        <a:bodyPr/>
        <a:lstStyle/>
        <a:p>
          <a:endParaRPr lang="en-US"/>
        </a:p>
      </dgm:t>
    </dgm:pt>
    <dgm:pt modelId="{01797932-FE92-BA49-B9BD-49C10034966D}">
      <dgm:prSet/>
      <dgm:spPr>
        <a:solidFill>
          <a:schemeClr val="bg1"/>
        </a:solidFill>
        <a:ln>
          <a:solidFill>
            <a:schemeClr val="tx1"/>
          </a:solidFill>
        </a:ln>
      </dgm:spPr>
      <dgm:t>
        <a:bodyPr/>
        <a:lstStyle/>
        <a:p>
          <a:r>
            <a:rPr lang="en-AU" dirty="0"/>
            <a:t>No party other than the certification authority can modify the certificate without this being detected</a:t>
          </a:r>
        </a:p>
      </dgm:t>
    </dgm:pt>
    <dgm:pt modelId="{7CB9946F-3CC7-4F49-BE4E-43B0F4BAF2C8}" type="parTrans" cxnId="{DBCB35F4-F86A-8F49-8CB1-E2394F0B826B}">
      <dgm:prSet/>
      <dgm:spPr/>
      <dgm:t>
        <a:bodyPr/>
        <a:lstStyle/>
        <a:p>
          <a:endParaRPr lang="en-US"/>
        </a:p>
      </dgm:t>
    </dgm:pt>
    <dgm:pt modelId="{F72721FE-796A-AF41-9122-1DC57A0C8ED7}" type="sibTrans" cxnId="{DBCB35F4-F86A-8F49-8CB1-E2394F0B826B}">
      <dgm:prSet/>
      <dgm:spPr/>
      <dgm:t>
        <a:bodyPr/>
        <a:lstStyle/>
        <a:p>
          <a:endParaRPr lang="en-US"/>
        </a:p>
      </dgm:t>
    </dgm:pt>
    <dgm:pt modelId="{1A8B542E-534C-164F-8EFA-E4BFB8E93F5C}" type="pres">
      <dgm:prSet presAssocID="{8A8B755A-517F-AC44-939C-00EBD53CCACB}" presName="Name0" presStyleCnt="0">
        <dgm:presLayoutVars>
          <dgm:dir/>
          <dgm:animLvl val="lvl"/>
          <dgm:resizeHandles val="exact"/>
        </dgm:presLayoutVars>
      </dgm:prSet>
      <dgm:spPr/>
    </dgm:pt>
    <dgm:pt modelId="{257DFFE6-8700-9A40-8592-08A8D7136359}" type="pres">
      <dgm:prSet presAssocID="{E66338FC-D64A-8C47-BC6F-37A1163DE6A9}" presName="linNode" presStyleCnt="0"/>
      <dgm:spPr/>
    </dgm:pt>
    <dgm:pt modelId="{0C8AC54C-E587-EC4F-9B8B-70A8685B8864}" type="pres">
      <dgm:prSet presAssocID="{E66338FC-D64A-8C47-BC6F-37A1163DE6A9}" presName="parentText" presStyleLbl="node1" presStyleIdx="0" presStyleCnt="1">
        <dgm:presLayoutVars>
          <dgm:chMax val="1"/>
          <dgm:bulletEnabled val="1"/>
        </dgm:presLayoutVars>
      </dgm:prSet>
      <dgm:spPr/>
    </dgm:pt>
    <dgm:pt modelId="{7866CC99-65DF-C54D-87BF-E319C6A76B01}" type="pres">
      <dgm:prSet presAssocID="{E66338FC-D64A-8C47-BC6F-37A1163DE6A9}" presName="descendantText" presStyleLbl="alignAccFollowNode1" presStyleIdx="0" presStyleCnt="1">
        <dgm:presLayoutVars>
          <dgm:bulletEnabled val="1"/>
        </dgm:presLayoutVars>
      </dgm:prSet>
      <dgm:spPr/>
    </dgm:pt>
  </dgm:ptLst>
  <dgm:cxnLst>
    <dgm:cxn modelId="{7AC4C40A-805A-4879-8970-21C421CDD464}" type="presOf" srcId="{8A8B755A-517F-AC44-939C-00EBD53CCACB}" destId="{1A8B542E-534C-164F-8EFA-E4BFB8E93F5C}" srcOrd="0" destOrd="0" presId="urn:microsoft.com/office/officeart/2005/8/layout/vList5"/>
    <dgm:cxn modelId="{81780D38-152A-49AF-8279-199D701662DE}" type="presOf" srcId="{E66338FC-D64A-8C47-BC6F-37A1163DE6A9}" destId="{0C8AC54C-E587-EC4F-9B8B-70A8685B8864}" srcOrd="0" destOrd="0" presId="urn:microsoft.com/office/officeart/2005/8/layout/vList5"/>
    <dgm:cxn modelId="{956E0A5F-5619-4D25-BEEF-71E0DB545254}" type="presOf" srcId="{01797932-FE92-BA49-B9BD-49C10034966D}" destId="{7866CC99-65DF-C54D-87BF-E319C6A76B01}" srcOrd="0" destOrd="1" presId="urn:microsoft.com/office/officeart/2005/8/layout/vList5"/>
    <dgm:cxn modelId="{A888665A-4B24-44FA-909A-F3ED31EDBC36}" type="presOf" srcId="{285C4ADE-837F-2047-AEDC-3347D69D9243}" destId="{7866CC99-65DF-C54D-87BF-E319C6A76B01}" srcOrd="0" destOrd="0" presId="urn:microsoft.com/office/officeart/2005/8/layout/vList5"/>
    <dgm:cxn modelId="{85A61E80-841A-784F-A553-AA79F570DA57}" srcId="{E66338FC-D64A-8C47-BC6F-37A1163DE6A9}" destId="{285C4ADE-837F-2047-AEDC-3347D69D9243}" srcOrd="0" destOrd="0" parTransId="{8DE99CF2-DC1B-954A-8E77-FAAB2B5D10AB}" sibTransId="{A607DF25-60C7-974D-A307-38CE6FC732AE}"/>
    <dgm:cxn modelId="{89E279F1-F4C3-E74D-8A9A-42ECFBFAACC8}" srcId="{8A8B755A-517F-AC44-939C-00EBD53CCACB}" destId="{E66338FC-D64A-8C47-BC6F-37A1163DE6A9}" srcOrd="0" destOrd="0" parTransId="{342A1B33-3408-154B-B14E-2C03F8E528BD}" sibTransId="{4F26B85C-80A4-0F4A-B020-BA89BB6C80A6}"/>
    <dgm:cxn modelId="{DBCB35F4-F86A-8F49-8CB1-E2394F0B826B}" srcId="{E66338FC-D64A-8C47-BC6F-37A1163DE6A9}" destId="{01797932-FE92-BA49-B9BD-49C10034966D}" srcOrd="1" destOrd="0" parTransId="{7CB9946F-3CC7-4F49-BE4E-43B0F4BAF2C8}" sibTransId="{F72721FE-796A-AF41-9122-1DC57A0C8ED7}"/>
    <dgm:cxn modelId="{53CAD663-FCCE-4F84-A107-1CA5A7CEA975}" type="presParOf" srcId="{1A8B542E-534C-164F-8EFA-E4BFB8E93F5C}" destId="{257DFFE6-8700-9A40-8592-08A8D7136359}" srcOrd="0" destOrd="0" presId="urn:microsoft.com/office/officeart/2005/8/layout/vList5"/>
    <dgm:cxn modelId="{0F40A95A-414E-45FC-B501-94B57C5A0C78}" type="presParOf" srcId="{257DFFE6-8700-9A40-8592-08A8D7136359}" destId="{0C8AC54C-E587-EC4F-9B8B-70A8685B8864}" srcOrd="0" destOrd="0" presId="urn:microsoft.com/office/officeart/2005/8/layout/vList5"/>
    <dgm:cxn modelId="{17F9C2BE-6730-48B7-985B-75B09D08BFB9}" type="presParOf" srcId="{257DFFE6-8700-9A40-8592-08A8D7136359}" destId="{7866CC99-65DF-C54D-87BF-E319C6A76B0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6FD422-CACC-E94C-8EC8-B1AB4ADE95D5}">
      <dsp:nvSpPr>
        <dsp:cNvPr id="0" name=""/>
        <dsp:cNvSpPr/>
      </dsp:nvSpPr>
      <dsp:spPr>
        <a:xfrm>
          <a:off x="2229382" y="0"/>
          <a:ext cx="5840578" cy="5105401"/>
        </a:xfrm>
        <a:prstGeom prst="rightArrow">
          <a:avLst>
            <a:gd name="adj1" fmla="val 70000"/>
            <a:gd name="adj2" fmla="val 50000"/>
          </a:avLst>
        </a:prstGeom>
        <a:solidFill>
          <a:schemeClr val="bg1"/>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171450" lvl="1" indent="-171450" algn="l" defTabSz="711200" rtl="0">
            <a:lnSpc>
              <a:spcPct val="90000"/>
            </a:lnSpc>
            <a:spcBef>
              <a:spcPct val="0"/>
            </a:spcBef>
            <a:spcAft>
              <a:spcPct val="15000"/>
            </a:spcAft>
            <a:buChar char="•"/>
          </a:pPr>
          <a:r>
            <a:rPr lang="en-US" sz="1600" b="1" kern="1200" dirty="0"/>
            <a:t>A can select a key and physically deliver it to B</a:t>
          </a:r>
        </a:p>
        <a:p>
          <a:pPr marL="171450" lvl="1" indent="-171450" algn="l" defTabSz="711200" rtl="0">
            <a:lnSpc>
              <a:spcPct val="90000"/>
            </a:lnSpc>
            <a:spcBef>
              <a:spcPct val="0"/>
            </a:spcBef>
            <a:spcAft>
              <a:spcPct val="15000"/>
            </a:spcAft>
            <a:buChar char="•"/>
          </a:pPr>
          <a:r>
            <a:rPr lang="en-US" sz="1600" b="1" kern="1200" dirty="0"/>
            <a:t>A third party can select the key and physically deliver it to A and B</a:t>
          </a:r>
        </a:p>
        <a:p>
          <a:pPr marL="171450" lvl="1" indent="-171450" algn="l" defTabSz="711200" rtl="0">
            <a:lnSpc>
              <a:spcPct val="90000"/>
            </a:lnSpc>
            <a:spcBef>
              <a:spcPct val="0"/>
            </a:spcBef>
            <a:spcAft>
              <a:spcPct val="15000"/>
            </a:spcAft>
            <a:buChar char="•"/>
          </a:pPr>
          <a:r>
            <a:rPr lang="en-US" sz="1600" b="1" kern="1200" dirty="0"/>
            <a:t>If A and B have previously and recently used a key, one party can transmit the new key to the other, encrypted using the old key</a:t>
          </a:r>
        </a:p>
        <a:p>
          <a:pPr marL="171450" lvl="1" indent="-171450" algn="l" defTabSz="711200" rtl="0">
            <a:lnSpc>
              <a:spcPct val="90000"/>
            </a:lnSpc>
            <a:spcBef>
              <a:spcPct val="0"/>
            </a:spcBef>
            <a:spcAft>
              <a:spcPct val="15000"/>
            </a:spcAft>
            <a:buChar char="•"/>
          </a:pPr>
          <a:r>
            <a:rPr lang="en-US" sz="1600" b="1" kern="1200" dirty="0"/>
            <a:t>If A and B each has an encrypted connection to a third-party C, C can deliver a key on the encrypted links to A and B</a:t>
          </a:r>
        </a:p>
      </dsp:txBody>
      <dsp:txXfrm>
        <a:off x="3689527" y="765810"/>
        <a:ext cx="2847282" cy="3573781"/>
      </dsp:txXfrm>
    </dsp:sp>
    <dsp:sp modelId="{1D46FCAE-7D96-CA42-9A2E-9F9C5A569DF8}">
      <dsp:nvSpPr>
        <dsp:cNvPr id="0" name=""/>
        <dsp:cNvSpPr/>
      </dsp:nvSpPr>
      <dsp:spPr>
        <a:xfrm>
          <a:off x="769237" y="1092555"/>
          <a:ext cx="2920289" cy="2920289"/>
        </a:xfrm>
        <a:prstGeom prst="ellipse">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rtl="0">
            <a:lnSpc>
              <a:spcPct val="90000"/>
            </a:lnSpc>
            <a:spcBef>
              <a:spcPct val="0"/>
            </a:spcBef>
            <a:spcAft>
              <a:spcPct val="35000"/>
            </a:spcAft>
            <a:buNone/>
          </a:pPr>
          <a:r>
            <a:rPr lang="en-US" sz="2500" kern="1200" dirty="0"/>
            <a:t>Given parties A and B, key distribution can be achieved in several ways:</a:t>
          </a:r>
        </a:p>
      </dsp:txBody>
      <dsp:txXfrm>
        <a:off x="1196903" y="1520221"/>
        <a:ext cx="2064957" cy="2064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0E7E64-D275-2E42-9662-39C3596309EE}">
      <dsp:nvSpPr>
        <dsp:cNvPr id="0" name=""/>
        <dsp:cNvSpPr/>
      </dsp:nvSpPr>
      <dsp:spPr>
        <a:xfrm>
          <a:off x="1333500" y="0"/>
          <a:ext cx="4191000" cy="4191000"/>
        </a:xfrm>
        <a:prstGeom prst="diamond">
          <a:avLst/>
        </a:prstGeom>
        <a:solidFill>
          <a:schemeClr val="accent1"/>
        </a:solidFill>
        <a:ln>
          <a:solidFill>
            <a:schemeClr val="tx1"/>
          </a:solid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2D6D00B8-271E-D940-81E8-400514989AA7}">
      <dsp:nvSpPr>
        <dsp:cNvPr id="0" name=""/>
        <dsp:cNvSpPr/>
      </dsp:nvSpPr>
      <dsp:spPr>
        <a:xfrm>
          <a:off x="1731644" y="398144"/>
          <a:ext cx="1634490" cy="1634490"/>
        </a:xfrm>
        <a:prstGeom prst="roundRect">
          <a:avLst/>
        </a:prstGeom>
        <a:solidFill>
          <a:schemeClr val="bg1"/>
        </a:solidFill>
        <a:ln>
          <a:noFill/>
        </a:ln>
        <a:effectLst>
          <a:glow rad="25400">
            <a:schemeClr val="tx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b="1" i="0" kern="1200" dirty="0">
              <a:solidFill>
                <a:schemeClr val="tx1"/>
              </a:solidFill>
            </a:rPr>
            <a:t>Public announcement</a:t>
          </a:r>
          <a:endParaRPr lang="en-US" sz="1600" b="1" i="0" kern="1200" dirty="0">
            <a:solidFill>
              <a:schemeClr val="tx1"/>
            </a:solidFill>
          </a:endParaRPr>
        </a:p>
      </dsp:txBody>
      <dsp:txXfrm>
        <a:off x="1811433" y="477933"/>
        <a:ext cx="1474912" cy="1474912"/>
      </dsp:txXfrm>
    </dsp:sp>
    <dsp:sp modelId="{538ED783-8646-9A4E-928D-11D8F659505E}">
      <dsp:nvSpPr>
        <dsp:cNvPr id="0" name=""/>
        <dsp:cNvSpPr/>
      </dsp:nvSpPr>
      <dsp:spPr>
        <a:xfrm>
          <a:off x="3491865" y="398144"/>
          <a:ext cx="1634490" cy="1634490"/>
        </a:xfrm>
        <a:prstGeom prst="roundRect">
          <a:avLst/>
        </a:prstGeom>
        <a:solidFill>
          <a:schemeClr val="bg1"/>
        </a:solidFill>
        <a:ln>
          <a:solidFill>
            <a:schemeClr val="tx1"/>
          </a:solidFill>
        </a:ln>
        <a:effectLst>
          <a:glow rad="25400">
            <a:schemeClr val="tx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b="1" i="0" kern="1200" dirty="0">
              <a:solidFill>
                <a:schemeClr val="tx1"/>
              </a:solidFill>
            </a:rPr>
            <a:t>Publicly available directory</a:t>
          </a:r>
        </a:p>
      </dsp:txBody>
      <dsp:txXfrm>
        <a:off x="3571654" y="477933"/>
        <a:ext cx="1474912" cy="1474912"/>
      </dsp:txXfrm>
    </dsp:sp>
    <dsp:sp modelId="{3312D2CB-51B2-1B41-93F4-1FB5EC23A0A3}">
      <dsp:nvSpPr>
        <dsp:cNvPr id="0" name=""/>
        <dsp:cNvSpPr/>
      </dsp:nvSpPr>
      <dsp:spPr>
        <a:xfrm>
          <a:off x="1731644" y="2158365"/>
          <a:ext cx="1634490" cy="1634490"/>
        </a:xfrm>
        <a:prstGeom prst="roundRect">
          <a:avLst/>
        </a:prstGeom>
        <a:solidFill>
          <a:schemeClr val="bg1"/>
        </a:solidFill>
        <a:ln>
          <a:solidFill>
            <a:schemeClr val="tx1"/>
          </a:solidFill>
        </a:ln>
        <a:effectLst>
          <a:glow rad="25400">
            <a:schemeClr val="tx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b="1" i="0" kern="1200" dirty="0">
              <a:solidFill>
                <a:schemeClr val="tx1"/>
              </a:solidFill>
            </a:rPr>
            <a:t>Public-key authority</a:t>
          </a:r>
        </a:p>
      </dsp:txBody>
      <dsp:txXfrm>
        <a:off x="1811433" y="2238154"/>
        <a:ext cx="1474912" cy="1474912"/>
      </dsp:txXfrm>
    </dsp:sp>
    <dsp:sp modelId="{88DDC718-A30F-D842-9D3F-15D1CB398EE5}">
      <dsp:nvSpPr>
        <dsp:cNvPr id="0" name=""/>
        <dsp:cNvSpPr/>
      </dsp:nvSpPr>
      <dsp:spPr>
        <a:xfrm>
          <a:off x="3491865" y="2158365"/>
          <a:ext cx="1634490" cy="1634490"/>
        </a:xfrm>
        <a:prstGeom prst="roundRect">
          <a:avLst/>
        </a:prstGeom>
        <a:solidFill>
          <a:schemeClr val="bg1"/>
        </a:solidFill>
        <a:ln>
          <a:solidFill>
            <a:schemeClr val="tx1"/>
          </a:solidFill>
        </a:ln>
        <a:effectLst>
          <a:glow rad="25400">
            <a:schemeClr val="tx1">
              <a:alpha val="75000"/>
            </a:schemeClr>
          </a:glow>
          <a:softEdge rad="50800"/>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b="1" i="0" kern="1200" dirty="0">
              <a:solidFill>
                <a:schemeClr val="tx1"/>
              </a:solidFill>
            </a:rPr>
            <a:t>Public-key certificates</a:t>
          </a:r>
        </a:p>
      </dsp:txBody>
      <dsp:txXfrm>
        <a:off x="3571654" y="2238154"/>
        <a:ext cx="1474912" cy="14749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6CC99-65DF-C54D-87BF-E319C6A76B01}">
      <dsp:nvSpPr>
        <dsp:cNvPr id="0" name=""/>
        <dsp:cNvSpPr/>
      </dsp:nvSpPr>
      <dsp:spPr>
        <a:xfrm rot="5400000">
          <a:off x="3322320" y="-922020"/>
          <a:ext cx="1645920" cy="3901440"/>
        </a:xfrm>
        <a:prstGeom prst="round2SameRect">
          <a:avLst/>
        </a:prstGeom>
        <a:solidFill>
          <a:schemeClr val="bg1"/>
        </a:solidFill>
        <a:ln w="9525" cap="flat" cmpd="sng" algn="ctr">
          <a:solidFill>
            <a:schemeClr val="tx1"/>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AU" sz="1600" kern="1200" dirty="0"/>
            <a:t>Any user with access to the public key of the CA can verify the user public key that was certified</a:t>
          </a:r>
        </a:p>
        <a:p>
          <a:pPr marL="171450" lvl="1" indent="-171450" algn="l" defTabSz="711200">
            <a:lnSpc>
              <a:spcPct val="90000"/>
            </a:lnSpc>
            <a:spcBef>
              <a:spcPct val="0"/>
            </a:spcBef>
            <a:spcAft>
              <a:spcPct val="15000"/>
            </a:spcAft>
            <a:buChar char="•"/>
          </a:pPr>
          <a:r>
            <a:rPr lang="en-AU" sz="1600" kern="1200" dirty="0"/>
            <a:t>No party other than the certification authority can modify the certificate without this being detected</a:t>
          </a:r>
        </a:p>
      </dsp:txBody>
      <dsp:txXfrm rot="-5400000">
        <a:off x="2194561" y="286086"/>
        <a:ext cx="3821093" cy="1485226"/>
      </dsp:txXfrm>
    </dsp:sp>
    <dsp:sp modelId="{0C8AC54C-E587-EC4F-9B8B-70A8685B8864}">
      <dsp:nvSpPr>
        <dsp:cNvPr id="0" name=""/>
        <dsp:cNvSpPr/>
      </dsp:nvSpPr>
      <dsp:spPr>
        <a:xfrm>
          <a:off x="0" y="0"/>
          <a:ext cx="2194560" cy="2057400"/>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solidFill>
            <a:schemeClr val="tx1"/>
          </a:solid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n-AU" sz="2100" kern="1200" dirty="0"/>
            <a:t>User certificates generated by a CA have the following characteristics:</a:t>
          </a:r>
          <a:endParaRPr lang="en-US" sz="2100" kern="1200" dirty="0"/>
        </a:p>
      </dsp:txBody>
      <dsp:txXfrm>
        <a:off x="100434" y="100434"/>
        <a:ext cx="1993692" cy="185653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BED80D-6E91-45F8-A257-1F1789FA5669}" type="datetimeFigureOut">
              <a:rPr lang="en-US" smtClean="0"/>
              <a:pPr/>
              <a:t>12/25/2022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A2C361-1915-41F4-844E-891FB6C238BD}" type="slidenum">
              <a:rPr lang="en-US" smtClean="0"/>
              <a:pPr/>
              <a:t>‹#›</a:t>
            </a:fld>
            <a:endParaRPr lang="en-US"/>
          </a:p>
        </p:txBody>
      </p:sp>
    </p:spTree>
    <p:extLst>
      <p:ext uri="{BB962C8B-B14F-4D97-AF65-F5344CB8AC3E}">
        <p14:creationId xmlns:p14="http://schemas.microsoft.com/office/powerpoint/2010/main" val="269917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31"/>
          <p:cNvSpPr>
            <a:spLocks noGrp="1" noChangeArrowheads="1"/>
          </p:cNvSpPr>
          <p:nvPr>
            <p:ph type="sldNum" sz="quarter" idx="5"/>
          </p:nvPr>
        </p:nvSpPr>
        <p:spPr>
          <a:noFill/>
        </p:spPr>
        <p:txBody>
          <a:bodyPr/>
          <a:lstStyle/>
          <a:p>
            <a:fld id="{8496061D-B7B8-4652-8610-C2771844FA5A}" type="slidenum">
              <a:rPr lang="en-AU"/>
              <a:pPr/>
              <a:t>2</a:t>
            </a:fld>
            <a:endParaRPr lang="en-AU"/>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r>
              <a:rPr lang="en-US" dirty="0">
                <a:latin typeface="Arial" pitchFamily="34" charset="0"/>
              </a:rPr>
              <a:t>For symmetric encryption to work, the two parties to an exchange must share the same key, and that key must be protected from access by others. Furthermore, frequent key changes are usually desirable to limit the amount of data compromised if an attacker learns the key. </a:t>
            </a:r>
            <a:r>
              <a:rPr lang="en-AU" dirty="0">
                <a:latin typeface="Arial" pitchFamily="34" charset="0"/>
              </a:rPr>
              <a:t>This is one of the most critical areas in security systems - on many occasions systems have been broken, not because of a poor encryption algorithm, but because of poor key selection or management. It is </a:t>
            </a:r>
            <a:r>
              <a:rPr lang="en-AU" b="1" dirty="0">
                <a:latin typeface="Arial" pitchFamily="34" charset="0"/>
              </a:rPr>
              <a:t>absolutely critical</a:t>
            </a:r>
            <a:r>
              <a:rPr lang="en-AU" dirty="0">
                <a:latin typeface="Arial" pitchFamily="34" charset="0"/>
              </a:rPr>
              <a:t> to get this right!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31"/>
          <p:cNvSpPr>
            <a:spLocks noGrp="1" noChangeArrowheads="1"/>
          </p:cNvSpPr>
          <p:nvPr>
            <p:ph type="sldNum" sz="quarter" idx="5"/>
          </p:nvPr>
        </p:nvSpPr>
        <p:spPr>
          <a:noFill/>
        </p:spPr>
        <p:txBody>
          <a:bodyPr/>
          <a:lstStyle/>
          <a:p>
            <a:fld id="{C627F8C1-3CF9-5D49-9E3D-0F315BFC7ECE}" type="slidenum">
              <a:rPr lang="en-AU">
                <a:latin typeface="Arial" pitchFamily="-84" charset="0"/>
              </a:rPr>
              <a:pPr/>
              <a:t>3</a:t>
            </a:fld>
            <a:endParaRPr lang="en-AU" dirty="0">
              <a:latin typeface="Arial" pitchFamily="-84"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normAutofit fontScale="925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For two parties A and B, key distribution can be achieved in a number of ways, as</a:t>
            </a:r>
          </a:p>
          <a:p>
            <a:r>
              <a:rPr lang="en-US" sz="1200" kern="1200" baseline="0" dirty="0">
                <a:solidFill>
                  <a:schemeClr val="tx1"/>
                </a:solidFill>
                <a:latin typeface="Arial" pitchFamily="-107" charset="0"/>
                <a:ea typeface="ＭＳ Ｐゴシック" pitchFamily="-107" charset="-128"/>
                <a:cs typeface="ＭＳ Ｐゴシック" pitchFamily="-107" charset="-128"/>
              </a:rPr>
              <a:t>follows: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A can select a key and physically deliver it to B.</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A third party can select the key and physically deliver it to A and B.</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If A and B have previously and recently used a key, one party can transmit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new key to the other, encrypted using the old key.</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If A and B each has an encrypted connection to a third party C, C can deliver</a:t>
            </a:r>
          </a:p>
          <a:p>
            <a:r>
              <a:rPr lang="en-US" sz="1200" kern="1200" baseline="0" dirty="0">
                <a:solidFill>
                  <a:schemeClr val="tx1"/>
                </a:solidFill>
                <a:latin typeface="Arial" pitchFamily="-107" charset="0"/>
                <a:ea typeface="ＭＳ Ｐゴシック" pitchFamily="-107" charset="-128"/>
                <a:cs typeface="ＭＳ Ｐゴシック" pitchFamily="-107" charset="-128"/>
              </a:rPr>
              <a:t>a key on the encrypted links to A and B.</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Options 1 and 2 call for manual delivery of a key. For link encryption,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is a reasonable requirement, because each link encryption device is going to be</a:t>
            </a:r>
          </a:p>
          <a:p>
            <a:r>
              <a:rPr lang="en-US" sz="1200" kern="1200" baseline="0" dirty="0">
                <a:solidFill>
                  <a:schemeClr val="tx1"/>
                </a:solidFill>
                <a:latin typeface="Arial" pitchFamily="-107" charset="0"/>
                <a:ea typeface="ＭＳ Ｐゴシック" pitchFamily="-107" charset="-128"/>
                <a:cs typeface="ＭＳ Ｐゴシック" pitchFamily="-107" charset="-128"/>
              </a:rPr>
              <a:t>exchanging data only with its partner on the other end of the link. However, for</a:t>
            </a:r>
          </a:p>
          <a:p>
            <a:r>
              <a:rPr lang="en-US" sz="1200" kern="1200" baseline="0" dirty="0">
                <a:solidFill>
                  <a:schemeClr val="tx1"/>
                </a:solidFill>
                <a:latin typeface="Arial" pitchFamily="-107" charset="0"/>
                <a:ea typeface="ＭＳ Ｐゴシック" pitchFamily="-107" charset="-128"/>
                <a:cs typeface="ＭＳ Ｐゴシック" pitchFamily="-107" charset="-128"/>
              </a:rPr>
              <a:t>end-to-end encryption  over a network, manual delivery is awkward. In a distributed</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 any given host or terminal may need to engage in exchanges with</a:t>
            </a:r>
          </a:p>
          <a:p>
            <a:r>
              <a:rPr lang="en-US" sz="1200" kern="1200" baseline="0" dirty="0">
                <a:solidFill>
                  <a:schemeClr val="tx1"/>
                </a:solidFill>
                <a:latin typeface="Arial" pitchFamily="-107" charset="0"/>
                <a:ea typeface="ＭＳ Ｐゴシック" pitchFamily="-107" charset="-128"/>
                <a:cs typeface="ＭＳ Ｐゴシック" pitchFamily="-107" charset="-128"/>
              </a:rPr>
              <a:t>many other hosts and terminals over time. Thus, each device needs a number of</a:t>
            </a:r>
          </a:p>
          <a:p>
            <a:r>
              <a:rPr lang="en-US" sz="1200" kern="1200" baseline="0" dirty="0">
                <a:solidFill>
                  <a:schemeClr val="tx1"/>
                </a:solidFill>
                <a:latin typeface="Arial" pitchFamily="-107" charset="0"/>
                <a:ea typeface="ＭＳ Ｐゴシック" pitchFamily="-107" charset="-128"/>
                <a:cs typeface="ＭＳ Ｐゴシック" pitchFamily="-107" charset="-128"/>
              </a:rPr>
              <a:t>keys supplied dynamically. The problem is especially difficult in a wide-area distributed</a:t>
            </a:r>
          </a:p>
          <a:p>
            <a:r>
              <a:rPr lang="en-US" sz="1200" kern="1200" baseline="0" dirty="0">
                <a:solidFill>
                  <a:schemeClr val="tx1"/>
                </a:solidFill>
                <a:latin typeface="Arial" pitchFamily="-107" charset="0"/>
                <a:ea typeface="ＭＳ Ｐゴシック" pitchFamily="-107" charset="-128"/>
                <a:cs typeface="ＭＳ Ｐゴシック" pitchFamily="-107" charset="-128"/>
              </a:rPr>
              <a:t>system.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031"/>
          <p:cNvSpPr>
            <a:spLocks noGrp="1" noChangeArrowheads="1"/>
          </p:cNvSpPr>
          <p:nvPr>
            <p:ph type="sldNum" sz="quarter" idx="5"/>
          </p:nvPr>
        </p:nvSpPr>
        <p:spPr>
          <a:noFill/>
        </p:spPr>
        <p:txBody>
          <a:bodyPr/>
          <a:lstStyle/>
          <a:p>
            <a:fld id="{95CD5FAA-EC53-479F-A2EF-A7127021261B}" type="slidenum">
              <a:rPr lang="en-AU"/>
              <a:pPr/>
              <a:t>4</a:t>
            </a:fld>
            <a:endParaRPr lang="en-AU"/>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r>
              <a:rPr lang="en-US">
                <a:latin typeface="Arial" pitchFamily="34" charset="0"/>
              </a:rPr>
              <a:t>For end-to-end encryption, some variation on option 4 has been widely adopted. In this scheme, a key distribution center is responsible for distributing keys to pairs of users (hosts, processes, applications) as needed. Each user must share a unique key with the key distribution center for purposes of key distribution. The use of a key distribution center is based on the use of a hierarchy of keys. At a minimum, two levels of keys are used: a session key, used for the duration of a logical connection; and a master key shared by the key distribution center and an end system or user and used to encrypt the session key.</a:t>
            </a:r>
          </a:p>
          <a:p>
            <a:pPr eaLnBrk="1" hangingPunct="1"/>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p:cNvSpPr>
          <p:nvPr>
            <p:ph type="sldImg"/>
          </p:nvPr>
        </p:nvSpPr>
        <p:spPr>
          <a:ln/>
        </p:spPr>
      </p:sp>
      <p:sp>
        <p:nvSpPr>
          <p:cNvPr id="35843" name="Notes Placeholder 2"/>
          <p:cNvSpPr>
            <a:spLocks noGrp="1"/>
          </p:cNvSpPr>
          <p:nvPr>
            <p:ph type="body" idx="1"/>
          </p:nvPr>
        </p:nvSpPr>
        <p:spPr>
          <a:noFill/>
          <a:ln/>
        </p:spPr>
        <p:txBody>
          <a:bodyPr/>
          <a:lstStyle/>
          <a:p>
            <a:pPr eaLnBrk="1" hangingPunct="1"/>
            <a:r>
              <a:rPr lang="en-US">
                <a:latin typeface="Arial" pitchFamily="34" charset="0"/>
              </a:rPr>
              <a:t>Because of the inefficiency of public key cryptosystems, they are almost never used for the direct encryption of sizable block of data, but are limited to relatively small blocks. One of the most important uses of a public key cryptosystem is to encrypt secret keys for distribution. We see many specific examples of this later in the text.</a:t>
            </a:r>
          </a:p>
        </p:txBody>
      </p:sp>
      <p:sp>
        <p:nvSpPr>
          <p:cNvPr id="35844" name="Slide Number Placeholder 3"/>
          <p:cNvSpPr>
            <a:spLocks noGrp="1"/>
          </p:cNvSpPr>
          <p:nvPr>
            <p:ph type="sldNum" sz="quarter" idx="5"/>
          </p:nvPr>
        </p:nvSpPr>
        <p:spPr>
          <a:noFill/>
        </p:spPr>
        <p:txBody>
          <a:bodyPr/>
          <a:lstStyle/>
          <a:p>
            <a:fld id="{1536B92F-52A4-405A-9C49-58721E111906}" type="slidenum">
              <a:rPr lang="en-AU"/>
              <a:pPr/>
              <a:t>5</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p:cNvSpPr>
          <p:nvPr>
            <p:ph type="sldImg"/>
          </p:nvPr>
        </p:nvSpPr>
        <p:spPr>
          <a:ln/>
        </p:spPr>
      </p:sp>
      <p:sp>
        <p:nvSpPr>
          <p:cNvPr id="3" name="Notes Placeholder 2"/>
          <p:cNvSpPr>
            <a:spLocks noGrp="1"/>
          </p:cNvSpPr>
          <p:nvPr>
            <p:ph type="body" idx="1"/>
          </p:nvPr>
        </p:nvSpPr>
        <p:spPr/>
        <p:txBody>
          <a:bodyPr>
            <a:normAutofit/>
          </a:bodyPr>
          <a:lstStyle/>
          <a:p>
            <a:pPr eaLnBrk="1" hangingPunct="1"/>
            <a:r>
              <a:rPr lang="en-US">
                <a:latin typeface="Arial" pitchFamily="34" charset="0"/>
              </a:rPr>
              <a:t>An extremely simple scheme was put forward by Merkle from Stallings Figure 14.7. If A wishes to communicate with B, the following procedure is employed:</a:t>
            </a:r>
          </a:p>
          <a:p>
            <a:pPr eaLnBrk="1" hangingPunct="1">
              <a:buFontTx/>
              <a:buAutoNum type="arabicPeriod"/>
            </a:pPr>
            <a:r>
              <a:rPr lang="en-US">
                <a:latin typeface="Arial" pitchFamily="34" charset="0"/>
              </a:rPr>
              <a:t>A generates a public/private key pair {</a:t>
            </a:r>
            <a:r>
              <a:rPr lang="en-US" i="1">
                <a:latin typeface="Arial" pitchFamily="34" charset="0"/>
              </a:rPr>
              <a:t>PUa, PRa} </a:t>
            </a:r>
            <a:r>
              <a:rPr lang="en-US">
                <a:latin typeface="Arial" pitchFamily="34" charset="0"/>
              </a:rPr>
              <a:t>and transmits a message to B consisting of PUa and an identifier of A, IDA.  </a:t>
            </a:r>
          </a:p>
          <a:p>
            <a:pPr eaLnBrk="1" hangingPunct="1">
              <a:buFontTx/>
              <a:buAutoNum type="arabicPeriod"/>
            </a:pPr>
            <a:r>
              <a:rPr lang="en-US">
                <a:latin typeface="Arial" pitchFamily="34" charset="0"/>
              </a:rPr>
              <a:t>B generates a secret key, Ks, and transmits it to A, encrypted with A's public key.  </a:t>
            </a:r>
          </a:p>
          <a:p>
            <a:pPr eaLnBrk="1" hangingPunct="1">
              <a:buFontTx/>
              <a:buAutoNum type="arabicPeriod"/>
            </a:pPr>
            <a:r>
              <a:rPr lang="en-US">
                <a:latin typeface="Arial" pitchFamily="34" charset="0"/>
              </a:rPr>
              <a:t>A computes D(PRa, E(PUa, Ks)) to recover the secret key. Because only A can decrypt the message, only A and B will know the identity of Ks.  </a:t>
            </a:r>
          </a:p>
          <a:p>
            <a:pPr eaLnBrk="1" hangingPunct="1">
              <a:buFontTx/>
              <a:buAutoNum type="arabicPeriod"/>
            </a:pPr>
            <a:r>
              <a:rPr lang="en-US">
                <a:latin typeface="Arial" pitchFamily="34" charset="0"/>
              </a:rPr>
              <a:t>A discards PUa and PRa and B discards PUa. </a:t>
            </a:r>
          </a:p>
          <a:p>
            <a:pPr eaLnBrk="1" hangingPunct="1"/>
            <a:endParaRPr lang="en-US">
              <a:latin typeface="Arial" pitchFamily="34" charset="0"/>
            </a:endParaRPr>
          </a:p>
          <a:p>
            <a:pPr eaLnBrk="1" hangingPunct="1"/>
            <a:r>
              <a:rPr lang="en-US">
                <a:latin typeface="Arial" pitchFamily="34" charset="0"/>
              </a:rPr>
              <a:t>A and B can now securely communicate using conventional encryption and the session key </a:t>
            </a:r>
            <a:r>
              <a:rPr lang="en-US" i="1">
                <a:latin typeface="Arial" pitchFamily="34" charset="0"/>
              </a:rPr>
              <a:t>Ks. </a:t>
            </a:r>
            <a:r>
              <a:rPr lang="en-US">
                <a:latin typeface="Arial" pitchFamily="34" charset="0"/>
              </a:rPr>
              <a:t>At the completion of the exchange, both A and B discard </a:t>
            </a:r>
            <a:r>
              <a:rPr lang="en-US" i="1">
                <a:latin typeface="Arial" pitchFamily="34" charset="0"/>
              </a:rPr>
              <a:t>Ks</a:t>
            </a:r>
            <a:r>
              <a:rPr lang="en-US">
                <a:latin typeface="Arial" pitchFamily="34" charset="0"/>
              </a:rPr>
              <a:t>. Despite its simplicity, this is an attractive protocol. No keys exist before the start of the communication and none exist after the completion of communication. Thus, the risk of compromise of the keys is minimal. At the same time, the communication is secure from eavesdropping. </a:t>
            </a:r>
          </a:p>
        </p:txBody>
      </p:sp>
      <p:sp>
        <p:nvSpPr>
          <p:cNvPr id="37892" name="Slide Number Placeholder 3"/>
          <p:cNvSpPr>
            <a:spLocks noGrp="1"/>
          </p:cNvSpPr>
          <p:nvPr>
            <p:ph type="sldNum" sz="quarter" idx="5"/>
          </p:nvPr>
        </p:nvSpPr>
        <p:spPr>
          <a:noFill/>
        </p:spPr>
        <p:txBody>
          <a:bodyPr/>
          <a:lstStyle/>
          <a:p>
            <a:fld id="{24FC1D52-0EB2-4953-A607-C1A29C682C58}" type="slidenum">
              <a:rPr lang="en-AU"/>
              <a:pPr/>
              <a:t>6</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p:cNvSpPr>
          <p:nvPr>
            <p:ph type="sldImg"/>
          </p:nvPr>
        </p:nvSpPr>
        <p:spPr>
          <a:ln/>
        </p:spPr>
      </p:sp>
      <p:sp>
        <p:nvSpPr>
          <p:cNvPr id="3" name="Notes Placeholder 2"/>
          <p:cNvSpPr>
            <a:spLocks noGrp="1"/>
          </p:cNvSpPr>
          <p:nvPr>
            <p:ph type="body" idx="1"/>
          </p:nvPr>
        </p:nvSpPr>
        <p:spPr>
          <a:xfrm>
            <a:off x="531813" y="4343400"/>
            <a:ext cx="5767387" cy="4114800"/>
          </a:xfrm>
        </p:spPr>
        <p:txBody>
          <a:bodyPr>
            <a:normAutofit/>
          </a:bodyPr>
          <a:lstStyle/>
          <a:p>
            <a:pPr eaLnBrk="1" hangingPunct="1">
              <a:defRPr/>
            </a:pPr>
            <a:r>
              <a:rPr lang="en-US" dirty="0">
                <a:ea typeface="+mn-ea"/>
                <a:cs typeface="+mn-cs"/>
              </a:rPr>
              <a:t>The protocol depicted in Figure 14.7 is insecure against an adversary who can intercept messages and then either relay the intercepted message or substitute another message (see Stallings Figure 1.3c). Such an attack is known as a </a:t>
            </a:r>
            <a:r>
              <a:rPr lang="en-US" b="1" dirty="0">
                <a:ea typeface="+mn-ea"/>
                <a:cs typeface="+mn-cs"/>
              </a:rPr>
              <a:t>man-in-the-middle attack</a:t>
            </a:r>
            <a:r>
              <a:rPr lang="en-US" dirty="0">
                <a:ea typeface="+mn-ea"/>
                <a:cs typeface="+mn-cs"/>
              </a:rPr>
              <a:t>.  In this case, if an adversary, E, has control of the intervening communication channel, then E can compromise the communication in the following fashion without being detected:</a:t>
            </a:r>
          </a:p>
          <a:p>
            <a:pPr marL="228600" indent="-228600" eaLnBrk="1" hangingPunct="1">
              <a:buFontTx/>
              <a:buAutoNum type="arabicPeriod"/>
              <a:defRPr/>
            </a:pPr>
            <a:r>
              <a:rPr lang="en-US" dirty="0">
                <a:ea typeface="+mn-ea"/>
                <a:cs typeface="+mn-cs"/>
              </a:rPr>
              <a:t>A generates a public/private key pair {</a:t>
            </a:r>
            <a:r>
              <a:rPr lang="en-US" dirty="0" err="1">
                <a:ea typeface="+mn-ea"/>
                <a:cs typeface="+mn-cs"/>
              </a:rPr>
              <a:t>PUa</a:t>
            </a:r>
            <a:r>
              <a:rPr lang="en-US" dirty="0">
                <a:ea typeface="+mn-ea"/>
                <a:cs typeface="+mn-cs"/>
              </a:rPr>
              <a:t>, </a:t>
            </a:r>
            <a:r>
              <a:rPr lang="en-US" dirty="0" err="1">
                <a:ea typeface="+mn-ea"/>
                <a:cs typeface="+mn-cs"/>
              </a:rPr>
              <a:t>PRa</a:t>
            </a:r>
            <a:r>
              <a:rPr lang="en-US" dirty="0">
                <a:ea typeface="+mn-ea"/>
                <a:cs typeface="+mn-cs"/>
              </a:rPr>
              <a:t>} and transmits a message intended for B consisting of </a:t>
            </a:r>
            <a:r>
              <a:rPr lang="en-US" dirty="0" err="1">
                <a:ea typeface="+mn-ea"/>
                <a:cs typeface="+mn-cs"/>
              </a:rPr>
              <a:t>PUa</a:t>
            </a:r>
            <a:r>
              <a:rPr lang="en-US" dirty="0">
                <a:ea typeface="+mn-ea"/>
                <a:cs typeface="+mn-cs"/>
              </a:rPr>
              <a:t> and an identifier of A, IDA. </a:t>
            </a:r>
          </a:p>
          <a:p>
            <a:pPr marL="228600" indent="-228600" eaLnBrk="1" hangingPunct="1">
              <a:buFontTx/>
              <a:buAutoNum type="arabicPeriod"/>
              <a:defRPr/>
            </a:pPr>
            <a:r>
              <a:rPr lang="en-US" dirty="0">
                <a:ea typeface="+mn-ea"/>
                <a:cs typeface="+mn-cs"/>
              </a:rPr>
              <a:t>E intercepts the message, creates its own public/private key pair {</a:t>
            </a:r>
            <a:r>
              <a:rPr lang="en-US" dirty="0" err="1">
                <a:ea typeface="+mn-ea"/>
                <a:cs typeface="+mn-cs"/>
              </a:rPr>
              <a:t>PUe</a:t>
            </a:r>
            <a:r>
              <a:rPr lang="en-US" dirty="0">
                <a:ea typeface="+mn-ea"/>
                <a:cs typeface="+mn-cs"/>
              </a:rPr>
              <a:t>, </a:t>
            </a:r>
            <a:r>
              <a:rPr lang="en-US" dirty="0" err="1">
                <a:ea typeface="+mn-ea"/>
                <a:cs typeface="+mn-cs"/>
              </a:rPr>
              <a:t>PRe</a:t>
            </a:r>
            <a:r>
              <a:rPr lang="en-US" dirty="0">
                <a:ea typeface="+mn-ea"/>
                <a:cs typeface="+mn-cs"/>
              </a:rPr>
              <a:t>} and transmits </a:t>
            </a:r>
            <a:r>
              <a:rPr lang="en-US" dirty="0" err="1">
                <a:ea typeface="+mn-ea"/>
                <a:cs typeface="+mn-cs"/>
              </a:rPr>
              <a:t>PUe</a:t>
            </a:r>
            <a:r>
              <a:rPr lang="en-US" dirty="0">
                <a:ea typeface="+mn-ea"/>
                <a:cs typeface="+mn-cs"/>
              </a:rPr>
              <a:t> || IDA to B.  </a:t>
            </a:r>
          </a:p>
          <a:p>
            <a:pPr marL="228600" indent="-228600" eaLnBrk="1" hangingPunct="1">
              <a:buFontTx/>
              <a:buAutoNum type="arabicPeriod"/>
              <a:defRPr/>
            </a:pPr>
            <a:r>
              <a:rPr lang="en-US" dirty="0">
                <a:ea typeface="+mn-ea"/>
                <a:cs typeface="+mn-cs"/>
              </a:rPr>
              <a:t>B generates a secret key, Ks, and transmits </a:t>
            </a:r>
            <a:r>
              <a:rPr lang="en-US" dirty="0" err="1">
                <a:ea typeface="+mn-ea"/>
                <a:cs typeface="+mn-cs"/>
              </a:rPr>
              <a:t>E(PUe</a:t>
            </a:r>
            <a:r>
              <a:rPr lang="en-US" dirty="0">
                <a:ea typeface="+mn-ea"/>
                <a:cs typeface="+mn-cs"/>
              </a:rPr>
              <a:t>, Ks).  </a:t>
            </a:r>
          </a:p>
          <a:p>
            <a:pPr marL="228600" indent="-228600" eaLnBrk="1" hangingPunct="1">
              <a:buFontTx/>
              <a:buAutoNum type="arabicPeriod"/>
              <a:defRPr/>
            </a:pPr>
            <a:r>
              <a:rPr lang="en-US" dirty="0">
                <a:ea typeface="+mn-ea"/>
                <a:cs typeface="+mn-cs"/>
              </a:rPr>
              <a:t>E intercepts the message and learns Ks by computing </a:t>
            </a:r>
            <a:r>
              <a:rPr lang="en-US" dirty="0" err="1">
                <a:ea typeface="+mn-ea"/>
                <a:cs typeface="+mn-cs"/>
              </a:rPr>
              <a:t>D(PRe</a:t>
            </a:r>
            <a:r>
              <a:rPr lang="en-US" dirty="0">
                <a:ea typeface="+mn-ea"/>
                <a:cs typeface="+mn-cs"/>
              </a:rPr>
              <a:t>, </a:t>
            </a:r>
            <a:r>
              <a:rPr lang="en-US" dirty="0" err="1">
                <a:ea typeface="+mn-ea"/>
                <a:cs typeface="+mn-cs"/>
              </a:rPr>
              <a:t>E(PUe</a:t>
            </a:r>
            <a:r>
              <a:rPr lang="en-US" dirty="0">
                <a:ea typeface="+mn-ea"/>
                <a:cs typeface="+mn-cs"/>
              </a:rPr>
              <a:t>, Ks)).  </a:t>
            </a:r>
          </a:p>
          <a:p>
            <a:pPr marL="228600" indent="-228600" eaLnBrk="1" hangingPunct="1">
              <a:buFontTx/>
              <a:buAutoNum type="arabicPeriod"/>
              <a:defRPr/>
            </a:pPr>
            <a:r>
              <a:rPr lang="en-US" dirty="0">
                <a:ea typeface="+mn-ea"/>
                <a:cs typeface="+mn-cs"/>
              </a:rPr>
              <a:t>E transmits </a:t>
            </a:r>
            <a:r>
              <a:rPr lang="en-US" dirty="0" err="1">
                <a:ea typeface="+mn-ea"/>
                <a:cs typeface="+mn-cs"/>
              </a:rPr>
              <a:t>E(PUa</a:t>
            </a:r>
            <a:r>
              <a:rPr lang="en-US" dirty="0">
                <a:ea typeface="+mn-ea"/>
                <a:cs typeface="+mn-cs"/>
              </a:rPr>
              <a:t>, Ks) to A.   </a:t>
            </a:r>
          </a:p>
          <a:p>
            <a:pPr marL="228600" indent="-228600" eaLnBrk="1" hangingPunct="1">
              <a:defRPr/>
            </a:pPr>
            <a:r>
              <a:rPr lang="en-US" dirty="0">
                <a:ea typeface="+mn-ea"/>
                <a:cs typeface="+mn-cs"/>
              </a:rPr>
              <a:t>The result is that both A and B know </a:t>
            </a:r>
            <a:r>
              <a:rPr lang="en-US" i="1" dirty="0">
                <a:ea typeface="+mn-ea"/>
                <a:cs typeface="+mn-cs"/>
              </a:rPr>
              <a:t>Ks </a:t>
            </a:r>
            <a:r>
              <a:rPr lang="en-US" dirty="0">
                <a:ea typeface="+mn-ea"/>
                <a:cs typeface="+mn-cs"/>
              </a:rPr>
              <a:t>and are unaware that </a:t>
            </a:r>
            <a:r>
              <a:rPr lang="en-US" i="1" dirty="0">
                <a:ea typeface="+mn-ea"/>
                <a:cs typeface="+mn-cs"/>
              </a:rPr>
              <a:t>Ks </a:t>
            </a:r>
            <a:r>
              <a:rPr lang="en-US" dirty="0">
                <a:ea typeface="+mn-ea"/>
                <a:cs typeface="+mn-cs"/>
              </a:rPr>
              <a:t>has also been revealed to E. A and B can now exchange messages using </a:t>
            </a:r>
            <a:r>
              <a:rPr lang="en-US" i="1" dirty="0">
                <a:ea typeface="+mn-ea"/>
                <a:cs typeface="+mn-cs"/>
              </a:rPr>
              <a:t>Ks</a:t>
            </a:r>
            <a:r>
              <a:rPr lang="en-US" dirty="0">
                <a:ea typeface="+mn-ea"/>
                <a:cs typeface="+mn-cs"/>
              </a:rPr>
              <a:t>. E no longer actively interferes with the communications channel but simply eavesdrops. Knowing </a:t>
            </a:r>
            <a:r>
              <a:rPr lang="en-US" i="1" dirty="0">
                <a:ea typeface="+mn-ea"/>
                <a:cs typeface="+mn-cs"/>
              </a:rPr>
              <a:t>Ks</a:t>
            </a:r>
            <a:r>
              <a:rPr lang="en-US" dirty="0">
                <a:ea typeface="+mn-ea"/>
                <a:cs typeface="+mn-cs"/>
              </a:rPr>
              <a:t>, E can decrypt all messages, and both A and B are unaware of the problem. Thus, this simple protocol is only useful in an environment where the only threat is eavesdropping. </a:t>
            </a:r>
          </a:p>
        </p:txBody>
      </p:sp>
      <p:sp>
        <p:nvSpPr>
          <p:cNvPr id="39940" name="Slide Number Placeholder 3"/>
          <p:cNvSpPr>
            <a:spLocks noGrp="1"/>
          </p:cNvSpPr>
          <p:nvPr>
            <p:ph type="sldNum" sz="quarter" idx="5"/>
          </p:nvPr>
        </p:nvSpPr>
        <p:spPr>
          <a:noFill/>
        </p:spPr>
        <p:txBody>
          <a:bodyPr/>
          <a:lstStyle/>
          <a:p>
            <a:fld id="{3FD4A830-F5D8-4D52-AE3C-39EE35227631}" type="slidenum">
              <a:rPr lang="en-AU"/>
              <a:pPr/>
              <a:t>7</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51119348-A1EE-F14E-A7EA-FBBC37105F9E}" type="slidenum">
              <a:rPr lang="en-AU">
                <a:latin typeface="Arial" pitchFamily="-84" charset="0"/>
              </a:rPr>
              <a:pPr/>
              <a:t>8</a:t>
            </a:fld>
            <a:endParaRPr lang="en-AU" dirty="0">
              <a:latin typeface="Arial" pitchFamily="-8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Several techniques have been proposed for the distribution of public keys, which can mostly be grouped into the categories shown.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D56BF3F0-640B-4F01-8070-68CEF367FCB8}" type="slidenum">
              <a:rPr lang="en-AU"/>
              <a:pPr/>
              <a:t>9</a:t>
            </a:fld>
            <a:endParaRPr lang="en-AU"/>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An further improvement, first suggested by Kohnfelder, is to use certificates, which can be used to exchange keys without contacting a public-key authority, in a way that is as reliable as if the keys were obtained directly from a public-key authority. A certificate </a:t>
            </a:r>
            <a:r>
              <a:rPr lang="en-AU">
                <a:latin typeface="Arial" pitchFamily="34" charset="0"/>
                <a:cs typeface="Arial" pitchFamily="34" charset="0"/>
              </a:rPr>
              <a:t>binds an </a:t>
            </a:r>
            <a:r>
              <a:rPr lang="en-AU" b="1">
                <a:latin typeface="Arial" pitchFamily="34" charset="0"/>
                <a:cs typeface="Arial" pitchFamily="34" charset="0"/>
              </a:rPr>
              <a:t>identity</a:t>
            </a:r>
            <a:r>
              <a:rPr lang="en-AU">
                <a:latin typeface="Arial" pitchFamily="34" charset="0"/>
                <a:cs typeface="Arial" pitchFamily="34" charset="0"/>
              </a:rPr>
              <a:t> to </a:t>
            </a:r>
            <a:r>
              <a:rPr lang="en-AU" b="1">
                <a:latin typeface="Arial" pitchFamily="34" charset="0"/>
                <a:cs typeface="Arial" pitchFamily="34" charset="0"/>
              </a:rPr>
              <a:t>public key</a:t>
            </a:r>
            <a:r>
              <a:rPr lang="en-AU">
                <a:latin typeface="Arial" pitchFamily="34" charset="0"/>
                <a:cs typeface="Arial" pitchFamily="34" charset="0"/>
              </a:rPr>
              <a:t>, with all contents </a:t>
            </a:r>
            <a:r>
              <a:rPr lang="en-AU" b="1">
                <a:latin typeface="Arial" pitchFamily="34" charset="0"/>
                <a:cs typeface="Arial" pitchFamily="34" charset="0"/>
              </a:rPr>
              <a:t>signed</a:t>
            </a:r>
            <a:r>
              <a:rPr lang="en-AU">
                <a:latin typeface="Arial" pitchFamily="34" charset="0"/>
                <a:cs typeface="Arial" pitchFamily="34" charset="0"/>
              </a:rPr>
              <a:t> by a trusted Public-Key or Certificate Authority (CA). </a:t>
            </a:r>
            <a:r>
              <a:rPr lang="en-US">
                <a:latin typeface="Arial" pitchFamily="34" charset="0"/>
                <a:cs typeface="Arial" pitchFamily="34" charset="0"/>
              </a:rPr>
              <a:t>A user can present his or her public key to the authority in a secure manner, and obtain a certificate. The user can then publish the certificate. Anyone needing this user's public key can obtain the certificate and verify that it is valid by way of the attached trusted signature. A participant can also convey its key information to another by transmitting its certificate. Other participants can verify that the certificate was created by the authority, provided they know its public key. </a:t>
            </a:r>
          </a:p>
          <a:p>
            <a:pPr eaLnBrk="1" hangingPunct="1"/>
            <a:r>
              <a:rPr lang="en-US">
                <a:latin typeface="Arial" pitchFamily="34" charset="0"/>
                <a:cs typeface="Arial" pitchFamily="34" charset="0"/>
              </a:rPr>
              <a:t>One scheme has become universally accepted for formatting public-key certificates: the X.509 standard. X.509 certificates are used in most network security applications, including IP security, secure sockets layer (SSL), secure electronic transactions (SET), and S/MIME. Will discuss it in much more detail later.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EF6BE9DD-FAEF-B245-AB3D-3C9E9F791F6E}" type="slidenum">
              <a:rPr lang="en-AU">
                <a:latin typeface="Arial" pitchFamily="-84" charset="0"/>
              </a:rPr>
              <a:pPr/>
              <a:t>10</a:t>
            </a:fld>
            <a:endParaRPr lang="en-AU" dirty="0">
              <a:latin typeface="Arial" pitchFamily="-84" charset="0"/>
            </a:endParaRPr>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normAutofit fontScale="775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 The scenario of Figure 14.12 is attractive, yet it has some drawbacks. The public-key</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authority could be somewhat of a bottleneck in the system, for a user must appeal</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authority for a public key for every other user that it wishes to contact. As</a:t>
            </a:r>
          </a:p>
          <a:p>
            <a:r>
              <a:rPr lang="en-US" sz="1200" kern="1200" baseline="0" dirty="0">
                <a:solidFill>
                  <a:schemeClr val="tx1"/>
                </a:solidFill>
                <a:latin typeface="Arial" pitchFamily="-107" charset="0"/>
                <a:ea typeface="ＭＳ Ｐゴシック" pitchFamily="-107" charset="-128"/>
                <a:cs typeface="ＭＳ Ｐゴシック" pitchFamily="-107" charset="-128"/>
              </a:rPr>
              <a:t>before, the directory of names and public keys maintained by the authority is vulnerable</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tampering.</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An alternative approach, first suggested by Kohnfelder [KOHN78], is to use</a:t>
            </a:r>
          </a:p>
          <a:p>
            <a:r>
              <a:rPr lang="en-US" sz="1200" kern="1200" baseline="0" dirty="0">
                <a:solidFill>
                  <a:schemeClr val="tx1"/>
                </a:solidFill>
                <a:latin typeface="Arial" pitchFamily="-107" charset="0"/>
                <a:ea typeface="ＭＳ Ｐゴシック" pitchFamily="-107" charset="-128"/>
                <a:cs typeface="ＭＳ Ｐゴシック" pitchFamily="-107" charset="-128"/>
              </a:rPr>
              <a:t>certificates  that can be used by participants to exchange keys without contacting a</a:t>
            </a:r>
          </a:p>
          <a:p>
            <a:r>
              <a:rPr lang="en-US" sz="1200" kern="1200" baseline="0" dirty="0">
                <a:solidFill>
                  <a:schemeClr val="tx1"/>
                </a:solidFill>
                <a:latin typeface="Arial" pitchFamily="-107" charset="0"/>
                <a:ea typeface="ＭＳ Ｐゴシック" pitchFamily="-107" charset="-128"/>
                <a:cs typeface="ＭＳ Ｐゴシック" pitchFamily="-107" charset="-128"/>
              </a:rPr>
              <a:t>public-key authority, in a way that is as reliable as if the keys were obtained directly</a:t>
            </a:r>
          </a:p>
          <a:p>
            <a:r>
              <a:rPr lang="en-US" sz="1200" kern="1200" baseline="0" dirty="0">
                <a:solidFill>
                  <a:schemeClr val="tx1"/>
                </a:solidFill>
                <a:latin typeface="Arial" pitchFamily="-107" charset="0"/>
                <a:ea typeface="ＭＳ Ｐゴシック" pitchFamily="-107" charset="-128"/>
                <a:cs typeface="ＭＳ Ｐゴシック" pitchFamily="-107" charset="-128"/>
              </a:rPr>
              <a:t>from a public-key authority. In essence, a certificate consists of a public key, an</a:t>
            </a:r>
          </a:p>
          <a:p>
            <a:r>
              <a:rPr lang="en-US" sz="1200" kern="1200" baseline="0" dirty="0">
                <a:solidFill>
                  <a:schemeClr val="tx1"/>
                </a:solidFill>
                <a:latin typeface="Arial" pitchFamily="-107" charset="0"/>
                <a:ea typeface="ＭＳ Ｐゴシック" pitchFamily="-107" charset="-128"/>
                <a:cs typeface="ＭＳ Ｐゴシック" pitchFamily="-107" charset="-128"/>
              </a:rPr>
              <a:t>identifier of the key owner, and the whole block signed by a trusted third party.</a:t>
            </a:r>
          </a:p>
          <a:p>
            <a:r>
              <a:rPr lang="en-US" sz="1200" kern="1200" baseline="0" dirty="0">
                <a:solidFill>
                  <a:schemeClr val="tx1"/>
                </a:solidFill>
                <a:latin typeface="Arial" pitchFamily="-107" charset="0"/>
                <a:ea typeface="ＭＳ Ｐゴシック" pitchFamily="-107" charset="-128"/>
                <a:cs typeface="ＭＳ Ｐゴシック" pitchFamily="-107" charset="-128"/>
              </a:rPr>
              <a:t>Typically, the third party is a certificate authority, such as a government agency or a</a:t>
            </a:r>
          </a:p>
          <a:p>
            <a:r>
              <a:rPr lang="en-US" sz="1200" kern="1200" baseline="0" dirty="0">
                <a:solidFill>
                  <a:schemeClr val="tx1"/>
                </a:solidFill>
                <a:latin typeface="Arial" pitchFamily="-107" charset="0"/>
                <a:ea typeface="ＭＳ Ｐゴシック" pitchFamily="-107" charset="-128"/>
                <a:cs typeface="ＭＳ Ｐゴシック" pitchFamily="-107" charset="-128"/>
              </a:rPr>
              <a:t>financial institution, that is trusted by the user community. A user can present his or</a:t>
            </a:r>
          </a:p>
          <a:p>
            <a:r>
              <a:rPr lang="en-US" sz="1200" kern="1200" baseline="0" dirty="0">
                <a:solidFill>
                  <a:schemeClr val="tx1"/>
                </a:solidFill>
                <a:latin typeface="Arial" pitchFamily="-107" charset="0"/>
                <a:ea typeface="ＭＳ Ｐゴシック" pitchFamily="-107" charset="-128"/>
                <a:cs typeface="ＭＳ Ｐゴシック" pitchFamily="-107" charset="-128"/>
              </a:rPr>
              <a:t>her public key to the authority in a secure manner and obtain a certificate. The user</a:t>
            </a:r>
          </a:p>
          <a:p>
            <a:r>
              <a:rPr lang="en-US" sz="1200" kern="1200" baseline="0" dirty="0">
                <a:solidFill>
                  <a:schemeClr val="tx1"/>
                </a:solidFill>
                <a:latin typeface="Arial" pitchFamily="-107" charset="0"/>
                <a:ea typeface="ＭＳ Ｐゴシック" pitchFamily="-107" charset="-128"/>
                <a:cs typeface="ＭＳ Ｐゴシック" pitchFamily="-107" charset="-128"/>
              </a:rPr>
              <a:t>can then publish the certificate. Anyone needing this user’s public key can obtain</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certificate and verify that it is valid by way of the attached trusted signature.</a:t>
            </a:r>
          </a:p>
          <a:p>
            <a:r>
              <a:rPr lang="en-US" sz="1200" kern="1200" baseline="0" dirty="0">
                <a:solidFill>
                  <a:schemeClr val="tx1"/>
                </a:solidFill>
                <a:latin typeface="Arial" pitchFamily="-107" charset="0"/>
                <a:ea typeface="ＭＳ Ｐゴシック" pitchFamily="-107" charset="-128"/>
                <a:cs typeface="ＭＳ Ｐゴシック" pitchFamily="-107" charset="-128"/>
              </a:rPr>
              <a:t>A participant can also convey its key information to another by transmitting its</a:t>
            </a:r>
          </a:p>
          <a:p>
            <a:r>
              <a:rPr lang="en-US" sz="1200" kern="1200" baseline="0" dirty="0">
                <a:solidFill>
                  <a:schemeClr val="tx1"/>
                </a:solidFill>
                <a:latin typeface="Arial" pitchFamily="-107" charset="0"/>
                <a:ea typeface="ＭＳ Ｐゴシック" pitchFamily="-107" charset="-128"/>
                <a:cs typeface="ＭＳ Ｐゴシック" pitchFamily="-107" charset="-128"/>
              </a:rPr>
              <a:t>certificate. Other participants can verify that the certificate was created by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authority. We can place the following requirements on this scheme: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1.  Any participant can read a certificate to determine the name and public key of</a:t>
            </a:r>
          </a:p>
          <a:p>
            <a:r>
              <a:rPr lang="en-US" sz="1200" kern="1200" baseline="0" dirty="0">
                <a:solidFill>
                  <a:schemeClr val="tx1"/>
                </a:solidFill>
                <a:latin typeface="Arial" pitchFamily="-107" charset="0"/>
                <a:ea typeface="ＭＳ Ｐゴシック" pitchFamily="-107" charset="-128"/>
                <a:cs typeface="ＭＳ Ｐゴシック" pitchFamily="-107" charset="-128"/>
              </a:rPr>
              <a:t>the certificate’s owner.</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2.  Any participant can verify that the certificate originated from the certificate</a:t>
            </a:r>
          </a:p>
          <a:p>
            <a:r>
              <a:rPr lang="en-US" sz="1200" kern="1200" baseline="0" dirty="0">
                <a:solidFill>
                  <a:schemeClr val="tx1"/>
                </a:solidFill>
                <a:latin typeface="Arial" pitchFamily="-107" charset="0"/>
                <a:ea typeface="ＭＳ Ｐゴシック" pitchFamily="-107" charset="-128"/>
                <a:cs typeface="ＭＳ Ｐゴシック" pitchFamily="-107" charset="-128"/>
              </a:rPr>
              <a:t>authority and is not counterfeit.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3.  Only the certificate authority can create and update certificates.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These requirements are satisfied by the original proposal in [KOHN78]. Denning</a:t>
            </a:r>
          </a:p>
          <a:p>
            <a:r>
              <a:rPr lang="en-US" sz="1200" kern="1200" baseline="0" dirty="0">
                <a:solidFill>
                  <a:schemeClr val="tx1"/>
                </a:solidFill>
                <a:latin typeface="Arial" pitchFamily="-107" charset="0"/>
                <a:ea typeface="ＭＳ Ｐゴシック" pitchFamily="-107" charset="-128"/>
                <a:cs typeface="ＭＳ Ｐゴシック" pitchFamily="-107" charset="-128"/>
              </a:rPr>
              <a:t>[DENN83] added the following additional requirement:</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4.  Any participant can verify the currency of the certificate.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A certificate scheme is illustrated in Figure 14.13. Each participant applies</a:t>
            </a:r>
          </a:p>
          <a:p>
            <a:r>
              <a:rPr lang="en-US" sz="1200" kern="1200" baseline="0" dirty="0">
                <a:solidFill>
                  <a:schemeClr val="tx1"/>
                </a:solidFill>
                <a:latin typeface="Arial" pitchFamily="-107" charset="0"/>
                <a:ea typeface="ＭＳ Ｐゴシック" pitchFamily="-107" charset="-128"/>
                <a:cs typeface="ＭＳ Ｐゴシック" pitchFamily="-107" charset="-128"/>
              </a:rPr>
              <a:t>to the certificate authority, supplying a public key and requesting a certificate.</a:t>
            </a:r>
          </a:p>
          <a:p>
            <a:r>
              <a:rPr lang="en-US" sz="1200" kern="1200" baseline="0" dirty="0">
                <a:solidFill>
                  <a:schemeClr val="tx1"/>
                </a:solidFill>
                <a:latin typeface="Arial" pitchFamily="-107" charset="0"/>
                <a:ea typeface="ＭＳ Ｐゴシック" pitchFamily="-107" charset="-128"/>
                <a:cs typeface="ＭＳ Ｐゴシック" pitchFamily="-107" charset="-128"/>
              </a:rPr>
              <a:t>Application must be in person or by some form of secure authenticated communication.</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p>
            <a:fld id="{135BD204-FF19-44E2-9875-E6439AE29361}" type="slidenum">
              <a:rPr lang="en-AU"/>
              <a:pPr/>
              <a:t>11</a:t>
            </a:fld>
            <a:endParaRPr lang="en-AU"/>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X.509 is part of the X.500 series of recommendations that define a directory service, being a server or distributed set of servers that maintains a database of information about users.</a:t>
            </a:r>
            <a:endParaRPr lang="en-AU">
              <a:latin typeface="Arial" pitchFamily="34" charset="0"/>
              <a:cs typeface="Arial" pitchFamily="34" charset="0"/>
            </a:endParaRPr>
          </a:p>
          <a:p>
            <a:pPr eaLnBrk="1" hangingPunct="1"/>
            <a:r>
              <a:rPr lang="en-US">
                <a:latin typeface="Arial" pitchFamily="34" charset="0"/>
                <a:cs typeface="Arial" pitchFamily="34" charset="0"/>
              </a:rPr>
              <a:t>X.509 defines a framework for the provision of authentication services by the X.500 directory to its users. The directory may serve as a repository of public-key certificates. In addition, X.509 defines alternative authentication protocols based on the use of public-key certificates. X.509 is based on the use of public-key cryptography and digital signatures. The standard does not dictate the use of a specific algorithm but recommends RSA.</a:t>
            </a:r>
            <a:endParaRPr lang="en-AU">
              <a:latin typeface="Arial" pitchFamily="34" charset="0"/>
              <a:cs typeface="Arial" pitchFamily="34" charset="0"/>
            </a:endParaRPr>
          </a:p>
          <a:p>
            <a:pPr eaLnBrk="1" hangingPunct="1"/>
            <a:r>
              <a:rPr lang="en-US">
                <a:latin typeface="Arial" pitchFamily="34" charset="0"/>
                <a:cs typeface="Arial" pitchFamily="34" charset="0"/>
              </a:rPr>
              <a:t>The X.509 certificate format is </a:t>
            </a:r>
            <a:r>
              <a:rPr lang="en-AU">
                <a:latin typeface="Arial" pitchFamily="34" charset="0"/>
                <a:cs typeface="Arial" pitchFamily="34" charset="0"/>
              </a:rPr>
              <a:t>widely used,</a:t>
            </a:r>
            <a:r>
              <a:rPr lang="en-US">
                <a:latin typeface="Arial" pitchFamily="34" charset="0"/>
                <a:cs typeface="Arial" pitchFamily="34" charset="0"/>
              </a:rPr>
              <a:t> in for example S/MIME, IP Security and SSL/TLS and SET</a:t>
            </a:r>
            <a:r>
              <a:rPr lang="en-AU">
                <a:latin typeface="Arial" pitchFamily="34" charset="0"/>
                <a:cs typeface="Arial" pitchFamily="34" charset="0"/>
              </a:rPr>
              <a:t>.</a:t>
            </a:r>
          </a:p>
          <a:p>
            <a:pPr eaLnBrk="1" hangingPunct="1"/>
            <a:r>
              <a:rPr lang="en-US">
                <a:latin typeface="Arial" pitchFamily="34" charset="0"/>
                <a:cs typeface="Arial" pitchFamily="34" charset="0"/>
              </a:rPr>
              <a:t>X.509 was initially issued in 1988. The standard was subsequently revised to address some of the security concerns; a revised recommendation was issued in 1993. A third version was issued in 1995 and revised in 2000. </a:t>
            </a:r>
            <a:endParaRPr lang="en-AU">
              <a:latin typeface="Arial" pitchFamily="34" charset="0"/>
              <a:cs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p:cNvSpPr>
          <p:nvPr>
            <p:ph type="sldImg"/>
          </p:nvPr>
        </p:nvSpPr>
        <p:spPr>
          <a:ln/>
        </p:spPr>
      </p:sp>
      <p:sp>
        <p:nvSpPr>
          <p:cNvPr id="62467" name="Notes Placeholder 2"/>
          <p:cNvSpPr>
            <a:spLocks noGrp="1"/>
          </p:cNvSpPr>
          <p:nvPr>
            <p:ph type="body" idx="1"/>
          </p:nvPr>
        </p:nvSpPr>
        <p:spPr>
          <a:noFill/>
          <a:ln/>
        </p:spPr>
        <p:txBody>
          <a:bodyPr/>
          <a:lstStyle/>
          <a:p>
            <a:pPr eaLnBrk="1" hangingPunct="1"/>
            <a:r>
              <a:rPr lang="en-US">
                <a:latin typeface="Arial" pitchFamily="34" charset="0"/>
              </a:rPr>
              <a:t>X.509 is based on the use of public-key cryptography and digital signatures. The standard does not dictate the use of a specific algorithm but recommends RSA. The digital signature scheme is assumed to require the use of a hash function. Again, the standard does not dictate a specific hash algorithm. The 1988 recommendation included the description of a recommended hash algorithm; this algorithm has since been shown to be insecure and was dropped from the 1993 recommendation. Stallings Figure 14.13 illustrates the generation of a public-key certificate.</a:t>
            </a:r>
          </a:p>
        </p:txBody>
      </p:sp>
      <p:sp>
        <p:nvSpPr>
          <p:cNvPr id="62468" name="Slide Number Placeholder 3"/>
          <p:cNvSpPr>
            <a:spLocks noGrp="1"/>
          </p:cNvSpPr>
          <p:nvPr>
            <p:ph type="sldNum" sz="quarter" idx="5"/>
          </p:nvPr>
        </p:nvSpPr>
        <p:spPr>
          <a:noFill/>
        </p:spPr>
        <p:txBody>
          <a:bodyPr/>
          <a:lstStyle/>
          <a:p>
            <a:fld id="{C70CB5F6-24E0-4E4E-B191-6AFD1E6A1137}" type="slidenum">
              <a:rPr lang="en-AU"/>
              <a:pPr/>
              <a:t>12</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p:cNvSpPr>
            <a:spLocks noGrp="1" noChangeArrowheads="1"/>
          </p:cNvSpPr>
          <p:nvPr>
            <p:ph type="sldNum" sz="quarter" idx="5"/>
          </p:nvPr>
        </p:nvSpPr>
        <p:spPr>
          <a:noFill/>
        </p:spPr>
        <p:txBody>
          <a:bodyPr/>
          <a:lstStyle/>
          <a:p>
            <a:fld id="{2C3576AC-93D1-405D-B916-960094A9D6C6}" type="slidenum">
              <a:rPr lang="en-AU"/>
              <a:pPr/>
              <a:t>13</a:t>
            </a:fld>
            <a:endParaRPr lang="en-AU"/>
          </a:p>
        </p:txBody>
      </p:sp>
      <p:sp>
        <p:nvSpPr>
          <p:cNvPr id="64515" name="Rectangle 1026"/>
          <p:cNvSpPr>
            <a:spLocks noGrp="1" noRot="1" noChangeAspect="1" noChangeArrowheads="1" noTextEdit="1"/>
          </p:cNvSpPr>
          <p:nvPr>
            <p:ph type="sldImg"/>
          </p:nvPr>
        </p:nvSpPr>
        <p:spPr>
          <a:ln/>
        </p:spPr>
      </p:sp>
      <p:sp>
        <p:nvSpPr>
          <p:cNvPr id="64516" name="Rectangle 1027"/>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The heart of the X.509 scheme is the public-key certificate associated with each user. </a:t>
            </a:r>
            <a:r>
              <a:rPr lang="en-AU">
                <a:latin typeface="Arial" pitchFamily="34" charset="0"/>
                <a:cs typeface="Arial" pitchFamily="34" charset="0"/>
              </a:rPr>
              <a:t>There are 3 versions, with successively more info in the certificate - must be v2 if either unique identifier field exists, must be v3 if any extensions are used. </a:t>
            </a:r>
            <a:r>
              <a:rPr lang="en-US">
                <a:latin typeface="Arial" pitchFamily="34" charset="0"/>
                <a:cs typeface="Arial" pitchFamily="34" charset="0"/>
              </a:rPr>
              <a:t>These user certificates are assumed to be created by some trusted certification authority (CA) and placed in the directory by the CA or by the user. The directory server itself is not responsible for the creation of public keys or for the certification function; it merely provides an easily accessible location for users to obtain certificates. The certificate includes the elements shown, see text for further details. </a:t>
            </a:r>
          </a:p>
          <a:p>
            <a:pPr eaLnBrk="1" hangingPunct="1"/>
            <a:r>
              <a:rPr lang="en-US">
                <a:latin typeface="Arial" pitchFamily="34" charset="0"/>
                <a:cs typeface="Arial" pitchFamily="34" charset="0"/>
              </a:rPr>
              <a:t>The standard uses the notation for a certificate of: CA&lt;&lt;A&gt;&gt; where the CA signs the certificate for user A with its private key. In more detail CA&lt;&lt;A&gt;&gt; = CA {V, SN, AI, CA, UCA, A, UA, Ap, TA}. If the corresponding public key is known to a user, then that user can verify that a certificate signed by the CA is valid. This is the typical digital signature approach illustrated in Stallings Figure 13.2.</a:t>
            </a:r>
            <a:endParaRPr lang="en-AU">
              <a:latin typeface="Arial" pitchFamily="34" charset="0"/>
              <a:cs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31"/>
          <p:cNvSpPr>
            <a:spLocks noGrp="1" noChangeArrowheads="1"/>
          </p:cNvSpPr>
          <p:nvPr>
            <p:ph type="sldNum" sz="quarter" idx="5"/>
          </p:nvPr>
        </p:nvSpPr>
        <p:spPr>
          <a:noFill/>
        </p:spPr>
        <p:txBody>
          <a:bodyPr/>
          <a:lstStyle/>
          <a:p>
            <a:fld id="{0303250E-9FB7-4927-8743-B49F91472077}" type="slidenum">
              <a:rPr lang="en-AU"/>
              <a:pPr/>
              <a:t>14</a:t>
            </a:fld>
            <a:endParaRPr lang="en-AU"/>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r>
              <a:rPr lang="en-US">
                <a:latin typeface="Arial" pitchFamily="34" charset="0"/>
              </a:rPr>
              <a:t>Stallings Figure 14.4 shows the format of an X.509 certificate and CRL (see later).</a:t>
            </a:r>
            <a:endParaRPr lang="en-AU">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1"/>
          <p:cNvSpPr>
            <a:spLocks noGrp="1" noChangeArrowheads="1"/>
          </p:cNvSpPr>
          <p:nvPr>
            <p:ph type="sldNum" sz="quarter" idx="5"/>
          </p:nvPr>
        </p:nvSpPr>
        <p:spPr>
          <a:noFill/>
        </p:spPr>
        <p:txBody>
          <a:bodyPr/>
          <a:lstStyle/>
          <a:p>
            <a:fld id="{43CDBDED-61C6-8F41-AE68-976731605B75}" type="slidenum">
              <a:rPr lang="en-AU">
                <a:latin typeface="Arial" pitchFamily="-84" charset="0"/>
              </a:rPr>
              <a:pPr/>
              <a:t>15</a:t>
            </a:fld>
            <a:endParaRPr lang="en-AU" dirty="0">
              <a:latin typeface="Arial" pitchFamily="-8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normAutofit fontScale="92500" lnSpcReduction="20000"/>
          </a:bodyPr>
          <a:lstStyle/>
          <a:p>
            <a:r>
              <a:rPr lang="en-US" sz="1200" kern="1200" baseline="0" dirty="0">
                <a:solidFill>
                  <a:schemeClr val="tx1"/>
                </a:solidFill>
                <a:latin typeface="Arial" pitchFamily="-107" charset="0"/>
                <a:ea typeface="ＭＳ Ｐゴシック" pitchFamily="-107" charset="-128"/>
                <a:cs typeface="ＭＳ Ｐゴシック" pitchFamily="-107" charset="-128"/>
              </a:rPr>
              <a:t>User certificates generated by a CA have the following</a:t>
            </a:r>
          </a:p>
          <a:p>
            <a:r>
              <a:rPr lang="en-US" sz="1200" kern="1200" baseline="0" dirty="0">
                <a:solidFill>
                  <a:schemeClr val="tx1"/>
                </a:solidFill>
                <a:latin typeface="Arial" pitchFamily="-107" charset="0"/>
                <a:ea typeface="ＭＳ Ｐゴシック" pitchFamily="-107" charset="-128"/>
                <a:cs typeface="ＭＳ Ｐゴシック" pitchFamily="-107" charset="-128"/>
              </a:rPr>
              <a:t>characteristics:</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Any user with access to the public key of the CA can verify the user public key</a:t>
            </a:r>
          </a:p>
          <a:p>
            <a:r>
              <a:rPr lang="en-US" sz="1200" kern="1200" baseline="0" dirty="0">
                <a:solidFill>
                  <a:schemeClr val="tx1"/>
                </a:solidFill>
                <a:latin typeface="Arial" pitchFamily="-107" charset="0"/>
                <a:ea typeface="ＭＳ Ｐゴシック" pitchFamily="-107" charset="-128"/>
                <a:cs typeface="ＭＳ Ｐゴシック" pitchFamily="-107" charset="-128"/>
              </a:rPr>
              <a:t>that was certified.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  No party other than the certification authority can modify the certificate without</a:t>
            </a:r>
          </a:p>
          <a:p>
            <a:r>
              <a:rPr lang="en-US" sz="1200" kern="1200" baseline="0" dirty="0">
                <a:solidFill>
                  <a:schemeClr val="tx1"/>
                </a:solidFill>
                <a:latin typeface="Arial" pitchFamily="-107" charset="0"/>
                <a:ea typeface="ＭＳ Ｐゴシック" pitchFamily="-107" charset="-128"/>
                <a:cs typeface="ＭＳ Ｐゴシック" pitchFamily="-107" charset="-128"/>
              </a:rPr>
              <a:t>this being detected.</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Because certificates are unforgeable, they can be placed in a directory without the</a:t>
            </a:r>
          </a:p>
          <a:p>
            <a:r>
              <a:rPr lang="en-US" sz="1200" kern="1200" baseline="0" dirty="0">
                <a:solidFill>
                  <a:schemeClr val="tx1"/>
                </a:solidFill>
                <a:latin typeface="Arial" pitchFamily="-107" charset="0"/>
                <a:ea typeface="ＭＳ Ｐゴシック" pitchFamily="-107" charset="-128"/>
                <a:cs typeface="ＭＳ Ｐゴシック" pitchFamily="-107" charset="-128"/>
              </a:rPr>
              <a:t>need for the directory to make special efforts to protect them.</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If all users subscribe to the same CA, then there is a common trust of that CA.</a:t>
            </a:r>
          </a:p>
          <a:p>
            <a:r>
              <a:rPr lang="en-US" sz="1200" kern="1200" baseline="0" dirty="0">
                <a:solidFill>
                  <a:schemeClr val="tx1"/>
                </a:solidFill>
                <a:latin typeface="Arial" pitchFamily="-107" charset="0"/>
                <a:ea typeface="ＭＳ Ｐゴシック" pitchFamily="-107" charset="-128"/>
                <a:cs typeface="ＭＳ Ｐゴシック" pitchFamily="-107" charset="-128"/>
              </a:rPr>
              <a:t>All user certificates can be placed in the directory for access by all users. In addition,</a:t>
            </a:r>
          </a:p>
          <a:p>
            <a:r>
              <a:rPr lang="en-US" sz="1200" kern="1200" baseline="0" dirty="0">
                <a:solidFill>
                  <a:schemeClr val="tx1"/>
                </a:solidFill>
                <a:latin typeface="Arial" pitchFamily="-107" charset="0"/>
                <a:ea typeface="ＭＳ Ｐゴシック" pitchFamily="-107" charset="-128"/>
                <a:cs typeface="ＭＳ Ｐゴシック" pitchFamily="-107" charset="-128"/>
              </a:rPr>
              <a:t>a user can transmit his or her certificate directly to other users. In either case,</a:t>
            </a:r>
          </a:p>
          <a:p>
            <a:r>
              <a:rPr lang="en-US" sz="1200" kern="1200" baseline="0" dirty="0">
                <a:solidFill>
                  <a:schemeClr val="tx1"/>
                </a:solidFill>
                <a:latin typeface="Arial" pitchFamily="-107" charset="0"/>
                <a:ea typeface="ＭＳ Ｐゴシック" pitchFamily="-107" charset="-128"/>
                <a:cs typeface="ＭＳ Ｐゴシック" pitchFamily="-107" charset="-128"/>
              </a:rPr>
              <a:t>once B is in possession of A’s certificate, B has confidence that messages it encrypts</a:t>
            </a:r>
          </a:p>
          <a:p>
            <a:r>
              <a:rPr lang="en-US" sz="1200" kern="1200" baseline="0" dirty="0">
                <a:solidFill>
                  <a:schemeClr val="tx1"/>
                </a:solidFill>
                <a:latin typeface="Arial" pitchFamily="-107" charset="0"/>
                <a:ea typeface="ＭＳ Ｐゴシック" pitchFamily="-107" charset="-128"/>
                <a:cs typeface="ＭＳ Ｐゴシック" pitchFamily="-107" charset="-128"/>
              </a:rPr>
              <a:t> with A’s public key will be secure from eavesdropping and that messages signed</a:t>
            </a:r>
          </a:p>
          <a:p>
            <a:r>
              <a:rPr lang="en-US" sz="1200" kern="1200" baseline="0" dirty="0">
                <a:solidFill>
                  <a:schemeClr val="tx1"/>
                </a:solidFill>
                <a:latin typeface="Arial" pitchFamily="-107" charset="0"/>
                <a:ea typeface="ＭＳ Ｐゴシック" pitchFamily="-107" charset="-128"/>
                <a:cs typeface="ＭＳ Ｐゴシック" pitchFamily="-107" charset="-128"/>
              </a:rPr>
              <a:t>with A’s private key are unforgeable.</a:t>
            </a:r>
          </a:p>
          <a:p>
            <a:endParaRPr lang="en-US" sz="1200" kern="1200" baseline="0" dirty="0">
              <a:solidFill>
                <a:schemeClr val="tx1"/>
              </a:solidFill>
              <a:latin typeface="Arial" pitchFamily="-107" charset="0"/>
              <a:ea typeface="ＭＳ Ｐゴシック" pitchFamily="-107" charset="-128"/>
              <a:cs typeface="ＭＳ Ｐゴシック" pitchFamily="-107" charset="-128"/>
            </a:endParaRPr>
          </a:p>
          <a:p>
            <a:r>
              <a:rPr lang="en-US" sz="1200" kern="1200" baseline="0" dirty="0">
                <a:solidFill>
                  <a:schemeClr val="tx1"/>
                </a:solidFill>
                <a:latin typeface="Arial" pitchFamily="-107" charset="0"/>
                <a:ea typeface="ＭＳ Ｐゴシック" pitchFamily="-107" charset="-128"/>
                <a:cs typeface="ＭＳ Ｐゴシック" pitchFamily="-107" charset="-128"/>
              </a:rPr>
              <a:t>If there is a large community of users, it may not be practical for all users to</a:t>
            </a:r>
          </a:p>
          <a:p>
            <a:r>
              <a:rPr lang="en-US" sz="1200" kern="1200" baseline="0" dirty="0">
                <a:solidFill>
                  <a:schemeClr val="tx1"/>
                </a:solidFill>
                <a:latin typeface="Arial" pitchFamily="-107" charset="0"/>
                <a:ea typeface="ＭＳ Ｐゴシック" pitchFamily="-107" charset="-128"/>
                <a:cs typeface="ＭＳ Ｐゴシック" pitchFamily="-107" charset="-128"/>
              </a:rPr>
              <a:t>subscribe to the same CA. Because it is the CA that signs certificates, each participating</a:t>
            </a:r>
          </a:p>
          <a:p>
            <a:r>
              <a:rPr lang="en-US" sz="1200" kern="1200" baseline="0" dirty="0">
                <a:solidFill>
                  <a:schemeClr val="tx1"/>
                </a:solidFill>
                <a:latin typeface="Arial" pitchFamily="-107" charset="0"/>
                <a:ea typeface="ＭＳ Ｐゴシック" pitchFamily="-107" charset="-128"/>
                <a:cs typeface="ＭＳ Ｐゴシック" pitchFamily="-107" charset="-128"/>
              </a:rPr>
              <a:t>user must have a copy of the CA’s own public key to verify signatures. This</a:t>
            </a:r>
          </a:p>
          <a:p>
            <a:r>
              <a:rPr lang="en-US" sz="1200" kern="1200" baseline="0" dirty="0">
                <a:solidFill>
                  <a:schemeClr val="tx1"/>
                </a:solidFill>
                <a:latin typeface="Arial" pitchFamily="-107" charset="0"/>
                <a:ea typeface="ＭＳ Ｐゴシック" pitchFamily="-107" charset="-128"/>
                <a:cs typeface="ＭＳ Ｐゴシック" pitchFamily="-107" charset="-128"/>
              </a:rPr>
              <a:t>public key must be provided to each user in an absolutely secure (with respect to</a:t>
            </a:r>
          </a:p>
          <a:p>
            <a:r>
              <a:rPr lang="en-US" sz="1200" kern="1200" baseline="0" dirty="0">
                <a:solidFill>
                  <a:schemeClr val="tx1"/>
                </a:solidFill>
                <a:latin typeface="Arial" pitchFamily="-107" charset="0"/>
                <a:ea typeface="ＭＳ Ｐゴシック" pitchFamily="-107" charset="-128"/>
                <a:cs typeface="ＭＳ Ｐゴシック" pitchFamily="-107" charset="-128"/>
              </a:rPr>
              <a:t>integrity and authenticity) way so that the user has confidence in the associated certificates.</a:t>
            </a:r>
          </a:p>
          <a:p>
            <a:r>
              <a:rPr lang="en-US" sz="1200" kern="1200" baseline="0" dirty="0">
                <a:solidFill>
                  <a:schemeClr val="tx1"/>
                </a:solidFill>
                <a:latin typeface="Arial" pitchFamily="-107" charset="0"/>
                <a:ea typeface="ＭＳ Ｐゴシック" pitchFamily="-107" charset="-128"/>
                <a:cs typeface="ＭＳ Ｐゴシック" pitchFamily="-107" charset="-128"/>
              </a:rPr>
              <a:t>Thus, with many users, it may be more practical for there to be a number</a:t>
            </a:r>
          </a:p>
          <a:p>
            <a:r>
              <a:rPr lang="en-US" sz="1200" kern="1200" baseline="0" dirty="0">
                <a:solidFill>
                  <a:schemeClr val="tx1"/>
                </a:solidFill>
                <a:latin typeface="Arial" pitchFamily="-107" charset="0"/>
                <a:ea typeface="ＭＳ Ｐゴシック" pitchFamily="-107" charset="-128"/>
                <a:cs typeface="ＭＳ Ｐゴシック" pitchFamily="-107" charset="-128"/>
              </a:rPr>
              <a:t>of CAs, each of which securely provides its public key to some fraction of the users.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1"/>
          <p:cNvSpPr>
            <a:spLocks noGrp="1" noChangeArrowheads="1"/>
          </p:cNvSpPr>
          <p:nvPr>
            <p:ph type="sldNum" sz="quarter" idx="5"/>
          </p:nvPr>
        </p:nvSpPr>
        <p:spPr>
          <a:noFill/>
        </p:spPr>
        <p:txBody>
          <a:bodyPr/>
          <a:lstStyle/>
          <a:p>
            <a:fld id="{5E58647E-7ED9-4326-9304-1227957A8BFC}" type="slidenum">
              <a:rPr lang="en-AU"/>
              <a:pPr/>
              <a:t>16</a:t>
            </a:fld>
            <a:endParaRPr lang="en-AU"/>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A certificate includes a period of validity. Typically a new certificate is issued just before the expiration of the old one.</a:t>
            </a:r>
          </a:p>
          <a:p>
            <a:pPr eaLnBrk="1" hangingPunct="1"/>
            <a:r>
              <a:rPr lang="en-US">
                <a:latin typeface="Arial" pitchFamily="34" charset="0"/>
                <a:cs typeface="Arial" pitchFamily="34" charset="0"/>
              </a:rPr>
              <a:t>In addition, it may be desirable on occasion to revoke a certificate before it expires, for one of a range of reasons, such as those shown above.</a:t>
            </a:r>
          </a:p>
          <a:p>
            <a:pPr eaLnBrk="1" hangingPunct="1"/>
            <a:r>
              <a:rPr lang="en-US">
                <a:latin typeface="Arial" pitchFamily="34" charset="0"/>
                <a:cs typeface="Arial" pitchFamily="34" charset="0"/>
              </a:rPr>
              <a:t>To support this, each CA must maintain a list consisting of all revoked but not expired certificates issued by that CA, known as the certificate revocation list (CRL). Each certificate revocation list (CRL) posted to the directory is signed by the issuer and includes (as shown in Stallings Figure 14.14b previously) the issuer's name, the date the list was created, the date the next CRL is scheduled to be issued, and an entry for each revoked certificate. Each entry consists of the serial number of a certificate and revocation date for that certificate. Because serial numbers are unique within a CA, the serial number is sufficient to identify the certificate.</a:t>
            </a:r>
          </a:p>
          <a:p>
            <a:pPr eaLnBrk="1" hangingPunct="1"/>
            <a:r>
              <a:rPr lang="en-US">
                <a:latin typeface="Arial" pitchFamily="34" charset="0"/>
                <a:cs typeface="Arial" pitchFamily="34" charset="0"/>
              </a:rPr>
              <a:t>When a user receives a certificate in a message, the user must determine whether the certificate has been revoked, by checking the directory CRL each time a certificate is received, this often does not happen in practice.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1"/>
          <p:cNvSpPr>
            <a:spLocks noGrp="1" noChangeArrowheads="1"/>
          </p:cNvSpPr>
          <p:nvPr>
            <p:ph type="sldNum" sz="quarter" idx="5"/>
          </p:nvPr>
        </p:nvSpPr>
        <p:spPr>
          <a:noFill/>
        </p:spPr>
        <p:txBody>
          <a:bodyPr/>
          <a:lstStyle/>
          <a:p>
            <a:fld id="{E25DD644-B292-4D66-8B92-ACE0B6064A36}" type="slidenum">
              <a:rPr lang="en-AU"/>
              <a:pPr/>
              <a:t>17</a:t>
            </a:fld>
            <a:endParaRPr lang="en-AU"/>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The X.509 version 2 format does not convey all of the information that recent design and implementation experience has shown to be needed. Rather than continue to add fields to a fixed format, standards developers felt that a more flexible approach was needed. X.509 version 3 includes a number of optional extensions that may be added to the version 2 format. Each extension consists of an extension identifier, a criticality indicator, and an extension value. The criticality indicator indicates whether an extension can be safely ignored or not (in which case if unknown the certificate is invalid).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31"/>
          <p:cNvSpPr>
            <a:spLocks noGrp="1" noChangeArrowheads="1"/>
          </p:cNvSpPr>
          <p:nvPr>
            <p:ph type="sldNum" sz="quarter" idx="5"/>
          </p:nvPr>
        </p:nvSpPr>
        <p:spPr>
          <a:noFill/>
        </p:spPr>
        <p:txBody>
          <a:bodyPr/>
          <a:lstStyle/>
          <a:p>
            <a:fld id="{164A5E0B-CB7A-442B-ADA0-4340CACB7AA4}" type="slidenum">
              <a:rPr lang="en-AU"/>
              <a:pPr/>
              <a:t>18</a:t>
            </a:fld>
            <a:endParaRPr lang="en-AU"/>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r>
              <a:rPr lang="en-US">
                <a:latin typeface="Arial" pitchFamily="34" charset="0"/>
                <a:cs typeface="Arial" pitchFamily="34" charset="0"/>
              </a:rPr>
              <a:t>The certificate extensions fall into three main categories: </a:t>
            </a:r>
          </a:p>
          <a:p>
            <a:pPr eaLnBrk="1" hangingPunct="1">
              <a:buFontTx/>
              <a:buChar char="•"/>
            </a:pPr>
            <a:r>
              <a:rPr lang="en-US">
                <a:latin typeface="Arial" pitchFamily="34" charset="0"/>
                <a:cs typeface="Arial" pitchFamily="34" charset="0"/>
              </a:rPr>
              <a:t>key and policy information - convey additional information about the subject and issuer keys, plus indicators of certificate policy. A certificate policy is a named set of rules that indicates the applicability of a certificate to a particular community and/or class of application with common security requirements.</a:t>
            </a:r>
          </a:p>
          <a:p>
            <a:pPr eaLnBrk="1" hangingPunct="1">
              <a:buFontTx/>
              <a:buChar char="•"/>
            </a:pPr>
            <a:r>
              <a:rPr lang="en-US">
                <a:latin typeface="Arial" pitchFamily="34" charset="0"/>
                <a:cs typeface="Arial" pitchFamily="34" charset="0"/>
              </a:rPr>
              <a:t>subject and issuer attributes - support alternative names, in alternative formats, for a certificate subject or certificate issuer and can convey additional information about the certificate subject; eg. postal address, email address, or picture image</a:t>
            </a:r>
          </a:p>
          <a:p>
            <a:pPr eaLnBrk="1" hangingPunct="1">
              <a:buFontTx/>
              <a:buChar char="•"/>
            </a:pPr>
            <a:r>
              <a:rPr lang="en-US">
                <a:latin typeface="Arial" pitchFamily="34" charset="0"/>
                <a:cs typeface="Arial" pitchFamily="34" charset="0"/>
              </a:rPr>
              <a:t>certification path constraints - allow constraint specifications to be included in certificates issued for CA’s by other CA’s that </a:t>
            </a:r>
            <a:r>
              <a:rPr lang="en-US">
                <a:latin typeface="Arial" pitchFamily="34" charset="0"/>
              </a:rPr>
              <a:t>may restrict the types of certificates that can be issued by the subject CA or that may occur subsequently in a certification chain. </a:t>
            </a:r>
            <a:endParaRPr lang="en-US">
              <a:latin typeface="Arial" pitchFamily="34" charset="0"/>
              <a:cs typeface="Arial" pitchFamily="34" charset="0"/>
            </a:endParaRPr>
          </a:p>
          <a:p>
            <a:pPr eaLnBrk="1" hangingPunct="1"/>
            <a:endParaRPr lang="en-US">
              <a:latin typeface="Arial" pitchFamily="34" charset="0"/>
              <a:cs typeface="Arial" pitchFamily="34" charset="0"/>
            </a:endParaRPr>
          </a:p>
          <a:p>
            <a:pPr eaLnBrk="1" hangingPunct="1"/>
            <a:endParaRPr lang="en-US">
              <a:latin typeface="Arial" pitchFamily="34" charset="0"/>
              <a:cs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1"/>
          <p:cNvSpPr>
            <a:spLocks noGrp="1" noChangeArrowheads="1"/>
          </p:cNvSpPr>
          <p:nvPr>
            <p:ph type="sldNum" sz="quarter" idx="5"/>
          </p:nvPr>
        </p:nvSpPr>
        <p:spPr>
          <a:noFill/>
        </p:spPr>
        <p:txBody>
          <a:bodyPr/>
          <a:lstStyle/>
          <a:p>
            <a:fld id="{9DB3A0AE-1785-4E8C-9DDE-FAFE73834EC4}" type="slidenum">
              <a:rPr lang="en-AU"/>
              <a:pPr/>
              <a:t>19</a:t>
            </a:fld>
            <a:endParaRPr lang="en-AU"/>
          </a:p>
        </p:txBody>
      </p:sp>
      <p:sp>
        <p:nvSpPr>
          <p:cNvPr id="80899" name="Rectangle 2"/>
          <p:cNvSpPr>
            <a:spLocks noGrp="1" noRot="1" noChangeAspect="1" noChangeArrowheads="1" noTextEdit="1"/>
          </p:cNvSpPr>
          <p:nvPr>
            <p:ph type="sldImg"/>
          </p:nvPr>
        </p:nvSpPr>
        <p:spPr>
          <a:solidFill>
            <a:srgbClr val="FFFFFF"/>
          </a:solidFill>
          <a:ln/>
        </p:spPr>
      </p:sp>
      <p:sp>
        <p:nvSpPr>
          <p:cNvPr id="80900" name="Rectangle 3"/>
          <p:cNvSpPr>
            <a:spLocks noGrp="1" noChangeArrowheads="1"/>
          </p:cNvSpPr>
          <p:nvPr>
            <p:ph type="body" idx="1"/>
          </p:nvPr>
        </p:nvSpPr>
        <p:spPr>
          <a:xfrm>
            <a:off x="685800" y="4343400"/>
            <a:ext cx="5486400" cy="4419600"/>
          </a:xfrm>
          <a:noFill/>
          <a:ln/>
        </p:spPr>
        <p:txBody>
          <a:bodyPr/>
          <a:lstStyle/>
          <a:p>
            <a:pPr eaLnBrk="1" hangingPunct="1"/>
            <a:r>
              <a:rPr lang="en-US">
                <a:latin typeface="Arial" pitchFamily="34" charset="0"/>
                <a:cs typeface="Arial" pitchFamily="34" charset="0"/>
              </a:rPr>
              <a:t>RFC 2822 (Internet Security Glossary) defines public-key infrastructure (PKI) as the set of hardware, software, people, policies, and procedures needed to create, manage, store, distribute, and revoke digital certificates based on asymmetric cryptography. Its principal is to enable secure, convenient, and efficient acquisition of public keys. The IETF Public Key Infrastructure X.509 (PKIX) working group has setup a formal (and generic) model based on X.509 that is suitable for deploying a certificate-based architecture on the Internet.</a:t>
            </a:r>
          </a:p>
          <a:p>
            <a:pPr eaLnBrk="1" hangingPunct="1"/>
            <a:r>
              <a:rPr lang="en-US">
                <a:latin typeface="Arial" pitchFamily="34" charset="0"/>
                <a:cs typeface="Arial" pitchFamily="34" charset="0"/>
              </a:rPr>
              <a:t>Stallings Figure 14.16 shows interrelationships among some key elements:</a:t>
            </a:r>
          </a:p>
          <a:p>
            <a:r>
              <a:rPr lang="en-US">
                <a:latin typeface="Arial" pitchFamily="34" charset="0"/>
              </a:rPr>
              <a:t>• End entity: A generic term used to denote end users, devices (e.g., servers, routers), or any other entity that can be identified in the subject field of a public key certificate. End entities canconsume and/or support PKI-related services.</a:t>
            </a:r>
          </a:p>
          <a:p>
            <a:r>
              <a:rPr lang="en-US">
                <a:latin typeface="Arial" pitchFamily="34" charset="0"/>
              </a:rPr>
              <a:t>• Certification authority (CA): The issuer of certificates and (usually) certificate revocation lists (CRLs). It may also support a variety of administrative functions, although these are often delegated to Registration Authorities.</a:t>
            </a:r>
          </a:p>
          <a:p>
            <a:r>
              <a:rPr lang="en-US">
                <a:latin typeface="Arial" pitchFamily="34" charset="0"/>
              </a:rPr>
              <a:t>• Registration authority (RA): An optional component that can assume a number of administrative functions from the CA. The RA is often associated with the End Entity registration process, but can assist in a number of other areas as well.</a:t>
            </a:r>
          </a:p>
          <a:p>
            <a:r>
              <a:rPr lang="en-US">
                <a:latin typeface="Arial" pitchFamily="34" charset="0"/>
              </a:rPr>
              <a:t>• CRL issuer: An optional component that a CA can delegate to publish CRLs.</a:t>
            </a:r>
          </a:p>
          <a:p>
            <a:r>
              <a:rPr lang="en-US">
                <a:latin typeface="Arial" pitchFamily="34" charset="0"/>
              </a:rPr>
              <a:t>• Repository: A generic term used to denote any method for storing certificates and CRLs so that they can be retrieved by End Entities.</a:t>
            </a:r>
          </a:p>
          <a:p>
            <a:pPr eaLnBrk="1" hangingPunct="1"/>
            <a:endParaRPr lang="en-AU">
              <a:latin typeface="Arial" pitchFamily="34" charset="0"/>
              <a:cs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B8BDDC7-5D22-49C6-834A-06B174120500}" type="datetimeFigureOut">
              <a:rPr lang="en-US" smtClean="0"/>
              <a:pPr/>
              <a:t>12/25/2022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99C5CA-9121-4DE7-BF1D-5D6AD7F53B1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8BDDC7-5D22-49C6-834A-06B174120500}" type="datetimeFigureOut">
              <a:rPr lang="en-US" smtClean="0"/>
              <a:pPr/>
              <a:t>12/25/2022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99C5CA-9121-4DE7-BF1D-5D6AD7F53B1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w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47800"/>
            <a:ext cx="8229600" cy="1143000"/>
          </a:xfrm>
        </p:spPr>
        <p:txBody>
          <a:bodyPr>
            <a:normAutofit fontScale="90000"/>
          </a:bodyPr>
          <a:lstStyle/>
          <a:p>
            <a:r>
              <a:rPr lang="en-US" sz="7300" b="1" dirty="0">
                <a:solidFill>
                  <a:srgbClr val="FF0000"/>
                </a:solidFill>
              </a:rPr>
              <a:t>Chapter 14</a:t>
            </a:r>
            <a:br>
              <a:rPr lang="en-US" dirty="0">
                <a:solidFill>
                  <a:srgbClr val="FF0000"/>
                </a:solidFill>
              </a:rPr>
            </a:br>
            <a:r>
              <a:rPr lang="en-US" dirty="0">
                <a:solidFill>
                  <a:srgbClr val="FF0000"/>
                </a:solidFill>
              </a:rPr>
              <a:t> </a:t>
            </a:r>
            <a:br>
              <a:rPr lang="en-US" dirty="0"/>
            </a:br>
            <a:r>
              <a:rPr lang="en-US" dirty="0"/>
              <a:t>Key Management and Distribution</a:t>
            </a:r>
          </a:p>
        </p:txBody>
      </p:sp>
    </p:spTree>
    <p:extLst>
      <p:ext uri="{BB962C8B-B14F-4D97-AF65-F5344CB8AC3E}">
        <p14:creationId xmlns:p14="http://schemas.microsoft.com/office/powerpoint/2010/main" val="1554502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p:txBody>
          <a:bodyPr>
            <a:normAutofit lnSpcReduction="10000"/>
          </a:bodyPr>
          <a:lstStyle/>
          <a:p>
            <a:pPr eaLnBrk="1" hangingPunct="1">
              <a:buFont typeface="Wingdings" pitchFamily="-107" charset="2"/>
              <a:buChar char="Ø"/>
              <a:defRPr/>
            </a:pPr>
            <a:r>
              <a:rPr lang="en-US" dirty="0"/>
              <a:t>Symmetric schemes require both parties to share a common secret key.</a:t>
            </a:r>
            <a:endParaRPr lang="en-AU" dirty="0"/>
          </a:p>
          <a:p>
            <a:pPr eaLnBrk="1" hangingPunct="1">
              <a:buFont typeface="Wingdings" pitchFamily="-107" charset="2"/>
              <a:buChar char="Ø"/>
              <a:defRPr/>
            </a:pPr>
            <a:r>
              <a:rPr lang="en-AU" dirty="0"/>
              <a:t>Issue is how to securely distribute this key whilst protecting it from others.</a:t>
            </a:r>
          </a:p>
          <a:p>
            <a:pPr>
              <a:buFont typeface="Wingdings" pitchFamily="-107" charset="2"/>
              <a:buChar char="Ø"/>
              <a:defRPr/>
            </a:pPr>
            <a:r>
              <a:rPr lang="en-AU" dirty="0"/>
              <a:t>Frequent key changes </a:t>
            </a:r>
            <a:r>
              <a:rPr lang="en-US" dirty="0">
                <a:latin typeface="Arial" pitchFamily="34" charset="0"/>
              </a:rPr>
              <a:t>are usually desirable to limit the amount of data compromised if an attacker learns the key.</a:t>
            </a:r>
          </a:p>
          <a:p>
            <a:pPr>
              <a:buFont typeface="Wingdings" pitchFamily="-107" charset="2"/>
              <a:buChar char="Ø"/>
              <a:defRPr/>
            </a:pPr>
            <a:r>
              <a:rPr lang="en-AU" dirty="0">
                <a:solidFill>
                  <a:srgbClr val="FF0000"/>
                </a:solidFill>
              </a:rPr>
              <a:t>Often secure system failures are due to a break in the key distribution scheme.</a:t>
            </a:r>
          </a:p>
        </p:txBody>
      </p:sp>
      <p:sp>
        <p:nvSpPr>
          <p:cNvPr id="5" name="Rectangle 2"/>
          <p:cNvSpPr>
            <a:spLocks noGrp="1" noChangeArrowheads="1"/>
          </p:cNvSpPr>
          <p:nvPr>
            <p:ph type="title"/>
          </p:nvPr>
        </p:nvSpPr>
        <p:spPr/>
        <p:txBody>
          <a:bodyPr>
            <a:normAutofit/>
          </a:bodyPr>
          <a:lstStyle/>
          <a:p>
            <a:r>
              <a:rPr lang="en-US" dirty="0"/>
              <a:t>Key Management and Distribution</a:t>
            </a:r>
            <a:endParaRPr lang="en-AU" dirty="0"/>
          </a:p>
        </p:txBody>
      </p:sp>
    </p:spTree>
    <p:extLst>
      <p:ext uri="{BB962C8B-B14F-4D97-AF65-F5344CB8AC3E}">
        <p14:creationId xmlns:p14="http://schemas.microsoft.com/office/powerpoint/2010/main" val="3314256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0" y="39688"/>
            <a:ext cx="9143999" cy="1412875"/>
          </a:xfrm>
        </p:spPr>
        <p:txBody>
          <a:bodyPr/>
          <a:lstStyle/>
          <a:p>
            <a:r>
              <a:rPr lang="en-US" dirty="0"/>
              <a:t>Symmetric Key Distribution</a:t>
            </a:r>
            <a:endParaRPr lang="en-AU"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69329897"/>
              </p:ext>
            </p:extLst>
          </p:nvPr>
        </p:nvGraphicFramePr>
        <p:xfrm>
          <a:off x="152400" y="1524000"/>
          <a:ext cx="8839199" cy="5105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cstate="print"/>
          <a:stretch>
            <a:fillRect/>
          </a:stretch>
        </p:blipFill>
        <p:spPr>
          <a:xfrm rot="4639433">
            <a:off x="7873271" y="3753925"/>
            <a:ext cx="1531312" cy="690958"/>
          </a:xfrm>
          <a:prstGeom prst="rect">
            <a:avLst/>
          </a:prstGeom>
          <a:scene3d>
            <a:camera prst="orthographicFront">
              <a:rot lat="0" lon="1199981" rev="0"/>
            </a:camera>
            <a:lightRig rig="threePt" dir="t"/>
          </a:scene3d>
        </p:spPr>
      </p:pic>
    </p:spTree>
    <p:extLst>
      <p:ext uri="{BB962C8B-B14F-4D97-AF65-F5344CB8AC3E}">
        <p14:creationId xmlns:p14="http://schemas.microsoft.com/office/powerpoint/2010/main" val="272301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p:nvPr>
        </p:nvSpPr>
        <p:spPr/>
        <p:txBody>
          <a:bodyPr/>
          <a:lstStyle/>
          <a:p>
            <a:pPr eaLnBrk="1" hangingPunct="1">
              <a:defRPr/>
            </a:pPr>
            <a:r>
              <a:rPr lang="en-US" dirty="0">
                <a:ea typeface="+mj-ea"/>
                <a:cs typeface="+mj-cs"/>
              </a:rPr>
              <a:t>Key Hierarchy</a:t>
            </a:r>
          </a:p>
        </p:txBody>
      </p:sp>
      <p:sp>
        <p:nvSpPr>
          <p:cNvPr id="82947" name="Rectangle 1027"/>
          <p:cNvSpPr>
            <a:spLocks noGrp="1" noChangeArrowheads="1"/>
          </p:cNvSpPr>
          <p:nvPr>
            <p:ph type="body" idx="1"/>
          </p:nvPr>
        </p:nvSpPr>
        <p:spPr/>
        <p:txBody>
          <a:bodyPr/>
          <a:lstStyle/>
          <a:p>
            <a:pPr eaLnBrk="1" hangingPunct="1">
              <a:buFont typeface="Wingdings" pitchFamily="-107" charset="2"/>
              <a:buChar char="Ø"/>
              <a:defRPr/>
            </a:pPr>
            <a:r>
              <a:rPr lang="en-US" dirty="0">
                <a:ea typeface="+mn-ea"/>
                <a:cs typeface="+mn-cs"/>
              </a:rPr>
              <a:t>typically have a hierarchy of keys</a:t>
            </a:r>
          </a:p>
          <a:p>
            <a:pPr eaLnBrk="1" hangingPunct="1">
              <a:buFont typeface="Wingdings" pitchFamily="-107" charset="2"/>
              <a:buChar char="Ø"/>
              <a:defRPr/>
            </a:pPr>
            <a:r>
              <a:rPr lang="en-US" dirty="0">
                <a:solidFill>
                  <a:srgbClr val="FF0000"/>
                </a:solidFill>
                <a:ea typeface="+mn-ea"/>
                <a:cs typeface="+mn-cs"/>
              </a:rPr>
              <a:t>session key</a:t>
            </a:r>
          </a:p>
          <a:p>
            <a:pPr lvl="1" eaLnBrk="1" hangingPunct="1">
              <a:buFont typeface="Wingdings" pitchFamily="-107" charset="2"/>
              <a:buChar char="l"/>
              <a:defRPr/>
            </a:pPr>
            <a:r>
              <a:rPr lang="en-US" dirty="0"/>
              <a:t>temporary key</a:t>
            </a:r>
          </a:p>
          <a:p>
            <a:pPr lvl="1" eaLnBrk="1" hangingPunct="1">
              <a:buFont typeface="Wingdings" pitchFamily="-107" charset="2"/>
              <a:buChar char="l"/>
              <a:defRPr/>
            </a:pPr>
            <a:r>
              <a:rPr lang="en-US" dirty="0"/>
              <a:t>used for encryption of data between users</a:t>
            </a:r>
          </a:p>
          <a:p>
            <a:pPr lvl="1" eaLnBrk="1" hangingPunct="1">
              <a:buFont typeface="Wingdings" pitchFamily="-107" charset="2"/>
              <a:buChar char="l"/>
              <a:defRPr/>
            </a:pPr>
            <a:r>
              <a:rPr lang="en-US" dirty="0"/>
              <a:t>for one logical session then discarded</a:t>
            </a:r>
          </a:p>
          <a:p>
            <a:pPr eaLnBrk="1" hangingPunct="1">
              <a:buFont typeface="Wingdings" pitchFamily="-107" charset="2"/>
              <a:buChar char="Ø"/>
              <a:defRPr/>
            </a:pPr>
            <a:r>
              <a:rPr lang="en-US" dirty="0">
                <a:solidFill>
                  <a:srgbClr val="FF0000"/>
                </a:solidFill>
                <a:ea typeface="+mn-ea"/>
                <a:cs typeface="+mn-cs"/>
              </a:rPr>
              <a:t>master key</a:t>
            </a:r>
          </a:p>
          <a:p>
            <a:pPr lvl="1" eaLnBrk="1" hangingPunct="1">
              <a:buFont typeface="Wingdings" pitchFamily="-107" charset="2"/>
              <a:buChar char="l"/>
              <a:defRPr/>
            </a:pPr>
            <a:r>
              <a:rPr lang="en-US" dirty="0"/>
              <a:t>used to encrypt session keys</a:t>
            </a:r>
          </a:p>
          <a:p>
            <a:pPr lvl="1" eaLnBrk="1" hangingPunct="1">
              <a:buFont typeface="Wingdings" pitchFamily="-107" charset="2"/>
              <a:buChar char="l"/>
              <a:defRPr/>
            </a:pPr>
            <a:r>
              <a:rPr lang="en-US" dirty="0"/>
              <a:t>shared by user &amp; key distribution center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627187"/>
          </a:xfrm>
        </p:spPr>
        <p:txBody>
          <a:bodyPr/>
          <a:lstStyle/>
          <a:p>
            <a:pPr eaLnBrk="1" hangingPunct="1">
              <a:defRPr/>
            </a:pPr>
            <a:r>
              <a:rPr lang="en-US" dirty="0">
                <a:ea typeface="+mj-ea"/>
                <a:cs typeface="+mj-cs"/>
              </a:rPr>
              <a:t>Symmetric Key Distribution Using Public Keys</a:t>
            </a:r>
          </a:p>
        </p:txBody>
      </p:sp>
      <p:sp>
        <p:nvSpPr>
          <p:cNvPr id="3" name="Content Placeholder 2"/>
          <p:cNvSpPr>
            <a:spLocks noGrp="1"/>
          </p:cNvSpPr>
          <p:nvPr>
            <p:ph idx="1"/>
          </p:nvPr>
        </p:nvSpPr>
        <p:spPr>
          <a:xfrm>
            <a:off x="304800" y="2057400"/>
            <a:ext cx="8458200" cy="4073525"/>
          </a:xfrm>
        </p:spPr>
        <p:txBody>
          <a:bodyPr/>
          <a:lstStyle/>
          <a:p>
            <a:pPr eaLnBrk="1" hangingPunct="1">
              <a:buFont typeface="Wingdings" pitchFamily="-107" charset="2"/>
              <a:buChar char="Ø"/>
              <a:defRPr/>
            </a:pPr>
            <a:r>
              <a:rPr lang="en-US" kern="1200" dirty="0">
                <a:ea typeface="+mn-ea"/>
                <a:cs typeface="+mn-cs"/>
              </a:rPr>
              <a:t>public key cryptosystems are inefficient</a:t>
            </a:r>
          </a:p>
          <a:p>
            <a:pPr lvl="1" eaLnBrk="1" hangingPunct="1">
              <a:buFont typeface="Wingdings" pitchFamily="-107" charset="2"/>
              <a:buChar char="l"/>
              <a:defRPr/>
            </a:pPr>
            <a:r>
              <a:rPr lang="en-US" kern="1200" dirty="0">
                <a:ea typeface="+mn-ea"/>
                <a:cs typeface="+mn-cs"/>
              </a:rPr>
              <a:t>so </a:t>
            </a:r>
            <a:r>
              <a:rPr lang="en-US" kern="1200" dirty="0"/>
              <a:t>almost never use for direct data</a:t>
            </a:r>
            <a:r>
              <a:rPr lang="en-US" sz="2400" kern="1200" dirty="0"/>
              <a:t> </a:t>
            </a:r>
            <a:r>
              <a:rPr lang="en-US" kern="1200" dirty="0"/>
              <a:t>encryption because symmetric key cryptosystems are much faster.</a:t>
            </a:r>
          </a:p>
          <a:p>
            <a:pPr lvl="1">
              <a:buFont typeface="Wingdings" pitchFamily="-107" charset="2"/>
              <a:buChar char="l"/>
              <a:defRPr/>
            </a:pPr>
            <a:r>
              <a:rPr lang="en-US" kern="1200" dirty="0">
                <a:solidFill>
                  <a:srgbClr val="FF0000"/>
                </a:solidFill>
              </a:rPr>
              <a:t>rather </a:t>
            </a:r>
            <a:r>
              <a:rPr lang="en-US" dirty="0">
                <a:solidFill>
                  <a:srgbClr val="FF0000"/>
                </a:solidFill>
              </a:rPr>
              <a:t>public key cryptosystems are </a:t>
            </a:r>
            <a:r>
              <a:rPr lang="en-US" kern="1200" dirty="0">
                <a:solidFill>
                  <a:srgbClr val="FF0000"/>
                </a:solidFill>
              </a:rPr>
              <a:t>used to encrypt secret keys for distribution.</a:t>
            </a:r>
            <a:endParaRPr lang="en-US" dirty="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7813"/>
            <a:ext cx="8458200" cy="1139825"/>
          </a:xfrm>
        </p:spPr>
        <p:txBody>
          <a:bodyPr/>
          <a:lstStyle/>
          <a:p>
            <a:pPr eaLnBrk="1" hangingPunct="1">
              <a:defRPr/>
            </a:pPr>
            <a:r>
              <a:rPr lang="en-US" dirty="0">
                <a:ea typeface="+mj-ea"/>
                <a:cs typeface="+mj-cs"/>
              </a:rPr>
              <a:t>Simple Secret Key Distribution</a:t>
            </a:r>
          </a:p>
        </p:txBody>
      </p:sp>
      <p:sp>
        <p:nvSpPr>
          <p:cNvPr id="3" name="Content Placeholder 2"/>
          <p:cNvSpPr>
            <a:spLocks noGrp="1"/>
          </p:cNvSpPr>
          <p:nvPr>
            <p:ph idx="1"/>
          </p:nvPr>
        </p:nvSpPr>
        <p:spPr>
          <a:xfrm>
            <a:off x="457200" y="1676400"/>
            <a:ext cx="8229600" cy="1905000"/>
          </a:xfrm>
        </p:spPr>
        <p:txBody>
          <a:bodyPr/>
          <a:lstStyle/>
          <a:p>
            <a:pPr eaLnBrk="1" hangingPunct="1"/>
            <a:r>
              <a:rPr lang="en-US"/>
              <a:t>Merkle proposed this very simple scheme</a:t>
            </a:r>
          </a:p>
          <a:p>
            <a:pPr lvl="1" eaLnBrk="1" hangingPunct="1"/>
            <a:r>
              <a:rPr lang="en-US"/>
              <a:t>allows secure communications</a:t>
            </a:r>
          </a:p>
          <a:p>
            <a:pPr lvl="1" eaLnBrk="1" hangingPunct="1"/>
            <a:r>
              <a:rPr lang="en-US"/>
              <a:t>no keys before/after exist</a:t>
            </a:r>
          </a:p>
          <a:p>
            <a:pPr eaLnBrk="1" hangingPunct="1"/>
            <a:endParaRPr lang="en-US"/>
          </a:p>
        </p:txBody>
      </p:sp>
      <p:pic>
        <p:nvPicPr>
          <p:cNvPr id="36868" name="Picture 3"/>
          <p:cNvPicPr>
            <a:picLocks noChangeAspect="1"/>
          </p:cNvPicPr>
          <p:nvPr/>
        </p:nvPicPr>
        <p:blipFill>
          <a:blip r:embed="rId3" cstate="print"/>
          <a:srcRect/>
          <a:stretch>
            <a:fillRect/>
          </a:stretch>
        </p:blipFill>
        <p:spPr bwMode="auto">
          <a:xfrm>
            <a:off x="304800" y="3989885"/>
            <a:ext cx="8610600" cy="2311400"/>
          </a:xfrm>
          <a:prstGeom prst="rect">
            <a:avLst/>
          </a:prstGeom>
          <a:noFill/>
          <a:ln w="9525">
            <a:noFill/>
            <a:miter lim="800000"/>
            <a:headEnd/>
            <a:tailEnd/>
          </a:ln>
        </p:spPr>
      </p:pic>
      <p:sp>
        <p:nvSpPr>
          <p:cNvPr id="4" name="TextBox 3"/>
          <p:cNvSpPr txBox="1"/>
          <p:nvPr/>
        </p:nvSpPr>
        <p:spPr>
          <a:xfrm>
            <a:off x="2468039" y="5128104"/>
            <a:ext cx="4284122" cy="369332"/>
          </a:xfrm>
          <a:prstGeom prst="rect">
            <a:avLst/>
          </a:prstGeom>
          <a:solidFill>
            <a:schemeClr val="accent6">
              <a:lumMod val="20000"/>
              <a:lumOff val="80000"/>
            </a:schemeClr>
          </a:solidFill>
          <a:ln>
            <a:solidFill>
              <a:srgbClr val="FF0000"/>
            </a:solidFill>
          </a:ln>
        </p:spPr>
        <p:txBody>
          <a:bodyPr wrap="none" rtlCol="0">
            <a:spAutoFit/>
          </a:bodyPr>
          <a:lstStyle/>
          <a:p>
            <a:r>
              <a:rPr lang="en-US" dirty="0"/>
              <a:t>What is the problem in this simple scheme?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ea typeface="+mj-ea"/>
                <a:cs typeface="+mj-cs"/>
              </a:rPr>
              <a:t>Man-in-the-Middle Attack</a:t>
            </a:r>
          </a:p>
        </p:txBody>
      </p:sp>
      <p:pic>
        <p:nvPicPr>
          <p:cNvPr id="38915" name="Picture 3"/>
          <p:cNvPicPr>
            <a:picLocks noChangeAspect="1"/>
          </p:cNvPicPr>
          <p:nvPr/>
        </p:nvPicPr>
        <p:blipFill>
          <a:blip r:embed="rId3" cstate="print"/>
          <a:srcRect/>
          <a:stretch>
            <a:fillRect/>
          </a:stretch>
        </p:blipFill>
        <p:spPr bwMode="auto">
          <a:xfrm>
            <a:off x="1066800" y="2667000"/>
            <a:ext cx="7150100" cy="3873500"/>
          </a:xfrm>
          <a:prstGeom prst="rect">
            <a:avLst/>
          </a:prstGeom>
          <a:noFill/>
          <a:ln w="9525">
            <a:noFill/>
            <a:miter lim="800000"/>
            <a:headEnd/>
            <a:tailEnd/>
          </a:ln>
        </p:spPr>
      </p:pic>
      <p:sp>
        <p:nvSpPr>
          <p:cNvPr id="5" name="Content Placeholder 2"/>
          <p:cNvSpPr>
            <a:spLocks noGrp="1"/>
          </p:cNvSpPr>
          <p:nvPr>
            <p:ph idx="1"/>
          </p:nvPr>
        </p:nvSpPr>
        <p:spPr>
          <a:xfrm>
            <a:off x="457200" y="1371600"/>
            <a:ext cx="8229600" cy="1295400"/>
          </a:xfrm>
        </p:spPr>
        <p:txBody>
          <a:bodyPr/>
          <a:lstStyle/>
          <a:p>
            <a:pPr marL="0" indent="0" algn="ctr" eaLnBrk="1" hangingPunct="1">
              <a:buNone/>
              <a:defRPr/>
            </a:pPr>
            <a:r>
              <a:rPr lang="en-US" dirty="0"/>
              <a:t>T</a:t>
            </a:r>
            <a:r>
              <a:rPr lang="en-US" kern="1200" dirty="0">
                <a:ea typeface="+mn-ea"/>
                <a:cs typeface="+mn-cs"/>
              </a:rPr>
              <a:t>his very simple scheme</a:t>
            </a:r>
            <a:r>
              <a:rPr lang="en-US" dirty="0">
                <a:ea typeface="+mn-ea"/>
                <a:cs typeface="+mn-cs"/>
              </a:rPr>
              <a:t> is vulnerable to an active man-in-the-middle attack</a:t>
            </a:r>
            <a:endParaRPr lang="en-US" kern="1200" dirty="0">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2290" y="-9832"/>
            <a:ext cx="9143999" cy="1412875"/>
          </a:xfrm>
        </p:spPr>
        <p:txBody>
          <a:bodyPr/>
          <a:lstStyle/>
          <a:p>
            <a:r>
              <a:rPr lang="en-US" dirty="0"/>
              <a:t>Distribution of Public Keys</a:t>
            </a:r>
            <a:endParaRPr lang="en-AU" dirty="0"/>
          </a:p>
        </p:txBody>
      </p:sp>
      <p:sp>
        <p:nvSpPr>
          <p:cNvPr id="47107" name="Rectangle 3"/>
          <p:cNvSpPr>
            <a:spLocks noGrp="1" noChangeArrowheads="1"/>
          </p:cNvSpPr>
          <p:nvPr>
            <p:ph idx="1"/>
          </p:nvPr>
        </p:nvSpPr>
        <p:spPr>
          <a:xfrm>
            <a:off x="457200" y="1219200"/>
            <a:ext cx="7924800" cy="1514475"/>
          </a:xfrm>
        </p:spPr>
        <p:txBody>
          <a:bodyPr>
            <a:normAutofit fontScale="85000" lnSpcReduction="10000"/>
          </a:bodyPr>
          <a:lstStyle/>
          <a:p>
            <a:pPr marL="0" indent="0" algn="just">
              <a:spcBef>
                <a:spcPts val="1800"/>
              </a:spcBef>
              <a:buNone/>
            </a:pPr>
            <a:r>
              <a:rPr lang="en-US" dirty="0"/>
              <a:t>Several techniques have been proposed for the distribution of public keys. Virtually all these proposals can be grouped into the following general schemes:</a:t>
            </a:r>
          </a:p>
          <a:p>
            <a:endParaRPr lang="en-AU" dirty="0"/>
          </a:p>
        </p:txBody>
      </p:sp>
      <p:graphicFrame>
        <p:nvGraphicFramePr>
          <p:cNvPr id="4" name="Diagram 3"/>
          <p:cNvGraphicFramePr/>
          <p:nvPr/>
        </p:nvGraphicFramePr>
        <p:xfrm>
          <a:off x="1752600" y="2667000"/>
          <a:ext cx="6858000" cy="4191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920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defRPr/>
            </a:pPr>
            <a:r>
              <a:rPr lang="en-AU" dirty="0">
                <a:solidFill>
                  <a:srgbClr val="FF0000"/>
                </a:solidFill>
                <a:ea typeface="+mj-ea"/>
                <a:cs typeface="+mj-cs"/>
              </a:rPr>
              <a:t>4 - Public-Key Certificates</a:t>
            </a:r>
          </a:p>
        </p:txBody>
      </p:sp>
      <p:sp>
        <p:nvSpPr>
          <p:cNvPr id="53251" name="Rectangle 3"/>
          <p:cNvSpPr>
            <a:spLocks noGrp="1" noChangeArrowheads="1"/>
          </p:cNvSpPr>
          <p:nvPr>
            <p:ph type="body" idx="1"/>
          </p:nvPr>
        </p:nvSpPr>
        <p:spPr/>
        <p:txBody>
          <a:bodyPr/>
          <a:lstStyle/>
          <a:p>
            <a:pPr eaLnBrk="1" hangingPunct="1">
              <a:lnSpc>
                <a:spcPct val="90000"/>
              </a:lnSpc>
              <a:buFont typeface="Wingdings" pitchFamily="-107" charset="2"/>
              <a:buChar char="Ø"/>
              <a:defRPr/>
            </a:pPr>
            <a:r>
              <a:rPr lang="en-US" dirty="0">
                <a:solidFill>
                  <a:srgbClr val="FF0000"/>
                </a:solidFill>
                <a:ea typeface="+mn-ea"/>
                <a:cs typeface="+mn-cs"/>
              </a:rPr>
              <a:t>certificates allow key exchange without real-time access to </a:t>
            </a:r>
            <a:r>
              <a:rPr lang="en-AU" dirty="0">
                <a:solidFill>
                  <a:srgbClr val="FF0000"/>
                </a:solidFill>
                <a:ea typeface="+mn-ea"/>
                <a:cs typeface="+mn-cs"/>
              </a:rPr>
              <a:t>public-key authority</a:t>
            </a:r>
          </a:p>
          <a:p>
            <a:pPr eaLnBrk="1" hangingPunct="1">
              <a:lnSpc>
                <a:spcPct val="90000"/>
              </a:lnSpc>
              <a:buFont typeface="Wingdings" pitchFamily="-107" charset="2"/>
              <a:buChar char="Ø"/>
              <a:defRPr/>
            </a:pPr>
            <a:r>
              <a:rPr lang="en-US" dirty="0">
                <a:ea typeface="+mn-ea"/>
                <a:cs typeface="+mn-cs"/>
              </a:rPr>
              <a:t>a certificate </a:t>
            </a:r>
            <a:r>
              <a:rPr lang="en-AU" dirty="0">
                <a:ea typeface="+mn-ea"/>
                <a:cs typeface="+mn-cs"/>
              </a:rPr>
              <a:t>binds </a:t>
            </a:r>
            <a:r>
              <a:rPr lang="en-AU" b="1" dirty="0">
                <a:ea typeface="+mn-ea"/>
                <a:cs typeface="+mn-cs"/>
              </a:rPr>
              <a:t>identity</a:t>
            </a:r>
            <a:r>
              <a:rPr lang="en-AU" dirty="0">
                <a:ea typeface="+mn-ea"/>
                <a:cs typeface="+mn-cs"/>
              </a:rPr>
              <a:t> to </a:t>
            </a:r>
            <a:r>
              <a:rPr lang="en-AU" b="1" dirty="0">
                <a:ea typeface="+mn-ea"/>
                <a:cs typeface="+mn-cs"/>
              </a:rPr>
              <a:t>public key</a:t>
            </a:r>
            <a:r>
              <a:rPr lang="en-AU" dirty="0"/>
              <a:t>, usually with other information such as period of validity, rights of use etc.</a:t>
            </a:r>
          </a:p>
          <a:p>
            <a:pPr eaLnBrk="1" hangingPunct="1">
              <a:lnSpc>
                <a:spcPct val="90000"/>
              </a:lnSpc>
              <a:buFont typeface="Wingdings" pitchFamily="-107" charset="2"/>
              <a:buChar char="Ø"/>
              <a:defRPr/>
            </a:pPr>
            <a:r>
              <a:rPr lang="en-AU" dirty="0">
                <a:ea typeface="+mn-ea"/>
                <a:cs typeface="+mn-cs"/>
              </a:rPr>
              <a:t>with all contents </a:t>
            </a:r>
            <a:r>
              <a:rPr lang="en-AU" b="1" dirty="0">
                <a:ea typeface="+mn-ea"/>
                <a:cs typeface="+mn-cs"/>
              </a:rPr>
              <a:t>signed</a:t>
            </a:r>
            <a:r>
              <a:rPr lang="en-AU" dirty="0">
                <a:ea typeface="+mn-ea"/>
                <a:cs typeface="+mn-cs"/>
              </a:rPr>
              <a:t> by a trusted Public-Key or Certificate Authority (CA)</a:t>
            </a:r>
          </a:p>
          <a:p>
            <a:pPr eaLnBrk="1" hangingPunct="1">
              <a:lnSpc>
                <a:spcPct val="90000"/>
              </a:lnSpc>
              <a:buFont typeface="Wingdings" pitchFamily="-107" charset="2"/>
              <a:buChar char="Ø"/>
              <a:defRPr/>
            </a:pPr>
            <a:r>
              <a:rPr lang="en-AU" dirty="0">
                <a:ea typeface="+mn-ea"/>
                <a:cs typeface="+mn-cs"/>
              </a:rPr>
              <a:t>can be verified by anyone who knows the public-key authorities public-key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3.pdf"/>
          <p:cNvPicPr>
            <a:picLocks noChangeAspect="1"/>
          </p:cNvPicPr>
          <p:nvPr/>
        </p:nvPicPr>
        <p:blipFill>
          <a:blip r:embed="rId3" cstate="print"/>
          <a:srcRect t="13636" b="10909"/>
          <a:stretch>
            <a:fillRect/>
          </a:stretch>
        </p:blipFill>
        <p:spPr>
          <a:xfrm>
            <a:off x="1156159" y="1"/>
            <a:ext cx="7023267" cy="6858000"/>
          </a:xfrm>
          <a:prstGeom prst="rect">
            <a:avLst/>
          </a:prstGeom>
        </p:spPr>
      </p:pic>
    </p:spTree>
    <p:extLst>
      <p:ext uri="{BB962C8B-B14F-4D97-AF65-F5344CB8AC3E}">
        <p14:creationId xmlns:p14="http://schemas.microsoft.com/office/powerpoint/2010/main" val="2695624796"/>
      </p:ext>
    </p:extLst>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defRPr/>
            </a:pPr>
            <a:r>
              <a:rPr lang="en-AU" dirty="0">
                <a:ea typeface="+mj-ea"/>
                <a:cs typeface="+mj-cs"/>
              </a:rPr>
              <a:t>X.509 Authentication Service </a:t>
            </a:r>
          </a:p>
        </p:txBody>
      </p:sp>
      <p:sp>
        <p:nvSpPr>
          <p:cNvPr id="56323" name="Rectangle 3"/>
          <p:cNvSpPr>
            <a:spLocks noGrp="1" noChangeArrowheads="1"/>
          </p:cNvSpPr>
          <p:nvPr>
            <p:ph type="body" idx="1"/>
          </p:nvPr>
        </p:nvSpPr>
        <p:spPr>
          <a:xfrm>
            <a:off x="457200" y="1676400"/>
            <a:ext cx="8229600" cy="4800600"/>
          </a:xfrm>
        </p:spPr>
        <p:txBody>
          <a:bodyPr/>
          <a:lstStyle/>
          <a:p>
            <a:pPr eaLnBrk="1" hangingPunct="1">
              <a:buFont typeface="Wingdings" pitchFamily="-107" charset="2"/>
              <a:buChar char="Ø"/>
              <a:defRPr/>
            </a:pPr>
            <a:r>
              <a:rPr lang="en-AU" sz="2800"/>
              <a:t>part of CCITT X.500 directory service standards</a:t>
            </a:r>
          </a:p>
          <a:p>
            <a:pPr lvl="1" eaLnBrk="1" hangingPunct="1">
              <a:buFont typeface="Wingdings" pitchFamily="-107" charset="2"/>
              <a:buChar char="l"/>
              <a:defRPr/>
            </a:pPr>
            <a:r>
              <a:rPr lang="en-US" sz="2400"/>
              <a:t>distributed servers maintaining user info database</a:t>
            </a:r>
            <a:endParaRPr lang="en-AU" sz="2400"/>
          </a:p>
          <a:p>
            <a:pPr eaLnBrk="1" hangingPunct="1">
              <a:buFont typeface="Wingdings" pitchFamily="-107" charset="2"/>
              <a:buChar char="Ø"/>
              <a:defRPr/>
            </a:pPr>
            <a:r>
              <a:rPr lang="en-AU" sz="2800"/>
              <a:t>defines framework for authentication services </a:t>
            </a:r>
          </a:p>
          <a:p>
            <a:pPr lvl="1" eaLnBrk="1" hangingPunct="1">
              <a:buFont typeface="Wingdings" pitchFamily="-107" charset="2"/>
              <a:buChar char="l"/>
              <a:defRPr/>
            </a:pPr>
            <a:r>
              <a:rPr lang="en-AU" sz="2400"/>
              <a:t>directory may store public-key certificates</a:t>
            </a:r>
          </a:p>
          <a:p>
            <a:pPr lvl="1" eaLnBrk="1" hangingPunct="1">
              <a:buFont typeface="Wingdings" pitchFamily="-107" charset="2"/>
              <a:buChar char="l"/>
              <a:defRPr/>
            </a:pPr>
            <a:r>
              <a:rPr lang="en-AU" sz="2400"/>
              <a:t>with public key of user signed by certification authority </a:t>
            </a:r>
          </a:p>
          <a:p>
            <a:pPr eaLnBrk="1" hangingPunct="1">
              <a:buFont typeface="Wingdings" pitchFamily="-107" charset="2"/>
              <a:buChar char="Ø"/>
              <a:defRPr/>
            </a:pPr>
            <a:r>
              <a:rPr lang="en-AU" sz="2800"/>
              <a:t>also defines authentication protocols </a:t>
            </a:r>
          </a:p>
          <a:p>
            <a:pPr eaLnBrk="1" hangingPunct="1">
              <a:buFont typeface="Wingdings" pitchFamily="-107" charset="2"/>
              <a:buChar char="Ø"/>
              <a:defRPr/>
            </a:pPr>
            <a:r>
              <a:rPr lang="en-AU" sz="2800"/>
              <a:t>uses public-key crypto &amp; digital signatures </a:t>
            </a:r>
          </a:p>
          <a:p>
            <a:pPr lvl="1" eaLnBrk="1" hangingPunct="1">
              <a:buFont typeface="Wingdings" pitchFamily="-107" charset="2"/>
              <a:buChar char="l"/>
              <a:defRPr/>
            </a:pPr>
            <a:r>
              <a:rPr lang="en-AU" sz="2400"/>
              <a:t>algorithms not standardised, but RSA recommended</a:t>
            </a:r>
          </a:p>
          <a:p>
            <a:pPr eaLnBrk="1" hangingPunct="1">
              <a:buFont typeface="Wingdings" pitchFamily="-107" charset="2"/>
              <a:buChar char="Ø"/>
              <a:defRPr/>
            </a:pPr>
            <a:r>
              <a:rPr lang="en-AU" sz="2800"/>
              <a:t>X.509 certificates are widely used</a:t>
            </a:r>
          </a:p>
          <a:p>
            <a:pPr lvl="1" eaLnBrk="1" hangingPunct="1">
              <a:buFont typeface="Wingdings" pitchFamily="-107" charset="2"/>
              <a:buChar char="l"/>
              <a:defRPr/>
            </a:pPr>
            <a:r>
              <a:rPr lang="en-AU" sz="2400"/>
              <a:t>have 3 versions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3048000" cy="5715000"/>
          </a:xfrm>
        </p:spPr>
        <p:txBody>
          <a:bodyPr/>
          <a:lstStyle/>
          <a:p>
            <a:pPr eaLnBrk="1" hangingPunct="1"/>
            <a:r>
              <a:rPr lang="en-AU"/>
              <a:t>X.509 Certificate Use</a:t>
            </a:r>
            <a:endParaRPr lang="en-US"/>
          </a:p>
        </p:txBody>
      </p:sp>
      <p:pic>
        <p:nvPicPr>
          <p:cNvPr id="61443" name="Picture 3"/>
          <p:cNvPicPr>
            <a:picLocks noChangeAspect="1"/>
          </p:cNvPicPr>
          <p:nvPr/>
        </p:nvPicPr>
        <p:blipFill>
          <a:blip r:embed="rId3" cstate="print"/>
          <a:srcRect/>
          <a:stretch>
            <a:fillRect/>
          </a:stretch>
        </p:blipFill>
        <p:spPr bwMode="auto">
          <a:xfrm>
            <a:off x="3200400" y="609600"/>
            <a:ext cx="5727700" cy="56769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defRPr/>
            </a:pPr>
            <a:r>
              <a:rPr lang="en-AU" dirty="0">
                <a:ea typeface="+mj-ea"/>
                <a:cs typeface="+mj-cs"/>
              </a:rPr>
              <a:t>X.509 Certificates</a:t>
            </a:r>
          </a:p>
        </p:txBody>
      </p:sp>
      <p:sp>
        <p:nvSpPr>
          <p:cNvPr id="57347" name="Rectangle 3"/>
          <p:cNvSpPr>
            <a:spLocks noGrp="1" noChangeArrowheads="1"/>
          </p:cNvSpPr>
          <p:nvPr>
            <p:ph type="body" idx="1"/>
          </p:nvPr>
        </p:nvSpPr>
        <p:spPr/>
        <p:txBody>
          <a:bodyPr/>
          <a:lstStyle/>
          <a:p>
            <a:pPr eaLnBrk="1" hangingPunct="1">
              <a:lnSpc>
                <a:spcPct val="90000"/>
              </a:lnSpc>
            </a:pPr>
            <a:r>
              <a:rPr lang="en-AU" sz="2400"/>
              <a:t>issued by a Certification Authority (CA), containing: </a:t>
            </a:r>
          </a:p>
          <a:p>
            <a:pPr lvl="1" eaLnBrk="1" hangingPunct="1">
              <a:lnSpc>
                <a:spcPct val="90000"/>
              </a:lnSpc>
            </a:pPr>
            <a:r>
              <a:rPr lang="en-AU" sz="2000"/>
              <a:t>version V (1, 2, or 3) </a:t>
            </a:r>
          </a:p>
          <a:p>
            <a:pPr lvl="1" eaLnBrk="1" hangingPunct="1">
              <a:lnSpc>
                <a:spcPct val="90000"/>
              </a:lnSpc>
            </a:pPr>
            <a:r>
              <a:rPr lang="en-AU" sz="2000"/>
              <a:t>serial number SN (unique within CA) identifying certificate </a:t>
            </a:r>
          </a:p>
          <a:p>
            <a:pPr lvl="1" eaLnBrk="1" hangingPunct="1">
              <a:lnSpc>
                <a:spcPct val="90000"/>
              </a:lnSpc>
            </a:pPr>
            <a:r>
              <a:rPr lang="en-AU" sz="2000"/>
              <a:t>signature algorithm identifier AI</a:t>
            </a:r>
          </a:p>
          <a:p>
            <a:pPr lvl="1" eaLnBrk="1" hangingPunct="1">
              <a:lnSpc>
                <a:spcPct val="90000"/>
              </a:lnSpc>
            </a:pPr>
            <a:r>
              <a:rPr lang="en-AU" sz="2000"/>
              <a:t>issuer X.500 name CA)</a:t>
            </a:r>
          </a:p>
          <a:p>
            <a:pPr lvl="1" eaLnBrk="1" hangingPunct="1">
              <a:lnSpc>
                <a:spcPct val="90000"/>
              </a:lnSpc>
            </a:pPr>
            <a:r>
              <a:rPr lang="en-AU" sz="2000"/>
              <a:t>period of validity TA (from - to dates) </a:t>
            </a:r>
          </a:p>
          <a:p>
            <a:pPr lvl="1" eaLnBrk="1" hangingPunct="1">
              <a:lnSpc>
                <a:spcPct val="90000"/>
              </a:lnSpc>
            </a:pPr>
            <a:r>
              <a:rPr lang="en-AU" sz="2000"/>
              <a:t>subject X.500 name A (name of owner) </a:t>
            </a:r>
          </a:p>
          <a:p>
            <a:pPr lvl="1" eaLnBrk="1" hangingPunct="1">
              <a:lnSpc>
                <a:spcPct val="90000"/>
              </a:lnSpc>
            </a:pPr>
            <a:r>
              <a:rPr lang="en-AU" sz="2000"/>
              <a:t>subject public-key info Ap (algorithm, parameters, key) </a:t>
            </a:r>
          </a:p>
          <a:p>
            <a:pPr lvl="1" eaLnBrk="1" hangingPunct="1">
              <a:lnSpc>
                <a:spcPct val="90000"/>
              </a:lnSpc>
            </a:pPr>
            <a:r>
              <a:rPr lang="en-AU" sz="2000"/>
              <a:t>issuer unique identifier (v2+) </a:t>
            </a:r>
          </a:p>
          <a:p>
            <a:pPr lvl="1" eaLnBrk="1" hangingPunct="1">
              <a:lnSpc>
                <a:spcPct val="90000"/>
              </a:lnSpc>
            </a:pPr>
            <a:r>
              <a:rPr lang="en-AU" sz="2000"/>
              <a:t>subject unique identifier (v2+) </a:t>
            </a:r>
          </a:p>
          <a:p>
            <a:pPr lvl="1" eaLnBrk="1" hangingPunct="1">
              <a:lnSpc>
                <a:spcPct val="90000"/>
              </a:lnSpc>
            </a:pPr>
            <a:r>
              <a:rPr lang="en-AU" sz="2000"/>
              <a:t>extension fields (v3) </a:t>
            </a:r>
          </a:p>
          <a:p>
            <a:pPr lvl="1" eaLnBrk="1" hangingPunct="1">
              <a:lnSpc>
                <a:spcPct val="90000"/>
              </a:lnSpc>
            </a:pPr>
            <a:r>
              <a:rPr lang="en-AU" sz="2000"/>
              <a:t>signature (of hash of all fields in certificate) </a:t>
            </a:r>
          </a:p>
          <a:p>
            <a:pPr eaLnBrk="1" hangingPunct="1">
              <a:lnSpc>
                <a:spcPct val="90000"/>
              </a:lnSpc>
            </a:pPr>
            <a:r>
              <a:rPr lang="en-US" sz="2400"/>
              <a:t>notation </a:t>
            </a:r>
            <a:r>
              <a:rPr lang="en-US" sz="2400">
                <a:latin typeface="Courier New" pitchFamily="49" charset="0"/>
              </a:rPr>
              <a:t>CA&lt;&lt;A&gt;&gt;</a:t>
            </a:r>
            <a:r>
              <a:rPr lang="en-US" sz="2400"/>
              <a:t> denotes certificate for A signed by CA</a:t>
            </a:r>
            <a:endParaRPr lang="en-AU"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57200" y="0"/>
            <a:ext cx="8229600" cy="1139825"/>
          </a:xfrm>
        </p:spPr>
        <p:txBody>
          <a:bodyPr/>
          <a:lstStyle/>
          <a:p>
            <a:pPr eaLnBrk="1" hangingPunct="1">
              <a:defRPr/>
            </a:pPr>
            <a:r>
              <a:rPr lang="en-AU" dirty="0">
                <a:ea typeface="+mj-ea"/>
                <a:cs typeface="+mj-cs"/>
              </a:rPr>
              <a:t>X.509 Certificates</a:t>
            </a:r>
          </a:p>
        </p:txBody>
      </p:sp>
      <p:pic>
        <p:nvPicPr>
          <p:cNvPr id="65539" name="Picture 5"/>
          <p:cNvPicPr>
            <a:picLocks noChangeAspect="1"/>
          </p:cNvPicPr>
          <p:nvPr/>
        </p:nvPicPr>
        <p:blipFill>
          <a:blip r:embed="rId3" cstate="print"/>
          <a:srcRect/>
          <a:stretch>
            <a:fillRect/>
          </a:stretch>
        </p:blipFill>
        <p:spPr bwMode="auto">
          <a:xfrm>
            <a:off x="838200" y="990600"/>
            <a:ext cx="7353300" cy="57404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dirty="0"/>
              <a:t>Obtaining a </a:t>
            </a:r>
            <a:r>
              <a:rPr lang="en-AU" dirty="0"/>
              <a:t>Certificate </a:t>
            </a:r>
          </a:p>
        </p:txBody>
      </p:sp>
      <p:sp>
        <p:nvSpPr>
          <p:cNvPr id="61443" name="Rectangle 3"/>
          <p:cNvSpPr>
            <a:spLocks noGrp="1" noChangeArrowheads="1"/>
          </p:cNvSpPr>
          <p:nvPr>
            <p:ph idx="1"/>
          </p:nvPr>
        </p:nvSpPr>
        <p:spPr>
          <a:xfrm>
            <a:off x="685800" y="1762125"/>
            <a:ext cx="7772399" cy="4867275"/>
          </a:xfrm>
        </p:spPr>
        <p:txBody>
          <a:bodyPr>
            <a:normAutofit fontScale="70000" lnSpcReduction="20000"/>
          </a:bodyPr>
          <a:lstStyle/>
          <a:p>
            <a:pPr marL="342900" lvl="1" indent="-342900">
              <a:spcBef>
                <a:spcPts val="2400"/>
              </a:spcBef>
              <a:buClr>
                <a:srgbClr val="BAABE3"/>
              </a:buClr>
            </a:pPr>
            <a:endParaRPr lang="en-AU" sz="2800" dirty="0">
              <a:cs typeface="ＭＳ Ｐゴシック" pitchFamily="-84" charset="-128"/>
            </a:endParaRPr>
          </a:p>
          <a:p>
            <a:pPr marL="342900" lvl="1" indent="-342900">
              <a:spcBef>
                <a:spcPts val="2400"/>
              </a:spcBef>
              <a:buClr>
                <a:srgbClr val="BAABE3"/>
              </a:buClr>
            </a:pPr>
            <a:endParaRPr lang="en-AU" sz="2800" dirty="0">
              <a:cs typeface="ＭＳ Ｐゴシック" pitchFamily="-84" charset="-128"/>
            </a:endParaRPr>
          </a:p>
          <a:p>
            <a:pPr marL="342900" lvl="1" indent="-342900">
              <a:spcBef>
                <a:spcPts val="2400"/>
              </a:spcBef>
              <a:buClr>
                <a:srgbClr val="BAABE3"/>
              </a:buClr>
            </a:pPr>
            <a:endParaRPr lang="en-AU" sz="2800" dirty="0">
              <a:cs typeface="ＭＳ Ｐゴシック" pitchFamily="-84" charset="-128"/>
            </a:endParaRPr>
          </a:p>
          <a:p>
            <a:pPr marL="342900" lvl="1" indent="-342900">
              <a:spcBef>
                <a:spcPts val="2400"/>
              </a:spcBef>
              <a:buClr>
                <a:srgbClr val="BAABE3"/>
              </a:buClr>
              <a:buNone/>
            </a:pPr>
            <a:endParaRPr lang="en-AU" sz="2800" dirty="0">
              <a:cs typeface="ＭＳ Ｐゴシック" pitchFamily="-84" charset="-128"/>
            </a:endParaRPr>
          </a:p>
          <a:p>
            <a:pPr marL="342900" lvl="1" indent="-342900">
              <a:spcBef>
                <a:spcPts val="2400"/>
              </a:spcBef>
              <a:buClr>
                <a:srgbClr val="BAABE3"/>
              </a:buClr>
            </a:pPr>
            <a:r>
              <a:rPr lang="en-AU" sz="2800" dirty="0">
                <a:cs typeface="ＭＳ Ｐゴシック" pitchFamily="-84" charset="-128"/>
              </a:rPr>
              <a:t>Because certificates are unforgeable, they can be placed in a directory without the need for the directory to make special efforts to protect them</a:t>
            </a:r>
          </a:p>
          <a:p>
            <a:pPr lvl="1"/>
            <a:r>
              <a:rPr lang="en-AU" sz="2571" dirty="0"/>
              <a:t>In addition, a user can transmit his or her certificate directly to other users</a:t>
            </a:r>
          </a:p>
          <a:p>
            <a:pPr marL="342900" lvl="1" indent="-342900">
              <a:spcBef>
                <a:spcPts val="2400"/>
              </a:spcBef>
              <a:buClr>
                <a:srgbClr val="BAABE3"/>
              </a:buClr>
            </a:pPr>
            <a:r>
              <a:rPr lang="en-AU" sz="2800" dirty="0">
                <a:cs typeface="ＭＳ Ｐゴシック" pitchFamily="-84" charset="-128"/>
              </a:rPr>
              <a:t>Once B is in possession of A’s certificate, B has confidence that messages it encrypts with A’s public key will be secure from eavesdropping and that messages signed with A’s private key are unforgeable</a:t>
            </a:r>
          </a:p>
        </p:txBody>
      </p:sp>
      <p:graphicFrame>
        <p:nvGraphicFramePr>
          <p:cNvPr id="4" name="Diagram 3"/>
          <p:cNvGraphicFramePr/>
          <p:nvPr/>
        </p:nvGraphicFramePr>
        <p:xfrm>
          <a:off x="1371600" y="1676400"/>
          <a:ext cx="6096000" cy="2057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4034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defRPr/>
            </a:pPr>
            <a:r>
              <a:rPr lang="en-AU">
                <a:ea typeface="+mj-ea"/>
                <a:cs typeface="+mj-cs"/>
              </a:rPr>
              <a:t>Certificate Revocation</a:t>
            </a:r>
          </a:p>
        </p:txBody>
      </p:sp>
      <p:sp>
        <p:nvSpPr>
          <p:cNvPr id="67587" name="Rectangle 3"/>
          <p:cNvSpPr>
            <a:spLocks noGrp="1" noChangeArrowheads="1"/>
          </p:cNvSpPr>
          <p:nvPr>
            <p:ph type="body" idx="1"/>
          </p:nvPr>
        </p:nvSpPr>
        <p:spPr/>
        <p:txBody>
          <a:bodyPr/>
          <a:lstStyle/>
          <a:p>
            <a:pPr marL="609600" indent="-609600" eaLnBrk="1" hangingPunct="1"/>
            <a:r>
              <a:rPr lang="en-US" sz="2800"/>
              <a:t>certificates have a period of validity</a:t>
            </a:r>
          </a:p>
          <a:p>
            <a:pPr marL="609600" indent="-609600" eaLnBrk="1" hangingPunct="1"/>
            <a:r>
              <a:rPr lang="en-US" sz="2800"/>
              <a:t>may need to revoke before expiry, eg:</a:t>
            </a:r>
          </a:p>
          <a:p>
            <a:pPr marL="990600" lvl="1" indent="-533400" eaLnBrk="1" hangingPunct="1">
              <a:buFontTx/>
              <a:buAutoNum type="arabicPeriod"/>
            </a:pPr>
            <a:r>
              <a:rPr lang="en-AU" sz="2400"/>
              <a:t>user's private key is compromised</a:t>
            </a:r>
          </a:p>
          <a:p>
            <a:pPr marL="990600" lvl="1" indent="-533400" eaLnBrk="1" hangingPunct="1">
              <a:buFontTx/>
              <a:buAutoNum type="arabicPeriod"/>
            </a:pPr>
            <a:r>
              <a:rPr lang="en-AU" sz="2400"/>
              <a:t>user is no longer certified by this CA</a:t>
            </a:r>
          </a:p>
          <a:p>
            <a:pPr marL="990600" lvl="1" indent="-533400" eaLnBrk="1" hangingPunct="1">
              <a:buFontTx/>
              <a:buAutoNum type="arabicPeriod"/>
            </a:pPr>
            <a:r>
              <a:rPr lang="en-AU" sz="2400"/>
              <a:t>CA's certificate is compromised</a:t>
            </a:r>
          </a:p>
          <a:p>
            <a:pPr marL="609600" indent="-609600" eaLnBrk="1" hangingPunct="1"/>
            <a:r>
              <a:rPr lang="en-US" sz="2800"/>
              <a:t>CA’s maintain list of revoked certificates</a:t>
            </a:r>
          </a:p>
          <a:p>
            <a:pPr marL="990600" lvl="1" indent="-533400" eaLnBrk="1" hangingPunct="1"/>
            <a:r>
              <a:rPr lang="en-US" sz="2400"/>
              <a:t>the Certificate Revocation List (CRL)</a:t>
            </a:r>
          </a:p>
          <a:p>
            <a:pPr marL="609600" indent="-609600" eaLnBrk="1" hangingPunct="1"/>
            <a:r>
              <a:rPr lang="en-US" sz="2800"/>
              <a:t>users should check certificates with CA’s CRL</a:t>
            </a:r>
            <a:endParaRPr lang="en-AU" sz="2800"/>
          </a:p>
          <a:p>
            <a:pPr marL="990600" lvl="1" indent="-533400" eaLnBrk="1" hangingPunct="1"/>
            <a:endParaRPr lang="en-AU"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a:t>X.509 Version 3</a:t>
            </a:r>
            <a:endParaRPr lang="en-AU"/>
          </a:p>
        </p:txBody>
      </p:sp>
      <p:sp>
        <p:nvSpPr>
          <p:cNvPr id="73731" name="Rectangle 3"/>
          <p:cNvSpPr>
            <a:spLocks noGrp="1" noChangeArrowheads="1"/>
          </p:cNvSpPr>
          <p:nvPr>
            <p:ph type="body" idx="1"/>
          </p:nvPr>
        </p:nvSpPr>
        <p:spPr/>
        <p:txBody>
          <a:bodyPr/>
          <a:lstStyle/>
          <a:p>
            <a:pPr eaLnBrk="1" hangingPunct="1">
              <a:lnSpc>
                <a:spcPct val="90000"/>
              </a:lnSpc>
            </a:pPr>
            <a:r>
              <a:rPr lang="en-AU"/>
              <a:t>has been recognised that additional information is needed in a certificate </a:t>
            </a:r>
          </a:p>
          <a:p>
            <a:pPr lvl="1" eaLnBrk="1" hangingPunct="1">
              <a:lnSpc>
                <a:spcPct val="90000"/>
              </a:lnSpc>
            </a:pPr>
            <a:r>
              <a:rPr lang="en-AU"/>
              <a:t>email/URL, policy details, usage constraints</a:t>
            </a:r>
          </a:p>
          <a:p>
            <a:pPr eaLnBrk="1" hangingPunct="1">
              <a:lnSpc>
                <a:spcPct val="90000"/>
              </a:lnSpc>
            </a:pPr>
            <a:r>
              <a:rPr lang="en-AU"/>
              <a:t>rather than explicitly naming new fields defined a general extension method</a:t>
            </a:r>
          </a:p>
          <a:p>
            <a:pPr eaLnBrk="1" hangingPunct="1">
              <a:lnSpc>
                <a:spcPct val="90000"/>
              </a:lnSpc>
            </a:pPr>
            <a:r>
              <a:rPr lang="en-US"/>
              <a:t>extensions consist of:</a:t>
            </a:r>
          </a:p>
          <a:p>
            <a:pPr lvl="1" eaLnBrk="1" hangingPunct="1">
              <a:lnSpc>
                <a:spcPct val="90000"/>
              </a:lnSpc>
            </a:pPr>
            <a:r>
              <a:rPr lang="en-US"/>
              <a:t>extension identifier</a:t>
            </a:r>
          </a:p>
          <a:p>
            <a:pPr lvl="1" eaLnBrk="1" hangingPunct="1">
              <a:lnSpc>
                <a:spcPct val="90000"/>
              </a:lnSpc>
            </a:pPr>
            <a:r>
              <a:rPr lang="en-US"/>
              <a:t>criticality indicator</a:t>
            </a:r>
          </a:p>
          <a:p>
            <a:pPr lvl="1" eaLnBrk="1" hangingPunct="1">
              <a:lnSpc>
                <a:spcPct val="90000"/>
              </a:lnSpc>
            </a:pPr>
            <a:r>
              <a:rPr lang="en-US"/>
              <a:t>extension value</a:t>
            </a:r>
            <a:endParaRPr lang="en-A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defRPr/>
            </a:pPr>
            <a:r>
              <a:rPr lang="en-AU">
                <a:ea typeface="+mj-ea"/>
                <a:cs typeface="+mj-cs"/>
              </a:rPr>
              <a:t>Certificate Extensions</a:t>
            </a:r>
          </a:p>
        </p:txBody>
      </p:sp>
      <p:sp>
        <p:nvSpPr>
          <p:cNvPr id="74755" name="Rectangle 3"/>
          <p:cNvSpPr>
            <a:spLocks noGrp="1" noChangeArrowheads="1"/>
          </p:cNvSpPr>
          <p:nvPr>
            <p:ph type="body" idx="1"/>
          </p:nvPr>
        </p:nvSpPr>
        <p:spPr/>
        <p:txBody>
          <a:bodyPr/>
          <a:lstStyle/>
          <a:p>
            <a:pPr eaLnBrk="1" hangingPunct="1">
              <a:lnSpc>
                <a:spcPct val="90000"/>
              </a:lnSpc>
            </a:pPr>
            <a:r>
              <a:rPr lang="en-US"/>
              <a:t>key and policy information</a:t>
            </a:r>
          </a:p>
          <a:p>
            <a:pPr lvl="1" eaLnBrk="1" hangingPunct="1">
              <a:lnSpc>
                <a:spcPct val="90000"/>
              </a:lnSpc>
            </a:pPr>
            <a:r>
              <a:rPr lang="en-US"/>
              <a:t>convey info about subject &amp; issuer keys, plus indicators of certificate policy</a:t>
            </a:r>
          </a:p>
          <a:p>
            <a:pPr eaLnBrk="1" hangingPunct="1">
              <a:lnSpc>
                <a:spcPct val="90000"/>
              </a:lnSpc>
            </a:pPr>
            <a:r>
              <a:rPr lang="en-US"/>
              <a:t>certificate subject and issuer attributes</a:t>
            </a:r>
          </a:p>
          <a:p>
            <a:pPr lvl="1" eaLnBrk="1" hangingPunct="1">
              <a:lnSpc>
                <a:spcPct val="90000"/>
              </a:lnSpc>
            </a:pPr>
            <a:r>
              <a:rPr lang="en-US"/>
              <a:t>support alternative names, in alternative formats for certificate subject and/or issuer</a:t>
            </a:r>
          </a:p>
          <a:p>
            <a:pPr eaLnBrk="1" hangingPunct="1">
              <a:lnSpc>
                <a:spcPct val="90000"/>
              </a:lnSpc>
            </a:pPr>
            <a:r>
              <a:rPr lang="en-US"/>
              <a:t>certificate path constraints</a:t>
            </a:r>
          </a:p>
          <a:p>
            <a:pPr lvl="1" eaLnBrk="1" hangingPunct="1">
              <a:lnSpc>
                <a:spcPct val="90000"/>
              </a:lnSpc>
            </a:pPr>
            <a:r>
              <a:rPr lang="en-US"/>
              <a:t>allow constraints on use of certificates by other CA’s</a:t>
            </a:r>
            <a:endParaRPr lang="en-AU"/>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defRPr/>
            </a:pPr>
            <a:r>
              <a:rPr lang="en-AU">
                <a:ea typeface="+mj-ea"/>
                <a:cs typeface="+mj-cs"/>
              </a:rPr>
              <a:t>Public Key Infrastructure</a:t>
            </a:r>
          </a:p>
        </p:txBody>
      </p:sp>
      <p:pic>
        <p:nvPicPr>
          <p:cNvPr id="79875" name="Picture 5" descr="&#10;Ch14. PKI.pdf                                                  002F6F4DMacintosh HD                   B83AE914:"/>
          <p:cNvPicPr>
            <a:picLocks noChangeAspect="1" noChangeArrowheads="1"/>
          </p:cNvPicPr>
          <p:nvPr/>
        </p:nvPicPr>
        <p:blipFill>
          <a:blip r:embed="rId3" cstate="print"/>
          <a:srcRect t="25056" b="25056"/>
          <a:stretch>
            <a:fillRect/>
          </a:stretch>
        </p:blipFill>
        <p:spPr bwMode="auto">
          <a:xfrm>
            <a:off x="685800" y="1447800"/>
            <a:ext cx="7772400" cy="50165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TotalTime>
  <Words>4049</Words>
  <Application>Microsoft Office PowerPoint</Application>
  <PresentationFormat>On-screen Show (4:3)</PresentationFormat>
  <Paragraphs>251</Paragraphs>
  <Slides>19</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Courier New</vt:lpstr>
      <vt:lpstr>Wingdings</vt:lpstr>
      <vt:lpstr>Office Theme</vt:lpstr>
      <vt:lpstr>Chapter 14   Key Management and Distribution</vt:lpstr>
      <vt:lpstr>Key Management and Distribution</vt:lpstr>
      <vt:lpstr>Symmetric Key Distribution</vt:lpstr>
      <vt:lpstr>Key Hierarchy</vt:lpstr>
      <vt:lpstr>Symmetric Key Distribution Using Public Keys</vt:lpstr>
      <vt:lpstr>Simple Secret Key Distribution</vt:lpstr>
      <vt:lpstr>Man-in-the-Middle Attack</vt:lpstr>
      <vt:lpstr>Distribution of Public Keys</vt:lpstr>
      <vt:lpstr>4 - Public-Key Certificates</vt:lpstr>
      <vt:lpstr>PowerPoint Presentation</vt:lpstr>
      <vt:lpstr>X.509 Authentication Service </vt:lpstr>
      <vt:lpstr>X.509 Certificate Use</vt:lpstr>
      <vt:lpstr>X.509 Certificates</vt:lpstr>
      <vt:lpstr>X.509 Certificates</vt:lpstr>
      <vt:lpstr>Obtaining a Certificate </vt:lpstr>
      <vt:lpstr>Certificate Revocation</vt:lpstr>
      <vt:lpstr>X.509 Version 3</vt:lpstr>
      <vt:lpstr>Certificate Extensions</vt:lpstr>
      <vt:lpstr>Public Key Infrastructure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Chapter 14</dc:title>
  <dc:creator>Dr.Ashraf</dc:creator>
  <cp:lastModifiedBy>Mohamed Ashraf</cp:lastModifiedBy>
  <cp:revision>30</cp:revision>
  <dcterms:created xsi:type="dcterms:W3CDTF">2010-08-20T15:12:09Z</dcterms:created>
  <dcterms:modified xsi:type="dcterms:W3CDTF">2022-12-25T07:17:45Z</dcterms:modified>
</cp:coreProperties>
</file>